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wmf" ContentType="image/x-wmf"/>
  <Override PartName="/ppt/theme/theme2.xml" ContentType="application/vnd.openxmlformats-officedocument.theme+xml"/>
  <Override PartName="/ppt/slideLayouts/slideLayout10.xml" ContentType="application/vnd.openxmlformats-officedocument.presentationml.slideLayout+xml"/>
  <Override PartName="/ppt/presentation.xml" ContentType="application/vnd.openxmlformats-officedocument.presentationml.presentation.main+xml"/>
  <Override PartName="/ppt/slideLayouts/slideLayout5.xml" ContentType="application/vnd.openxmlformats-officedocument.presentationml.slideLayout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9144000" cy="68580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7E9482-B9B1-6854-E6C8-AA1161F98A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06A2F1-E6BC-7A7A-9398-4F0E8F3E401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6C6A3B-3425-6527-9B09-D08296CE616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B8C681-01BD-6340-6442-6258B73C6D8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B87EC-1DC1-D3E0-687F-28C72EE497B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6311B-0B84-F39D-DD8D-647381CFE2B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34EE1B-F6F1-F952-8336-E5B9AB3720C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444E8B-2B01-7895-DC15-7939EB3B63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4649997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73926513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72289709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05835944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577138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574293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881202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82678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99308637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264652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74334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1068318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5790950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9073251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400716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68095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98524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5108911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915942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00945598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8018862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7189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0183761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8399954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77133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4855998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0342170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6050690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893251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232321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6129928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52923025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6399981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00220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57807892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2646765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562040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67223725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7378103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839352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6368780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7386102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769699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37507604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99016471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9940888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54548595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3096860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4841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4549691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5787949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47868538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3672604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80326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6676301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7525518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05746335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929038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157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8469025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7498735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335162643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3005816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7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9047543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Alur Sistem Aplikasi Kredit</a:t>
            </a:r>
            <a:endParaRPr/>
          </a:p>
        </p:txBody>
      </p:sp>
      <p:sp>
        <p:nvSpPr>
          <p:cNvPr id="336249057" name="Subtitle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Presentasi interaktif untuk pimpinan</a:t>
            </a:r>
            <a:endParaRPr/>
          </a:p>
          <a:p>
            <a:pPr>
              <a:defRPr/>
            </a:pPr>
            <a:r>
              <a:rPr/>
              <a:t>Sistem approval kredit dengan compliance terintegrasi</a:t>
            </a:r>
            <a:endParaRPr/>
          </a:p>
        </p:txBody>
      </p:sp>
      <p:sp>
        <p:nvSpPr>
          <p:cNvPr id="201686325" name="Rounded Rectangle 3">
            <a:hlinkClick r:id="rId3" action="ppaction://hlinksldjump"/>
          </p:cNvPr>
          <p:cNvSpPr/>
          <p:nvPr/>
        </p:nvSpPr>
        <p:spPr bwMode="auto">
          <a:xfrm>
            <a:off x="6583680" y="5303520"/>
            <a:ext cx="1828800" cy="548640"/>
          </a:xfrm>
          <a:prstGeom prst="roundRect">
            <a:avLst>
              <a:gd name="adj" fmla="val 16667"/>
            </a:avLst>
          </a:prstGeom>
          <a:solidFill>
            <a:srgbClr val="3182CE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Lihat Menu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2997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Menu Interaktif</a:t>
            </a:r>
            <a:endParaRPr/>
          </a:p>
        </p:txBody>
      </p:sp>
      <p:sp>
        <p:nvSpPr>
          <p:cNvPr id="187880929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Klik salah satu bagian untuk langsung menuju topik:</a:t>
            </a:r>
            <a:endParaRPr/>
          </a:p>
          <a:p>
            <a:pPr>
              <a:defRPr sz="1800"/>
            </a:pPr>
            <a:r>
              <a:rPr/>
              <a:t>1. Inti Sistem</a:t>
            </a:r>
            <a:endParaRPr/>
          </a:p>
          <a:p>
            <a:pPr>
              <a:defRPr sz="1800"/>
            </a:pPr>
            <a:r>
              <a:rPr/>
              <a:t>2. Alur Pengajuan</a:t>
            </a:r>
            <a:endParaRPr/>
          </a:p>
          <a:p>
            <a:pPr>
              <a:defRPr sz="1800"/>
            </a:pPr>
            <a:r>
              <a:rPr/>
              <a:t>3. Approval Chain</a:t>
            </a:r>
            <a:endParaRPr/>
          </a:p>
          <a:p>
            <a:pPr>
              <a:defRPr sz="1800"/>
            </a:pPr>
            <a:r>
              <a:rPr/>
              <a:t>4. Revisi &amp; Tolak</a:t>
            </a:r>
            <a:endParaRPr/>
          </a:p>
          <a:p>
            <a:pPr>
              <a:defRPr sz="1800"/>
            </a:pPr>
            <a:r>
              <a:rPr/>
              <a:t>5. Nilai Bisnis</a:t>
            </a:r>
            <a:endParaRPr/>
          </a:p>
          <a:p>
            <a:pPr>
              <a:defRPr sz="1800"/>
            </a:pPr>
            <a:r>
              <a:rPr/>
              <a:t>6. Diagram Alur Sistem</a:t>
            </a:r>
            <a:endParaRPr/>
          </a:p>
        </p:txBody>
      </p:sp>
      <p:sp>
        <p:nvSpPr>
          <p:cNvPr id="1268079750" name="Rounded Rectangle 3">
            <a:hlinkClick r:id="rId3" action="ppaction://hlinksldjump"/>
          </p:cNvPr>
          <p:cNvSpPr/>
          <p:nvPr/>
        </p:nvSpPr>
        <p:spPr bwMode="auto">
          <a:xfrm>
            <a:off x="457200" y="2743200"/>
            <a:ext cx="3657600" cy="640080"/>
          </a:xfrm>
          <a:prstGeom prst="roundRect">
            <a:avLst>
              <a:gd name="adj" fmla="val 16667"/>
            </a:avLst>
          </a:prstGeom>
          <a:solidFill>
            <a:srgbClr val="3182CE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Inti Sistem</a:t>
            </a:r>
            <a:endParaRPr/>
          </a:p>
        </p:txBody>
      </p:sp>
      <p:sp>
        <p:nvSpPr>
          <p:cNvPr id="563794927" name="Rounded Rectangle 4">
            <a:hlinkClick r:id="rId4" action="ppaction://hlinksldjump"/>
          </p:cNvPr>
          <p:cNvSpPr/>
          <p:nvPr/>
        </p:nvSpPr>
        <p:spPr bwMode="auto">
          <a:xfrm>
            <a:off x="4572000" y="2743200"/>
            <a:ext cx="3657600" cy="640080"/>
          </a:xfrm>
          <a:prstGeom prst="roundRect">
            <a:avLst>
              <a:gd name="adj" fmla="val 16667"/>
            </a:avLst>
          </a:prstGeom>
          <a:solidFill>
            <a:srgbClr val="3182CE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Alur Pengajuan</a:t>
            </a:r>
            <a:endParaRPr/>
          </a:p>
        </p:txBody>
      </p:sp>
      <p:sp>
        <p:nvSpPr>
          <p:cNvPr id="700212693" name="Rounded Rectangle 5">
            <a:hlinkClick r:id="rId5" action="ppaction://hlinksldjump"/>
          </p:cNvPr>
          <p:cNvSpPr/>
          <p:nvPr/>
        </p:nvSpPr>
        <p:spPr bwMode="auto">
          <a:xfrm>
            <a:off x="457200" y="3566160"/>
            <a:ext cx="3657600" cy="640080"/>
          </a:xfrm>
          <a:prstGeom prst="roundRect">
            <a:avLst>
              <a:gd name="adj" fmla="val 16667"/>
            </a:avLst>
          </a:prstGeom>
          <a:solidFill>
            <a:srgbClr val="3182CE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Approval Chain</a:t>
            </a:r>
            <a:endParaRPr/>
          </a:p>
        </p:txBody>
      </p:sp>
      <p:sp>
        <p:nvSpPr>
          <p:cNvPr id="1541631280" name="Rounded Rectangle 6">
            <a:hlinkClick r:id="rId6" action="ppaction://hlinksldjump"/>
          </p:cNvPr>
          <p:cNvSpPr/>
          <p:nvPr/>
        </p:nvSpPr>
        <p:spPr bwMode="auto">
          <a:xfrm>
            <a:off x="4572000" y="3566160"/>
            <a:ext cx="3657600" cy="640080"/>
          </a:xfrm>
          <a:prstGeom prst="roundRect">
            <a:avLst>
              <a:gd name="adj" fmla="val 16667"/>
            </a:avLst>
          </a:prstGeom>
          <a:solidFill>
            <a:srgbClr val="3182CE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Revisi &amp; Tolak</a:t>
            </a:r>
            <a:endParaRPr/>
          </a:p>
        </p:txBody>
      </p:sp>
      <p:sp>
        <p:nvSpPr>
          <p:cNvPr id="588788703" name="Rounded Rectangle 7">
            <a:hlinkClick r:id="rId7" action="ppaction://hlinksldjump"/>
          </p:cNvPr>
          <p:cNvSpPr/>
          <p:nvPr/>
        </p:nvSpPr>
        <p:spPr bwMode="auto">
          <a:xfrm>
            <a:off x="457200" y="4389120"/>
            <a:ext cx="3657600" cy="640080"/>
          </a:xfrm>
          <a:prstGeom prst="roundRect">
            <a:avLst>
              <a:gd name="adj" fmla="val 16667"/>
            </a:avLst>
          </a:prstGeom>
          <a:solidFill>
            <a:srgbClr val="3182CE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Nilai Bisnis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65181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Inti Sistem</a:t>
            </a:r>
            <a:endParaRPr/>
          </a:p>
        </p:txBody>
      </p:sp>
      <p:sp>
        <p:nvSpPr>
          <p:cNvPr id="115811266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Sistem ini menangani seluruh proses pengajuan kredit: input analis, compliance, approval, dan cetak laporan.</a:t>
            </a:r>
            <a:endParaRPr/>
          </a:p>
          <a:p>
            <a:pPr>
              <a:defRPr sz="1800"/>
            </a:pPr>
            <a:r>
              <a:rPr/>
              <a:t>Memastikan data credit scoring, cashflow, agunan, dan kepatuhan tersimpan lengkap.</a:t>
            </a:r>
            <a:endParaRPr/>
          </a:p>
          <a:p>
            <a:pPr>
              <a:defRPr sz="1800"/>
            </a:pPr>
            <a:r>
              <a:rPr/>
              <a:t>Otomatis mengarahkan proses approval sesuai jabatan aktif dan batas nominal kredit.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72200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Alur Pengajuan</a:t>
            </a:r>
            <a:endParaRPr/>
          </a:p>
        </p:txBody>
      </p:sp>
      <p:sp>
        <p:nvSpPr>
          <p:cNvPr id="63786356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1. Analis mengisi data debitur, usaha, cashflow, neraca, dan agunan.</a:t>
            </a:r>
            <a:endParaRPr/>
          </a:p>
          <a:p>
            <a:pPr>
              <a:defRPr sz="1800"/>
            </a:pPr>
            <a:r>
              <a:rPr/>
              <a:t>2. Data disimpan ke tabel pengajuan_kredit, analisa_neraca, assessment_kepatuhan, dan jaminan_.</a:t>
            </a:r>
            <a:endParaRPr/>
          </a:p>
          <a:p>
            <a:pPr>
              <a:defRPr sz="1800"/>
            </a:pPr>
            <a:r>
              <a:rPr/>
              <a:t>3. Status berubah menjadi diajukan / proses, dan sistem mengarahkan ke tahap approval berikutnya.</a:t>
            </a:r>
            <a:endParaRPr/>
          </a:p>
          <a:p>
            <a:pPr>
              <a:defRPr sz="1800"/>
            </a:pPr>
            <a:r>
              <a:rPr/>
              <a:t>4. Jika ada role tidak aktif, sistem auto-skip ke role berikutnya.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9899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Approval Chain</a:t>
            </a:r>
            <a:endParaRPr/>
          </a:p>
        </p:txBody>
      </p:sp>
      <p:sp>
        <p:nvSpPr>
          <p:cNvPr id="73554897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Alur default: Analis → Kasubag Analis → Kabag Kredit → Kadiv Bisnis → Direktur Utama.</a:t>
            </a:r>
            <a:endParaRPr/>
          </a:p>
          <a:p>
            <a:pPr>
              <a:defRPr sz="1800"/>
            </a:pPr>
            <a:r>
              <a:rPr/>
              <a:t>Setiap role memiliki halaman kerja khusus untuk melihat pengajuan berdasarkan posisi_saat_ini.</a:t>
            </a:r>
            <a:endParaRPr/>
          </a:p>
          <a:p>
            <a:pPr>
              <a:defRPr sz="1800"/>
            </a:pPr>
            <a:r>
              <a:rPr/>
              <a:t>Approval dicatat di tabel approval_kredit sebagai audit trail.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577997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Revisi &amp; Tolak</a:t>
            </a:r>
            <a:endParaRPr/>
          </a:p>
        </p:txBody>
      </p:sp>
      <p:sp>
        <p:nvSpPr>
          <p:cNvPr id="81054885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Setuju: lanjut ke stage berikutnya atau selesai jika akhir chain.</a:t>
            </a:r>
            <a:endParaRPr/>
          </a:p>
          <a:p>
            <a:pPr>
              <a:defRPr sz="1800"/>
            </a:pPr>
            <a:r>
              <a:rPr/>
              <a:t>Revisi: kembali ke analis, catatan revisi disimpan, analis dapat perbaiki dan submit ulang.</a:t>
            </a:r>
            <a:endParaRPr/>
          </a:p>
          <a:p>
            <a:pPr>
              <a:defRPr sz="1800"/>
            </a:pPr>
            <a:r>
              <a:rPr/>
              <a:t>Tolak: status ditolak, analis dapat lihat alasan dan lakukan pengajuan ulang jika perlu.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03811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Nilai Bisnis</a:t>
            </a:r>
            <a:endParaRPr/>
          </a:p>
        </p:txBody>
      </p:sp>
      <p:sp>
        <p:nvSpPr>
          <p:cNvPr id="103829237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Sistem mempercepat keputusan untuk kredit &lt; 500 juta dengan berhenti di Kadiv Bisnis.</a:t>
            </a:r>
            <a:endParaRPr/>
          </a:p>
          <a:p>
            <a:pPr>
              <a:defRPr sz="1800"/>
            </a:pPr>
            <a:r>
              <a:rPr/>
              <a:t>Kredit ≥ 500 juta memerlukan approval final dari Direktur Utama.</a:t>
            </a:r>
            <a:endParaRPr/>
          </a:p>
          <a:p>
            <a:pPr>
              <a:defRPr sz="1800"/>
            </a:pPr>
            <a:r>
              <a:rPr/>
              <a:t>Model ini menjaga keseimbangan antara efisiensi dan kontrol risiko.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7272989" name="TextBox 2"/>
          <p:cNvSpPr txBox="1"/>
          <p:nvPr/>
        </p:nvSpPr>
        <p:spPr bwMode="auto">
          <a:xfrm>
            <a:off x="2756481" y="628002"/>
            <a:ext cx="3631037" cy="5794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/>
            </a:pPr>
            <a:r>
              <a:rPr/>
              <a:t>Diagram Alur Sistem</a:t>
            </a:r>
            <a:endParaRPr/>
          </a:p>
        </p:txBody>
      </p:sp>
      <p:sp>
        <p:nvSpPr>
          <p:cNvPr id="223612743" name="Rounded Rectangle 3"/>
          <p:cNvSpPr/>
          <p:nvPr/>
        </p:nvSpPr>
        <p:spPr bwMode="auto">
          <a:xfrm>
            <a:off x="168071" y="1910750"/>
            <a:ext cx="1645920" cy="777240"/>
          </a:xfrm>
          <a:prstGeom prst="roundRect">
            <a:avLst>
              <a:gd name="adj" fmla="val 16667"/>
            </a:avLst>
          </a:prstGeom>
          <a:solidFill>
            <a:srgbClr val="EBF8FF"/>
          </a:solidFill>
          <a:ln>
            <a:solidFill>
              <a:srgbClr val="0D3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rPr>
                <a:solidFill>
                  <a:schemeClr val="tx1"/>
                </a:solidFill>
              </a:rPr>
              <a:t>Analis</a:t>
            </a:r>
            <a:endParaRPr/>
          </a:p>
        </p:txBody>
      </p:sp>
      <p:sp>
        <p:nvSpPr>
          <p:cNvPr id="704991813" name="Rounded Rectangle 4"/>
          <p:cNvSpPr/>
          <p:nvPr/>
        </p:nvSpPr>
        <p:spPr bwMode="auto">
          <a:xfrm>
            <a:off x="2033130" y="1910750"/>
            <a:ext cx="1645920" cy="777240"/>
          </a:xfrm>
          <a:prstGeom prst="roundRect">
            <a:avLst>
              <a:gd name="adj" fmla="val 16667"/>
            </a:avLst>
          </a:prstGeom>
          <a:solidFill>
            <a:srgbClr val="EBF8FF"/>
          </a:solidFill>
          <a:ln>
            <a:solidFill>
              <a:srgbClr val="0D3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rPr>
                <a:solidFill>
                  <a:schemeClr val="tx1"/>
                </a:solidFill>
              </a:rPr>
              <a:t>Kasubag Analis</a:t>
            </a:r>
            <a:endParaRPr/>
          </a:p>
        </p:txBody>
      </p:sp>
      <p:sp>
        <p:nvSpPr>
          <p:cNvPr id="328767098" name="Rounded Rectangle 5"/>
          <p:cNvSpPr/>
          <p:nvPr/>
        </p:nvSpPr>
        <p:spPr bwMode="auto">
          <a:xfrm>
            <a:off x="3880218" y="1910750"/>
            <a:ext cx="1645920" cy="777240"/>
          </a:xfrm>
          <a:prstGeom prst="roundRect">
            <a:avLst>
              <a:gd name="adj" fmla="val 16667"/>
            </a:avLst>
          </a:prstGeom>
          <a:solidFill>
            <a:srgbClr val="EBF8FF"/>
          </a:solidFill>
          <a:ln>
            <a:solidFill>
              <a:srgbClr val="0D3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rPr>
                <a:solidFill>
                  <a:schemeClr val="tx1"/>
                </a:solidFill>
              </a:rPr>
              <a:t>Kabag Kredit</a:t>
            </a:r>
            <a:endParaRPr/>
          </a:p>
        </p:txBody>
      </p:sp>
      <p:sp>
        <p:nvSpPr>
          <p:cNvPr id="1318382110" name="Rounded Rectangle 6"/>
          <p:cNvSpPr/>
          <p:nvPr/>
        </p:nvSpPr>
        <p:spPr bwMode="auto">
          <a:xfrm>
            <a:off x="5762301" y="1910750"/>
            <a:ext cx="1645920" cy="777240"/>
          </a:xfrm>
          <a:prstGeom prst="roundRect">
            <a:avLst>
              <a:gd name="adj" fmla="val 16667"/>
            </a:avLst>
          </a:prstGeom>
          <a:solidFill>
            <a:srgbClr val="EBF8FF"/>
          </a:solidFill>
          <a:ln>
            <a:solidFill>
              <a:srgbClr val="0D3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rPr>
                <a:solidFill>
                  <a:schemeClr val="tx1"/>
                </a:solidFill>
              </a:rPr>
              <a:t>Kadiv Bisnis</a:t>
            </a:r>
            <a:endParaRPr/>
          </a:p>
        </p:txBody>
      </p:sp>
      <p:sp>
        <p:nvSpPr>
          <p:cNvPr id="88273557" name="Rounded Rectangle 7"/>
          <p:cNvSpPr/>
          <p:nvPr/>
        </p:nvSpPr>
        <p:spPr bwMode="auto">
          <a:xfrm flipH="0" flipV="0">
            <a:off x="7574394" y="1910750"/>
            <a:ext cx="1503151" cy="777240"/>
          </a:xfrm>
          <a:prstGeom prst="roundRect">
            <a:avLst>
              <a:gd name="adj" fmla="val 16667"/>
            </a:avLst>
          </a:prstGeom>
          <a:solidFill>
            <a:srgbClr val="EBF8FF"/>
          </a:solidFill>
          <a:ln>
            <a:solidFill>
              <a:srgbClr val="0D3C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/>
            </a:pPr>
            <a:r>
              <a:rPr>
                <a:solidFill>
                  <a:schemeClr val="tx1"/>
                </a:solidFill>
              </a:rPr>
              <a:t>Direktur Utama</a:t>
            </a:r>
            <a:endParaRPr/>
          </a:p>
        </p:txBody>
      </p:sp>
      <p:cxnSp>
        <p:nvCxnSpPr>
          <p:cNvPr id="1850094102" name="Connector 8"/>
          <p:cNvCxnSpPr/>
          <p:nvPr/>
        </p:nvCxnSpPr>
        <p:spPr bwMode="auto">
          <a:xfrm>
            <a:off x="1825981" y="2389229"/>
            <a:ext cx="201168" cy="0"/>
          </a:xfrm>
          <a:prstGeom prst="line">
            <a:avLst/>
          </a:prstGeom>
          <a:ln w="38100">
            <a:solidFill>
              <a:srgbClr val="0D3C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355866" name="Connector 9"/>
          <p:cNvCxnSpPr/>
          <p:nvPr/>
        </p:nvCxnSpPr>
        <p:spPr bwMode="auto">
          <a:xfrm>
            <a:off x="3673069" y="2299370"/>
            <a:ext cx="201168" cy="0"/>
          </a:xfrm>
          <a:prstGeom prst="line">
            <a:avLst/>
          </a:prstGeom>
          <a:ln w="38100">
            <a:solidFill>
              <a:srgbClr val="0D3C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576792" name="Connector 10"/>
          <p:cNvCxnSpPr/>
          <p:nvPr/>
        </p:nvCxnSpPr>
        <p:spPr bwMode="auto">
          <a:xfrm>
            <a:off x="5520157" y="2299370"/>
            <a:ext cx="201168" cy="0"/>
          </a:xfrm>
          <a:prstGeom prst="line">
            <a:avLst/>
          </a:prstGeom>
          <a:ln w="38100">
            <a:solidFill>
              <a:srgbClr val="0D3C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9476757" name="Connector 11"/>
          <p:cNvCxnSpPr>
            <a:stCxn id="1318382110" idx="3"/>
          </p:cNvCxnSpPr>
          <p:nvPr/>
        </p:nvCxnSpPr>
        <p:spPr bwMode="auto">
          <a:xfrm rot="0" flipH="0" flipV="0">
            <a:off x="7408221" y="2299370"/>
            <a:ext cx="160192" cy="0"/>
          </a:xfrm>
          <a:prstGeom prst="line">
            <a:avLst/>
          </a:prstGeom>
          <a:ln w="38100">
            <a:solidFill>
              <a:srgbClr val="0D3C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078317" name="TextBox 12"/>
          <p:cNvSpPr txBox="1"/>
          <p:nvPr/>
        </p:nvSpPr>
        <p:spPr bwMode="auto">
          <a:xfrm>
            <a:off x="457200" y="3291840"/>
            <a:ext cx="7224278" cy="5794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/>
            </a:pPr>
            <a:r>
              <a:rPr/>
              <a:t>Pengajuan kredit diproses secara berjenjang dengan auto-skip jika jabatan tidak aktif, </a:t>
            </a:r>
            <a:endParaRPr/>
          </a:p>
          <a:p>
            <a:pPr algn="l">
              <a:defRPr sz="1600"/>
            </a:pPr>
            <a:r>
              <a:rPr/>
              <a:t>dan routing nominal &lt; 500 juta berhenti di Kadiv Bisnis.</a:t>
            </a:r>
            <a:endParaRPr/>
          </a:p>
        </p:txBody>
      </p:sp>
      <p:sp>
        <p:nvSpPr>
          <p:cNvPr id="800630069" name="Rounded Rectangle 13">
            <a:hlinkClick r:id="rId3" action="ppaction://hlinksldjump"/>
          </p:cNvPr>
          <p:cNvSpPr/>
          <p:nvPr/>
        </p:nvSpPr>
        <p:spPr bwMode="auto">
          <a:xfrm>
            <a:off x="6583680" y="5303520"/>
            <a:ext cx="1828800" cy="548640"/>
          </a:xfrm>
          <a:prstGeom prst="roundRect">
            <a:avLst>
              <a:gd name="adj" fmla="val 16667"/>
            </a:avLst>
          </a:prstGeom>
          <a:solidFill>
            <a:srgbClr val="3182CE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/>
              <a:t>Kembali ke Menu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2</cp:revision>
  <dcterms:created xsi:type="dcterms:W3CDTF">2013-01-27T09:14:16Z</dcterms:created>
  <dcterms:modified xsi:type="dcterms:W3CDTF">2026-07-22T07:03:20Z</dcterms:modified>
  <cp:category/>
</cp:coreProperties>
</file>