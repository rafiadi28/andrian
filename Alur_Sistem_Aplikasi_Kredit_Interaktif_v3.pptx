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Alur Sistem Aplikasi Kredit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Presentasi interaktif untuk pimpinan</a:t>
            </a:r>
          </a:p>
          <a:p>
            <a:r>
              <a:t>Sistem approval kredit dengan compliance terintegrasi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6583680" y="5303520"/>
            <a:ext cx="1828800" cy="54864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Lihat Menu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Menu Interaktif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Klik salah satu bagian untuk langsung menuju topik:</a:t>
            </a:r>
          </a:p>
          <a:p>
            <a:pPr>
              <a:defRPr sz="1800"/>
            </a:pPr>
            <a:r>
              <a:t>1. Inti Sistem</a:t>
            </a:r>
          </a:p>
          <a:p>
            <a:pPr>
              <a:defRPr sz="1800"/>
            </a:pPr>
            <a:r>
              <a:t>2. Alur Pengajuan</a:t>
            </a:r>
          </a:p>
          <a:p>
            <a:pPr>
              <a:defRPr sz="1800"/>
            </a:pPr>
            <a:r>
              <a:t>3. Approval Chain</a:t>
            </a:r>
          </a:p>
          <a:p>
            <a:pPr>
              <a:defRPr sz="1800"/>
            </a:pPr>
            <a:r>
              <a:t>4. Revisi &amp; Tolak</a:t>
            </a:r>
          </a:p>
          <a:p>
            <a:pPr>
              <a:defRPr sz="1800"/>
            </a:pPr>
            <a:r>
              <a:t>5. Nilai Bisnis</a:t>
            </a:r>
          </a:p>
          <a:p>
            <a:pPr>
              <a:defRPr sz="1800"/>
            </a:pPr>
            <a:r>
              <a:t>6. Use Case Sistem</a:t>
            </a:r>
          </a:p>
          <a:p>
            <a:pPr>
              <a:defRPr sz="1800"/>
            </a:pPr>
            <a:r>
              <a:t>7. Flowchart Proses</a:t>
            </a:r>
          </a:p>
          <a:p>
            <a:pPr>
              <a:defRPr sz="1800"/>
            </a:pPr>
            <a:r>
              <a:t>8. Diagram Alur Sistem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2743200"/>
            <a:ext cx="3657600" cy="64008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Inti Sistem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4572000" y="2743200"/>
            <a:ext cx="3657600" cy="64008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Alur Pengajuan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457200" y="3566160"/>
            <a:ext cx="3657600" cy="64008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Approval Chain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4572000" y="3566160"/>
            <a:ext cx="3657600" cy="64008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Revisi &amp; Tolak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457200" y="4389120"/>
            <a:ext cx="3657600" cy="64008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Nilai Bisnis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4572000" y="4389120"/>
            <a:ext cx="3657600" cy="64008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Use Case Sistem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457200" y="5212080"/>
            <a:ext cx="3657600" cy="64008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Flowchart Proses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Inti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 ini menangani seluruh proses pengajuan kredit: input analis, compliance, approval, dan cetak laporan.</a:t>
            </a:r>
          </a:p>
          <a:p>
            <a:pPr>
              <a:defRPr sz="1800"/>
            </a:pPr>
            <a:r>
              <a:t>Memastikan data credit scoring, cashflow, agunan, dan kepatuhan tersimpan lengkap.</a:t>
            </a:r>
          </a:p>
          <a:p>
            <a:pPr>
              <a:defRPr sz="1800"/>
            </a:pPr>
            <a:r>
              <a:t>Otomatis mengarahkan proses approval sesuai jabatan aktif dan batas nominal kredit.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Alur Pengajuan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Analis mengisi data debitur, usaha, cashflow, neraca, dan agunan.</a:t>
            </a:r>
          </a:p>
          <a:p>
            <a:pPr>
              <a:defRPr sz="1800"/>
            </a:pPr>
            <a:r>
              <a:t>2. Data disimpan ke tabel pengajuan_kredit, analisa_neraca, assessment_kepatuhan, dan jaminan_.</a:t>
            </a:r>
          </a:p>
          <a:p>
            <a:pPr>
              <a:defRPr sz="1800"/>
            </a:pPr>
            <a:r>
              <a:t>3. Status berubah menjadi diajukan / proses, dan sistem mengarahkan ke tahap approval berikutnya.</a:t>
            </a:r>
          </a:p>
          <a:p>
            <a:pPr>
              <a:defRPr sz="1800"/>
            </a:pPr>
            <a:r>
              <a:t>4. Jika ada role tidak aktif, sistem auto-skip ke role berikutnya.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Approval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Alur default: Analis → Kasubag Analis → Kabag Kredit → Kadiv Bisnis → Direktur Utama.</a:t>
            </a:r>
          </a:p>
          <a:p>
            <a:pPr>
              <a:defRPr sz="1800"/>
            </a:pPr>
            <a:r>
              <a:t>Setiap role memiliki halaman kerja khusus untuk melihat pengajuan berdasarkan posisi_saat_ini.</a:t>
            </a:r>
          </a:p>
          <a:p>
            <a:pPr>
              <a:defRPr sz="1800"/>
            </a:pPr>
            <a:r>
              <a:t>Approval dicatat di tabel approval_kredit sebagai audit trail.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Revisi &amp; Tolak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Setuju: lanjut ke stage berikutnya atau selesai jika akhir chain.</a:t>
            </a:r>
          </a:p>
          <a:p>
            <a:pPr>
              <a:defRPr sz="1800"/>
            </a:pPr>
            <a:r>
              <a:t>Revisi: kembali ke analis, catatan revisi disimpan, analis dapat perbaiki dan submit ulang.</a:t>
            </a:r>
          </a:p>
          <a:p>
            <a:pPr>
              <a:defRPr sz="1800"/>
            </a:pPr>
            <a:r>
              <a:t>Tolak: status ditolak, analis dapat lihat alasan dan lakukan pengajuan ulang jika perlu.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Nilai Bisnis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 mempercepat keputusan untuk kredit &lt; 500 juta dengan berhenti di Kadiv Bisnis.</a:t>
            </a:r>
          </a:p>
          <a:p>
            <a:pPr>
              <a:defRPr sz="1800"/>
            </a:pPr>
            <a:r>
              <a:t>Kredit ≥ 500 juta memerlukan approval final dari Direktur Utama.</a:t>
            </a:r>
          </a:p>
          <a:p>
            <a:pPr>
              <a:defRPr sz="1800"/>
            </a:pPr>
            <a:r>
              <a:t>Model ini menjaga keseimbangan antara efisiensi dan kontrol risiko.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Use Case Sistem Kredit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1371600" cy="731520"/>
          </a:xfrm>
          <a:prstGeom prst="rect">
            <a:avLst/>
          </a:prstGeom>
          <a:solidFill>
            <a:srgbClr val="F8FAFC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Analis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40280"/>
            <a:ext cx="1371600" cy="731520"/>
          </a:xfrm>
          <a:prstGeom prst="rect">
            <a:avLst/>
          </a:prstGeom>
          <a:solidFill>
            <a:srgbClr val="F8FAFC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Kepatuhan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108960"/>
            <a:ext cx="1371600" cy="731520"/>
          </a:xfrm>
          <a:prstGeom prst="rect">
            <a:avLst/>
          </a:prstGeom>
          <a:solidFill>
            <a:srgbClr val="F8FAFC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Kabag Kredit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977640"/>
            <a:ext cx="1371600" cy="731520"/>
          </a:xfrm>
          <a:prstGeom prst="rect">
            <a:avLst/>
          </a:prstGeom>
          <a:solidFill>
            <a:srgbClr val="F8FAFC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Direktur Utama</a:t>
            </a:r>
          </a:p>
        </p:txBody>
      </p:sp>
      <p:sp>
        <p:nvSpPr>
          <p:cNvPr id="8" name="Oval 7"/>
          <p:cNvSpPr/>
          <p:nvPr/>
        </p:nvSpPr>
        <p:spPr>
          <a:xfrm>
            <a:off x="2743200" y="1371600"/>
            <a:ext cx="3657600" cy="914400"/>
          </a:xfrm>
          <a:prstGeom prst="ellipse">
            <a:avLst/>
          </a:prstGeom>
          <a:solidFill>
            <a:srgbClr val="DEEAF6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Input Data Pengajuan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2468880"/>
            <a:ext cx="3657600" cy="914400"/>
          </a:xfrm>
          <a:prstGeom prst="ellipse">
            <a:avLst/>
          </a:prstGeom>
          <a:solidFill>
            <a:srgbClr val="DEEAF6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Verifikasi Kepatuhan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3566160"/>
            <a:ext cx="3657600" cy="914400"/>
          </a:xfrm>
          <a:prstGeom prst="ellipse">
            <a:avLst/>
          </a:prstGeom>
          <a:solidFill>
            <a:srgbClr val="DEEAF6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Review Approval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0" y="4663440"/>
            <a:ext cx="3657600" cy="914400"/>
          </a:xfrm>
          <a:prstGeom prst="ellipse">
            <a:avLst/>
          </a:prstGeom>
          <a:solidFill>
            <a:srgbClr val="DEEAF6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Approval Final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45920" y="1737360.0"/>
            <a:ext cx="1097280" cy="91440.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645920" y="2606040.0"/>
            <a:ext cx="1097280" cy="320040.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645920" y="3474720.0"/>
            <a:ext cx="1097280" cy="548640.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645920" y="4343400.0"/>
            <a:ext cx="1097280" cy="777240.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Use case ini menunjukkan peran utama dalam sistem dan fungsi utama yang dilakukan setiap aktor selama proses kredit.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6583680" y="5303520"/>
            <a:ext cx="1828800" cy="54864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Kembali ke Menu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Flowchart Proses Pengajuan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1371600"/>
            <a:ext cx="3200400" cy="640080"/>
          </a:xfrm>
          <a:prstGeom prst="ellipse">
            <a:avLst/>
          </a:prstGeom>
          <a:solidFill>
            <a:srgbClr val="ECF7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Mulai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240280"/>
            <a:ext cx="3200400" cy="640080"/>
          </a:xfrm>
          <a:prstGeom prst="rect">
            <a:avLst/>
          </a:prstGeom>
          <a:solidFill>
            <a:srgbClr val="ECF7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Analis Input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108960"/>
            <a:ext cx="3200400" cy="640080"/>
          </a:xfrm>
          <a:prstGeom prst="rect">
            <a:avLst/>
          </a:prstGeom>
          <a:solidFill>
            <a:srgbClr val="ECF7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Compliance Check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977640"/>
            <a:ext cx="3200400" cy="640080"/>
          </a:xfrm>
          <a:prstGeom prst="rect">
            <a:avLst/>
          </a:prstGeom>
          <a:solidFill>
            <a:srgbClr val="ECF7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Approval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4846320"/>
            <a:ext cx="3200400" cy="640080"/>
          </a:xfrm>
          <a:prstGeom prst="rect">
            <a:avLst/>
          </a:prstGeom>
          <a:solidFill>
            <a:srgbClr val="ECF7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Nilai Kredit &gt;= 500J?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5715000"/>
            <a:ext cx="3200400" cy="640080"/>
          </a:xfrm>
          <a:prstGeom prst="rect">
            <a:avLst/>
          </a:prstGeom>
          <a:solidFill>
            <a:srgbClr val="ECF7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Final Approval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6583680"/>
            <a:ext cx="3200400" cy="640080"/>
          </a:xfrm>
          <a:prstGeom prst="ellipse">
            <a:avLst/>
          </a:prstGeom>
          <a:solidFill>
            <a:srgbClr val="ECF7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Selesai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57800.0" y="2011680"/>
            <a:ext cx="0.0" cy="228600"/>
          </a:xfrm>
          <a:prstGeom prst="line">
            <a:avLst/>
          </a:prstGeom>
          <a:ln w="2540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57800.0" y="2880360"/>
            <a:ext cx="0.0" cy="228600"/>
          </a:xfrm>
          <a:prstGeom prst="line">
            <a:avLst/>
          </a:prstGeom>
          <a:ln w="2540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57800.0" y="3749040"/>
            <a:ext cx="0.0" cy="228600"/>
          </a:xfrm>
          <a:prstGeom prst="line">
            <a:avLst/>
          </a:prstGeom>
          <a:ln w="2540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257800.0" y="4617720"/>
            <a:ext cx="0.0" cy="228600"/>
          </a:xfrm>
          <a:prstGeom prst="line">
            <a:avLst/>
          </a:prstGeom>
          <a:ln w="2540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57800.0" y="5486400"/>
            <a:ext cx="0.0" cy="228600"/>
          </a:xfrm>
          <a:prstGeom prst="line">
            <a:avLst/>
          </a:prstGeom>
          <a:ln w="2540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257800.0" y="6355080"/>
            <a:ext cx="0.0" cy="228600"/>
          </a:xfrm>
          <a:prstGeom prst="line">
            <a:avLst/>
          </a:prstGeom>
          <a:ln w="2540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Flowchart ini menampilkan rangkaian proses dari input awal hingga final approval beserta keputusan threshold kredit.</a:t>
            </a:r>
          </a:p>
        </p:txBody>
      </p:sp>
      <p:sp>
        <p:nvSpPr>
          <p:cNvPr id="18" name="Rounded Rectangle 17">
            <a:hlinkClick action="ppaction://hlinksldjump" r:id="rId2"/>
          </p:cNvPr>
          <p:cNvSpPr/>
          <p:nvPr/>
        </p:nvSpPr>
        <p:spPr>
          <a:xfrm>
            <a:off x="6583680" y="5303520"/>
            <a:ext cx="1828800" cy="54864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Kembali ke Menu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Diagram Alur Sistem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645920" cy="777240"/>
          </a:xfrm>
          <a:prstGeom prst="roundRect">
            <a:avLst/>
          </a:prstGeom>
          <a:solidFill>
            <a:srgbClr val="EBF8FF"/>
          </a:solidFill>
          <a:ln>
            <a:solidFill>
              <a:srgbClr val="0D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Analis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12848" y="1371600"/>
            <a:ext cx="1645920" cy="777240"/>
          </a:xfrm>
          <a:prstGeom prst="roundRect">
            <a:avLst/>
          </a:prstGeom>
          <a:solidFill>
            <a:srgbClr val="EBF8FF"/>
          </a:solidFill>
          <a:ln>
            <a:solidFill>
              <a:srgbClr val="0D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Kasubag Analis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59936" y="1371600"/>
            <a:ext cx="1645920" cy="777240"/>
          </a:xfrm>
          <a:prstGeom prst="roundRect">
            <a:avLst/>
          </a:prstGeom>
          <a:solidFill>
            <a:srgbClr val="EBF8FF"/>
          </a:solidFill>
          <a:ln>
            <a:solidFill>
              <a:srgbClr val="0D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Kabag Kredit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07024" y="1371600"/>
            <a:ext cx="1645920" cy="777240"/>
          </a:xfrm>
          <a:prstGeom prst="roundRect">
            <a:avLst/>
          </a:prstGeom>
          <a:solidFill>
            <a:srgbClr val="EBF8FF"/>
          </a:solidFill>
          <a:ln>
            <a:solidFill>
              <a:srgbClr val="0D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Kadiv Bisnis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54112" y="1371600"/>
            <a:ext cx="1645920" cy="777240"/>
          </a:xfrm>
          <a:prstGeom prst="roundRect">
            <a:avLst/>
          </a:prstGeom>
          <a:solidFill>
            <a:srgbClr val="EBF8FF"/>
          </a:solidFill>
          <a:ln>
            <a:solidFill>
              <a:srgbClr val="0D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Direktur Utama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85416" y="1760220.0"/>
            <a:ext cx="201168" cy="0.0"/>
          </a:xfrm>
          <a:prstGeom prst="line">
            <a:avLst/>
          </a:prstGeom>
          <a:ln w="38100">
            <a:solidFill>
              <a:srgbClr val="0D3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32504" y="1760220.0"/>
            <a:ext cx="201168" cy="0.0"/>
          </a:xfrm>
          <a:prstGeom prst="line">
            <a:avLst/>
          </a:prstGeom>
          <a:ln w="38100">
            <a:solidFill>
              <a:srgbClr val="0D3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79592" y="1760220.0"/>
            <a:ext cx="201168" cy="0.0"/>
          </a:xfrm>
          <a:prstGeom prst="line">
            <a:avLst/>
          </a:prstGeom>
          <a:ln w="38100">
            <a:solidFill>
              <a:srgbClr val="0D3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26680" y="1760220.0"/>
            <a:ext cx="201168" cy="0.0"/>
          </a:xfrm>
          <a:prstGeom prst="line">
            <a:avLst/>
          </a:prstGeom>
          <a:ln w="38100">
            <a:solidFill>
              <a:srgbClr val="0D3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Pengajuan kredit diproses secara berjenjang dengan auto-skip jika jabatan tidak aktif, dan routing nominal &lt; 500 juta berhenti di Kadiv Bisnis.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6583680" y="5303520"/>
            <a:ext cx="1828800" cy="548640"/>
          </a:xfrm>
          <a:prstGeom prst="roundRect">
            <a:avLst/>
          </a:prstGeom>
          <a:solidFill>
            <a:srgbClr val="3182C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Kembali ke Menu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