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SISTEM APLIKASI KREDIT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Calibri"/>
              </a:defRPr>
            </a:pPr>
            <a:r>
              <a:t>PT BPR BANK WONOSOBO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108960"/>
            <a:ext cx="39319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5F9"/>
                </a:solidFill>
                <a:latin typeface="Calibri"/>
              </a:defRPr>
            </a:pPr>
            <a:r>
              <a:t>Panduan Lengkap Alur Sistem &amp; Cara Kerja Setiap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Presentasi Demo Sistem —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DAFTAR ISI PRESENTASI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371600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3898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Alur Sistem Aplikasi Kredit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642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Overview lengkap alur pengajuan hingga persetujuan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084832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Analis (Input)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Proses input data kredit oleh analis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798064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816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Kasubag Analis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Review &amp; verifikasi awal oleh Kasubag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511296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52958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Kabag Kredit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8039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Evaluasi risiko kredit oleh Kabag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4224528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24281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Kadiv Bisnis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1713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Approval divisi &amp; threshold keputusan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93776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9560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Direksi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2303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Persetujuan final untuk kredit besar</a:t>
            </a:r>
          </a:p>
        </p:txBody>
      </p:sp>
      <p:sp>
        <p:nvSpPr>
          <p:cNvPr id="23" name="Oval 22"/>
          <p:cNvSpPr/>
          <p:nvPr/>
        </p:nvSpPr>
        <p:spPr>
          <a:xfrm>
            <a:off x="914400" y="565099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Admin / Superadmin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Manajemen sistem, user &amp; parameter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ALUR SISTEM APLIKASI KREDIT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Overview Proses Pengajuan Hingga Persetujuan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828800" cy="91440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ANALIS</a:t>
            </a:r>
            <a:br/>
            <a:r>
              <a:t>(Input Data)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316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80360" y="2011680"/>
            <a:ext cx="1828800" cy="9144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KASUBAG</a:t>
            </a:r>
            <a:br/>
            <a:r>
              <a:t>(Review Awal)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5488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2011680"/>
            <a:ext cx="1828800" cy="9144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KABAG</a:t>
            </a:r>
            <a:br/>
            <a:r>
              <a:t>(Evaluasi Risiko)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660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43800" y="2011680"/>
            <a:ext cx="1828800" cy="9144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KADIV</a:t>
            </a:r>
            <a:br/>
            <a:r>
              <a:t>(Approval Divisi)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1832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0" y="2011680"/>
            <a:ext cx="1828800" cy="9144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DIREKSI</a:t>
            </a:r>
            <a:br/>
            <a:r>
              <a:t>(Final ≥500Jt)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STATUS PENGAJUAN KREDIT: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749039"/>
            <a:ext cx="1097280" cy="36576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Analis membuat pengajuan kredit baru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749039"/>
            <a:ext cx="109728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DIAJUKAN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Pengajuan dikirim ke rantai approval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749039"/>
            <a:ext cx="1097280" cy="3657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Sedang ditinjau oleh pejabat berwenang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89119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DISETUJUI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Kredit disetujui oleh pejabat terakhir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389119"/>
            <a:ext cx="109728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DITOLAK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Kredit ditolak, dikembalikan ke analis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389119"/>
            <a:ext cx="10972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REVISI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Perlu perbaikan data oleh analis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142B5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2120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⚡ FITUR AUTO-SKIP &amp; THRESHOLD AMOUNT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532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1F5F9"/>
                </a:solidFill>
                <a:latin typeface="Calibri"/>
              </a:defRPr>
            </a:pPr>
            <a:r>
              <a:t>• Jika pejabat sedang cuti/sakit/berhalangan, sistem otomatis melompati ke pejabat aktif berikutnya</a:t>
            </a:r>
            <a:br/>
            <a:r>
              <a:t>• Kredit &lt; Rp 500 Juta: Approval final di level KADIV (tidak perlu ke Direksi)</a:t>
            </a:r>
            <a:br/>
            <a:r>
              <a:t>• Kredit ≥ Rp 500 Juta: Harus mendapat persetujuan DIREKSI sebagai level tertinggi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 ALUR APPROVAL KREDIT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ystem_flow_diagram_17847690993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ANALIS (INPUT KREDIT)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Proses Input Data Pengajuan Kredit oleh Analis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JENIS KREDIT YANG TERSEDIA: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5AA8"/>
                </a:solidFill>
              </a:defRPr>
            </a:pPr>
            <a:r>
              <a:t>Umum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umum untuk</a:t>
            </a:r>
            <a:br/>
            <a:r>
              <a:t>nasabah perorangan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39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PPPK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untuk Pegawai</a:t>
            </a:r>
            <a:br/>
            <a:r>
              <a:t>Pemerintah (PPPK)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8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Perangkat Desa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khusus</a:t>
            </a:r>
            <a:br/>
            <a:r>
              <a:t>Perangkat Desa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7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97316"/>
                </a:solidFill>
              </a:defRPr>
            </a:pPr>
            <a:r>
              <a:t>KPR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Pemilikan</a:t>
            </a:r>
            <a:br/>
            <a:r>
              <a:t>Rumah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6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Kretamas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Emas</a:t>
            </a:r>
            <a:br/>
            <a:r>
              <a:t>(Gold Loan)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15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7C3AED"/>
                </a:solidFill>
              </a:defRPr>
            </a:pPr>
            <a:r>
              <a:t>Cash Collateral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dengan</a:t>
            </a:r>
            <a:br/>
            <a:r>
              <a:t>jaminan deposito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6 TAHAP INPUT DATA KREDIT: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416052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1605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Data Pemohon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262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NIK, Nama, Alamat, Pekerjaan,</a:t>
            </a:r>
            <a:br/>
            <a:r>
              <a:t>Tanggal Lahir, Status Perkawinan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402336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7719" y="416052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19" y="41605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Penghasilan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19" y="45262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Gaji pokok, tunjangan, penghasilan</a:t>
            </a:r>
            <a:br/>
            <a:r>
              <a:t>lain, analisa repayment capacity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598" y="402336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66758" y="416052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8" y="41605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Agunan / Jaminan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58" y="45262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Data kendaraan/tanah/bangunan,</a:t>
            </a:r>
            <a:br/>
            <a:r>
              <a:t>foto agunan, taksasi nilai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25780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80" y="539496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39496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Struktur Kredit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60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Plafond, jangka waktu, suku bunga,</a:t>
            </a:r>
            <a:br/>
            <a:r>
              <a:t>tujuan penggunaan kredit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59" y="525780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17719" y="53949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19" y="539496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Neraca Keuangan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5760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Aset, kewajiban, modal bersih</a:t>
            </a:r>
            <a:br/>
            <a:r>
              <a:t>(untuk kredit usaha/umum)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598" y="525780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58" y="539496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58" y="539496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Analisa 6C &amp; Verifikasi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58" y="5760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Character, Capacity, Capital,</a:t>
            </a:r>
            <a:br/>
            <a:r>
              <a:t>Collateral, Condition, Constraint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WORKFLOW INPUT DATA ANALIS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nalis_workflow_17847691067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DETAIL PROSES KERJA ANALIS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32588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2588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Login ke Sistem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Analis login menggunakan akun yang terdaftar</a:t>
            </a:r>
            <a:br/>
            <a:r>
              <a:t>dengan role 'analis'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1945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9456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Pilih Jenis Kredit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Memilih jenis produk kredit sesuai kebutuhan</a:t>
            </a:r>
            <a:br/>
            <a:r>
              <a:t>nasabah (Umum/PPPK/Desa/dll)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06324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Input Data Lengkap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Mengisi form data pemohon, penghasilan,</a:t>
            </a:r>
            <a:br/>
            <a:r>
              <a:t>agunan, struktur kredit, neraca, &amp; analisa 6C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9476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Upload Dokumen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Upload foto agunan, dokumen pendukung,</a:t>
            </a:r>
            <a:br/>
            <a:r>
              <a:t>dan kelengkapan administrasi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66344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480060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Simpan 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16636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Data dapat disimpan sebagai draft untuk</a:t>
            </a:r>
            <a:br/>
            <a:r>
              <a:t>dilengkapi kemudian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3212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360" y="566928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66928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Submit Pengajuan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3504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Kirim pengajuan ke rantai approval.</a:t>
            </a:r>
            <a:br/>
            <a:r>
              <a:t>Status berubah menjadi 'Diajukan'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FITUR KHUSUS ANALIS: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64592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📝 Revisi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01168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Jika pengajuan dikembalikan untuk revisi,</a:t>
            </a:r>
            <a:br/>
            <a:r>
              <a:t>analis dapat mengedit data dan mengirim ulang.</a:t>
            </a:r>
            <a:br/>
            <a:r>
              <a:t>Sistem langsung mengirim ke level yang</a:t>
            </a:r>
            <a:br/>
            <a:r>
              <a:t>mengembalikan (skip level sebelumnya).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83464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926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t>📊 Kalkulasi Otomatis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2004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Repayment capacity, taksasi agunan,</a:t>
            </a:r>
            <a:br/>
            <a:r>
              <a:t>dan rasio plafond dihitung otomatis</a:t>
            </a:r>
            <a:br/>
            <a:r>
              <a:t>berdasarkan parameter yang dikonfigurasi.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02336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1148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Calibri"/>
              </a:defRPr>
            </a:pPr>
            <a:r>
              <a:t>📋 Riwayat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3891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Melihat seluruh riwayat pengajuan yang</a:t>
            </a:r>
            <a:br/>
            <a:r>
              <a:t>pernah dibuat beserta status terkini.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521208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5303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Calibri"/>
              </a:defRPr>
            </a:pPr>
            <a:r>
              <a:t>🔄 Resubmit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5778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Pengajuan yang ditolak dapat diperbaiki</a:t>
            </a:r>
            <a:br/>
            <a:r>
              <a:t>dan diajukan kembali sebagai pengajuan baru.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KASUBAG ANALIS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Review &amp; Verifikasi Awal Pengajuan Kredit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KASUBAG ANALIS: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42316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Buka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Login dan lihat daftar pengajuan</a:t>
            </a:r>
            <a:br/>
            <a:r>
              <a:t>yang menunggu review di inbox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2900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03320" y="24231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Klik pengajuan untuk melihat</a:t>
            </a:r>
            <a:br/>
            <a:r>
              <a:t>seluruh data yang diinput analis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26364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42316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Verifikasi Dokumen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Periksa kelengkapan data pemohon,</a:t>
            </a:r>
            <a:br/>
            <a:r>
              <a:t>kesesuaian dokumen pendukung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09828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3544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72600" y="24231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Cek Perhitungan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Verifikasi kalkulasi repayment</a:t>
            </a:r>
            <a:br/>
            <a:r>
              <a:t>capacity dan taksasi agunan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KEPUTUSAN YANG DAPAT DIAMBIL: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206240"/>
            <a:ext cx="3474720" cy="210312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63040" y="4389120"/>
            <a:ext cx="201168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✅ SETUJU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Pengajuan diteruskan ke</a:t>
            </a:r>
            <a:br/>
            <a:r>
              <a:t>KABAG KREDIT</a:t>
            </a:r>
            <a:br/>
            <a:r>
              <a:t>untuk evaluasi lebih lanjut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Status: posisi_saat_ini → 'kabag_kredit'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4206240"/>
            <a:ext cx="3474720" cy="210312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212079" y="4389120"/>
            <a:ext cx="2011680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🔄 REVISI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39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Pengajuan dikembalikan ke</a:t>
            </a:r>
            <a:br/>
            <a:r>
              <a:t>ANALIS</a:t>
            </a:r>
            <a:br/>
            <a:r>
              <a:t>untuk perbaikan data/dokumen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39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Status: posisi_saat_ini → 'analis' | status → 'revisi'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598" y="4206240"/>
            <a:ext cx="3474720" cy="210312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61118" y="4389120"/>
            <a:ext cx="2011680" cy="4572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❌ TOLAK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8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Pengajuan DITOLAK dan</a:t>
            </a:r>
            <a:br/>
            <a:r>
              <a:t>dikembalikan ke ANALIS</a:t>
            </a:r>
            <a:br/>
            <a:r>
              <a:t>dengan alasan penolakan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78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Status: posisi_saat_ini → 'analis' | status → 'ditolak'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KABAG KREDIT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Evaluasi Risiko Kredit &amp; Penilaian Agunan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KABAG KREDIT: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42316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Dashboard Inbox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Menerima pengajuan yang sudah</a:t>
            </a:r>
            <a:br/>
            <a:r>
              <a:t>disetujui oleh Kasubag Analis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2900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03320" y="242316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Evaluasi Risiko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Analisis mendalam terhadap risiko</a:t>
            </a:r>
            <a:br/>
            <a:r>
              <a:t>kredit, kelayakan usaha nasabah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26364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4231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Agunan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Verifikasi nilai taksasi agunan</a:t>
            </a:r>
            <a:br/>
            <a:r>
              <a:t>dan kecukupan jaminan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09828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3544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72600" y="242316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Keputusan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Memberikan keputusan: Setuju,</a:t>
            </a:r>
            <a:br/>
            <a:r>
              <a:t>Revisi, atau Tolak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FOKUS EVALUASI KABAG KREDIT: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t>Analisis Keuangan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Mengevaluasi rasio keuangan nasabah,</a:t>
            </a:r>
            <a:br/>
            <a:r>
              <a:t>Debt Service Ratio (DSR), dan</a:t>
            </a:r>
            <a:br/>
            <a:r>
              <a:t>Repayment Capacity sesuai standar bank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6616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Penilaian Agunan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Memverifikasi nilai taksasi agunan,</a:t>
            </a:r>
            <a:br/>
            <a:r>
              <a:t>rasio Loan to Value (LTV),</a:t>
            </a:r>
            <a:br/>
            <a:r>
              <a:t>dan kelayakan jaminan yang diajukan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Risiko Kredit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Menilai risiko kredit berdasarkan</a:t>
            </a:r>
            <a:br/>
            <a:r>
              <a:t>analisa 6C yang dilakukan analis,</a:t>
            </a:r>
            <a:br/>
            <a:r>
              <a:t>kelayakan struktur kredit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Calibri"/>
              </a:defRPr>
            </a:pPr>
            <a:r>
              <a:t>Kepatuhan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Memastikan kesesuaian dengan</a:t>
            </a:r>
            <a:br/>
            <a:r>
              <a:t>kebijakan internal bank dan</a:t>
            </a:r>
            <a:br/>
            <a:r>
              <a:t>regulasi OJK yang berlaku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PROSES KEPUTUSAN APPROVAL (Kasubag / Kabag)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Tampilan halaman review dan aksi keputusan yang tersedia pada setiap level approval:</a:t>
            </a:r>
          </a:p>
        </p:txBody>
      </p:sp>
      <p:pic>
        <p:nvPicPr>
          <p:cNvPr id="6" name="Picture 5" descr="approval_workflow_17847691147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KADIV BISNIS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Approval Divisi &amp; Threshold Keputusan Kredit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137160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⚡ ATURAN THRESHOLD JUMLAH KREDIT: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468880"/>
            <a:ext cx="457200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Kredit &lt; Rp 500 Juta → KADIV = FINAL 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68880"/>
            <a:ext cx="5029200" cy="6400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Kredit ≥ Rp 500 Juta → Eskalasi ke DIREKSI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KADIV BISNIS: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6052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Terima Pengajuan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Menerima pengajuan dari Kabag</a:t>
            </a:r>
            <a:br/>
            <a:r>
              <a:t>Kredit yang sudah disetujui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429000" y="448056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616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03320" y="416052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Menyeluruh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Evaluasi kelayakan bisnis, risiko</a:t>
            </a:r>
            <a:br/>
            <a:r>
              <a:t>divisi, dan dampak portfolio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48056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37960" y="41605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Cek Threshold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Periksa jumlah kredit untuk</a:t>
            </a:r>
            <a:br/>
            <a:r>
              <a:t>menentukan apakah Kadiv</a:t>
            </a:r>
            <a:br/>
            <a:r>
              <a:t>adalah level approval terakhir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98280" y="448056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544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72600" y="416052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Keputusan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Setuju (final jika &lt;500Jt),</a:t>
            </a:r>
            <a:br/>
            <a:r>
              <a:t>Revisi, atau Tolak.</a:t>
            </a:r>
            <a:br/>
            <a:r>
              <a:t>Jika ≥500Jt: eskalasi ke Direksi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577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Calibri"/>
              </a:defRPr>
            </a:pPr>
            <a:r>
              <a:t>OPSI KEPUTUSAN:  ✅ Setuju (lanjut/final)  |  🔄 Revisi (kembali ke Analis)  |  ❌ Tolak (ditolak ke Analis)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 KEPUTUSAN KADIV BISNIS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adiv_workflow_1784769151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DIREKSI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Persetujuan Final untuk Kredit Bernilai Besar (≥ Rp 500 Juta)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914400"/>
          </a:xfrm>
          <a:prstGeom prst="roundRect">
            <a:avLst/>
          </a:prstGeom>
          <a:solidFill>
            <a:srgbClr val="45121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t>⚠️  PENTING: Direksi hanya menerima pengajuan kredit dengan nilai ≥ Rp 500.000.000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CA5A5"/>
                </a:solidFill>
                <a:latin typeface="Calibri"/>
              </a:defRPr>
            </a:pPr>
            <a:r>
              <a:t>Direksi TIDAK memiliki opsi REVISI — hanya dapat MENYETUJUI atau MENOLAK (keputusan bersifat FINAL)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DIREKSI: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3474720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70332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Dashboard Direksi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Melihat pengajuan kredit bernilai</a:t>
            </a:r>
            <a:br/>
            <a:r>
              <a:t>besar (≥500Jt) yang menunggu</a:t>
            </a:r>
            <a:br/>
            <a:r>
              <a:t>keputusan eksekutif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51960" y="4114800"/>
            <a:ext cx="1828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80559" y="3566160"/>
            <a:ext cx="3474720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17719" y="370332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19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Executive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19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Evaluasi final terhadap kelayakan</a:t>
            </a:r>
            <a:br/>
            <a:r>
              <a:t>bisnis, risiko bank, dan dampak</a:t>
            </a:r>
            <a:br/>
            <a:r>
              <a:t>terhadap portfolio keseluruhan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000999" y="4114800"/>
            <a:ext cx="1828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598" y="3566160"/>
            <a:ext cx="3474720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66758" y="370332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58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Keputusan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Hanya 2 pilihan:</a:t>
            </a:r>
            <a:br/>
            <a:r>
              <a:t>✅ SETUJU → Kredit Disetujui</a:t>
            </a:r>
            <a:br/>
            <a:r>
              <a:t>❌ TOLAK → Kredit Ditolak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HASIL KEPUTUSAN DIREKSI: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69280"/>
            <a:ext cx="502920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✅ SETUJU — APPROVAL FINAL</a:t>
            </a:r>
          </a:p>
          <a:p>
            <a:pPr algn="ctr">
              <a:defRPr sz="1000">
                <a:solidFill>
                  <a:srgbClr val="BBF7D0"/>
                </a:solidFill>
              </a:defRPr>
            </a:pPr>
            <a:r>
              <a:t>status_pengajuan → 'disetujui' | posisi → 'selesai'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669280"/>
            <a:ext cx="5029200" cy="8229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❌ TOLAK — PENOLAKAN FINAL</a:t>
            </a:r>
          </a:p>
          <a:p>
            <a:pPr algn="ctr">
              <a:defRPr sz="1000">
                <a:solidFill>
                  <a:srgbClr val="FECACA"/>
                </a:solidFill>
              </a:defRPr>
            </a:pPr>
            <a:r>
              <a:t>status_pengajuan → 'ditolak' | posisi → 'analis'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 WORKFLOW DIREKSI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reksi_workflow_17847691437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ADMIN / SUPERADMIN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Manajemen Sistem, User, Parameter &amp; Monitoring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5AA8"/>
                </a:solidFill>
                <a:latin typeface="Calibri"/>
              </a:defRPr>
            </a:pPr>
            <a:r>
              <a:t>Manajemen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423160"/>
            <a:ext cx="3108960" cy="27432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Membuat, mengedit, dan mengatur akun pengguna.</a:t>
            </a:r>
            <a:br/>
            <a:r>
              <a:t>Mengatur role (Analis, Kasubag, Kabag, Kadiv, Direksi).</a:t>
            </a:r>
            <a:br/>
            <a:r>
              <a:t>Mengatur status jabatan (Aktif, Cuti, Sakit, Izin, Berhalangan).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920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39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Calibri"/>
              </a:defRPr>
            </a:pPr>
            <a:r>
              <a:t>Master Pejabat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39" y="2423160"/>
            <a:ext cx="310896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Konfigurasi jabatan dan tanda tangan pejabat</a:t>
            </a:r>
            <a:br/>
            <a:r>
              <a:t>yang tampil pada dokumen cetak.</a:t>
            </a:r>
            <a:br/>
            <a:r>
              <a:t>Menentukan urutan hierarki approval.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8" y="1920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8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398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t>Parameter Repayment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8" y="2423160"/>
            <a:ext cx="3108960" cy="27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Konfigurasi formula Repayment Capacity.</a:t>
            </a:r>
            <a:br/>
            <a:r>
              <a:t>Atur parameter DSR (Debt Service Ratio),</a:t>
            </a:r>
            <a:br/>
            <a:r>
              <a:t>biaya hidup, dan threshold perhitungan.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Calibri"/>
              </a:defRPr>
            </a:pPr>
            <a:r>
              <a:t>Backup Database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709160"/>
            <a:ext cx="3108960" cy="274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Backup dan restore database sistem.</a:t>
            </a:r>
            <a:br/>
            <a:r>
              <a:t>Menjaga keamanan data dan</a:t>
            </a:r>
            <a:br/>
            <a:r>
              <a:t>memastikan ketersediaan data.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4206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39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59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t>Audit Log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39" y="4709160"/>
            <a:ext cx="310896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39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Memonitor log aktivitas sistem.</a:t>
            </a:r>
            <a:br/>
            <a:r>
              <a:t>Melacak perubahan parameter.</a:t>
            </a:r>
            <a:br/>
            <a:r>
              <a:t>Audit trail untuk kepatuhan.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598" y="4206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8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398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Calibri"/>
              </a:defRPr>
            </a:pPr>
            <a:r>
              <a:t>Riwayat &amp; Monitoring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78" y="4709160"/>
            <a:ext cx="3108960" cy="274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8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Melihat seluruh riwayat pengajuan kredit.</a:t>
            </a:r>
            <a:br/>
            <a:r>
              <a:t>Monitor status pengajuan secara real-time.</a:t>
            </a:r>
            <a:br/>
            <a:r>
              <a:t>Laporan statistik dan aktivitas.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FITUR ADMIN / SUPERADMIN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min_workflow_17847691346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MANAJEMEN STATUS JABATAN &amp; AUTO-SKIP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1F5F9"/>
                </a:solidFill>
                <a:latin typeface="Calibri"/>
              </a:defRPr>
            </a:pPr>
            <a:r>
              <a:t>Admin mengatur status jabatan setiap pejabat. Sistem secara otomatis melompati pejabat yang tidak aktif</a:t>
            </a:r>
            <a:br/>
            <a:r>
              <a:t>dan mengirim pengajuan ke pejabat aktif berikutnya dalam rantai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103120"/>
            <a:ext cx="15544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AKTIF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aktif bertugas dan</a:t>
            </a:r>
            <a:br/>
            <a:r>
              <a:t>dapat menerima pengajuan kredit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2103120"/>
            <a:ext cx="155448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CUTI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sedang cuti,</a:t>
            </a:r>
            <a:br/>
            <a:r>
              <a:t>pengajuan di-skip otomatis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0" y="2103120"/>
            <a:ext cx="1554480" cy="4114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SAKIT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sedang sakit,</a:t>
            </a:r>
            <a:br/>
            <a:r>
              <a:t>pengajuan di-skip otomatis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26680" y="2103120"/>
            <a:ext cx="1554480" cy="41148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IZIN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sedang izin,</a:t>
            </a:r>
            <a:br/>
            <a:r>
              <a:t>pengajuan di-skip otomatis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66960" y="2103120"/>
            <a:ext cx="1554480" cy="4114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BERHALANGAN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berhalangan,</a:t>
            </a:r>
            <a:br/>
            <a:r>
              <a:t>pengajuan di-skip otomatis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CONTOH SKENARIO AUTO-SKIP: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114800"/>
            <a:ext cx="2011680" cy="914400"/>
          </a:xfrm>
          <a:prstGeom prst="roundRect">
            <a:avLst/>
          </a:prstGeom>
          <a:solidFill>
            <a:srgbClr val="059E6F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ANALIS</a:t>
            </a:r>
            <a:br/>
            <a:r>
              <a:t>✅ Submit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4114800"/>
            <a:ext cx="2011680" cy="914400"/>
          </a:xfrm>
          <a:prstGeom prst="roundRect">
            <a:avLst/>
          </a:prstGeom>
          <a:solidFill>
            <a:srgbClr val="45121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KASUBAG</a:t>
            </a:r>
            <a:br/>
            <a:r>
              <a:t>❌ CUTI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SKIP 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4114800"/>
            <a:ext cx="2011680" cy="914400"/>
          </a:xfrm>
          <a:prstGeom prst="roundRect">
            <a:avLst/>
          </a:prstGeom>
          <a:solidFill>
            <a:srgbClr val="059E6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KABAG</a:t>
            </a:r>
            <a:br/>
            <a:r>
              <a:t>✅ AKTIF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114800"/>
            <a:ext cx="2011680" cy="914400"/>
          </a:xfrm>
          <a:prstGeom prst="roundRect">
            <a:avLst/>
          </a:prstGeom>
          <a:solidFill>
            <a:srgbClr val="45121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KADIV</a:t>
            </a:r>
            <a:br/>
            <a:r>
              <a:t>❌ SAKIT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SKIP 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0" y="4114800"/>
            <a:ext cx="2011680" cy="914400"/>
          </a:xfrm>
          <a:prstGeom prst="roundRect">
            <a:avLst/>
          </a:prstGeom>
          <a:solidFill>
            <a:srgbClr val="059E6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DIREKSI</a:t>
            </a:r>
            <a:br/>
            <a:r>
              <a:t>✅ AKTIF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1F5F9"/>
                </a:solidFill>
                <a:latin typeface="Calibri"/>
              </a:defRPr>
            </a:pPr>
            <a:r>
              <a:t>Pada contoh di atas:</a:t>
            </a:r>
            <a:br/>
            <a:r>
              <a:t>• Analis submit pengajuan → Kasubag sedang CUTI → Sistem otomatis SKIP ke Kabag</a:t>
            </a:r>
            <a:br/>
            <a:r>
              <a:t>• Kabag AKTIF → Review &amp; Setuju → Kadiv sedang SAKIT → Sistem otomatis SKIP ke Direksi</a:t>
            </a:r>
            <a:br/>
            <a:r>
              <a:t>• Direksi AKTIF → Review &amp; memberikan keputusan FINAL</a:t>
            </a:r>
            <a:br/>
            <a:r>
              <a:t>• Setiap auto-skip dicatat dalam audit trail untuk transparansi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RINGKASAN PERAN &amp; TANGGUNG JAWAB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3108960" cy="45720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5AA8"/>
                </a:solidFill>
                <a:latin typeface="Calibri"/>
              </a:defRPr>
            </a:pPr>
            <a:r>
              <a:t>Input &amp; 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Input data kredit, upload dokumen,</a:t>
            </a:r>
            <a:br/>
            <a:r>
              <a:t>submit &amp; resubmit pengajuan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18872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39" y="1371600"/>
            <a:ext cx="3108960" cy="4572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KASUBAG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  <a:latin typeface="Calibri"/>
              </a:defRPr>
            </a:pPr>
            <a:r>
              <a:t>Review Awal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Verifikasi awal, cek kelengkapan,</a:t>
            </a:r>
            <a:br/>
            <a:r>
              <a:t>review data analis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8" y="118872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78" y="1371600"/>
            <a:ext cx="3108960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KABAG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8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97316"/>
                </a:solidFill>
                <a:latin typeface="Calibri"/>
              </a:defRPr>
            </a:pPr>
            <a:r>
              <a:t>Evaluasi Risiko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8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Evaluasi risiko kredit, penilaian</a:t>
            </a:r>
            <a:br/>
            <a:r>
              <a:t>agunan, analisis keuangan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023360"/>
            <a:ext cx="310896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KADIV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Calibri"/>
              </a:defRPr>
            </a:pPr>
            <a:r>
              <a:t>Approval Divisi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377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Approval divisi, final untuk &lt;500Jt,</a:t>
            </a:r>
            <a:br/>
            <a:r>
              <a:t>eskalasi untuk ≥500Jt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384048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63439" y="4023360"/>
            <a:ext cx="3108960" cy="4572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DIREKSI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39" y="4617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Final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49377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Keputusan final untuk kredit ≥500Jt,</a:t>
            </a:r>
            <a:br/>
            <a:r>
              <a:t>hanya Setuju atau Tolak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598" y="384048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78" y="4023360"/>
            <a:ext cx="310896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8" y="4617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Sistem 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8" y="49377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Manajemen user, parameter,</a:t>
            </a:r>
            <a:br/>
            <a:r>
              <a:t>backup, audit &amp; monitoring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26080"/>
            <a:ext cx="39319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291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9E0B"/>
                </a:solidFill>
                <a:latin typeface="Calibri"/>
              </a:defRPr>
            </a:pPr>
            <a:r>
              <a:t>Sistem Aplikasi Kredit — PT BPR Bank Wonosobo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Presentasi Demo Sistem untuk Manajemen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Siap untuk sesi tanya jawab &amp; demo live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