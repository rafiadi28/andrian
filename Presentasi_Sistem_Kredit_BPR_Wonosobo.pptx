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SISTEM APLIKASI KREDIT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860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  <a:latin typeface="Calibri"/>
              </a:defRPr>
            </a:pPr>
            <a:r>
              <a:t>PT BPR BANK WONOSOBO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108960"/>
            <a:ext cx="393192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474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1F5F9"/>
                </a:solidFill>
                <a:latin typeface="Calibri"/>
              </a:defRPr>
            </a:pPr>
            <a:r>
              <a:t>Panduan Lengkap Alur Sistem &amp; Cara Kerja Setiap 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Presentasi Demo Sistem — Juli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DAFTAR ISI PRESENTASI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280160"/>
            <a:ext cx="457200" cy="45720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29844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Alur Sistem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7276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Overview lengkap alur pengajuan hingga persetujuan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920240"/>
            <a:ext cx="457200" cy="4572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938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Cara Kerja Analis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2128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Proses input data kredit oleh analis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2560320"/>
            <a:ext cx="457200" cy="457200"/>
          </a:xfrm>
          <a:prstGeom prst="ellipse">
            <a:avLst/>
          </a:prstGeom>
          <a:solidFill>
            <a:srgbClr val="05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7860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Cara Kerja Kepatuhan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529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Penilaian kepatuhan &amp; kelengkapan dokumen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3200399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18687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Cara Kerja Kasubag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007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Review &amp; verifikasi awal oleh Kasubag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3840480"/>
            <a:ext cx="457200" cy="457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8587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Cara Kerja Kabag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133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Evaluasi risiko kredit oleh Kabag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44805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9884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Cara Kerja Kadiv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77316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Approval divisi &amp; threshold keputusan</a:t>
            </a:r>
          </a:p>
        </p:txBody>
      </p:sp>
      <p:sp>
        <p:nvSpPr>
          <p:cNvPr id="23" name="Oval 22"/>
          <p:cNvSpPr/>
          <p:nvPr/>
        </p:nvSpPr>
        <p:spPr>
          <a:xfrm>
            <a:off x="914400" y="5120639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138927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Cara Kerja Direksi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413247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Persetujuan final untuk kredit besar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760719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779007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Cara Kerja Admin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6053327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Manajemen sistem, user &amp; parameter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ALUR SISTEM APLIKASI KREDIT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Overview Proses Pengajuan Hingga Persetujuan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1463040" cy="914400"/>
          </a:xfrm>
          <a:prstGeom prst="round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ANALIS</a:t>
            </a:r>
            <a:br/>
            <a:r>
              <a:t>(Input)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965960" y="2331720"/>
            <a:ext cx="4114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286000" y="2011680"/>
            <a:ext cx="1463040" cy="914400"/>
          </a:xfrm>
          <a:prstGeom prst="roundRect">
            <a:avLst/>
          </a:prstGeom>
          <a:solidFill>
            <a:srgbClr val="05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KEPATUHAN</a:t>
            </a:r>
            <a:br/>
            <a:r>
              <a:t>(Review)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794760" y="2331720"/>
            <a:ext cx="4114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0" y="2011680"/>
            <a:ext cx="1463040" cy="9144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KASUBAG</a:t>
            </a:r>
            <a:br/>
            <a:r>
              <a:t>(Review)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23560" y="2331720"/>
            <a:ext cx="4114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43600" y="2011680"/>
            <a:ext cx="1463040" cy="9144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KABAG</a:t>
            </a:r>
            <a:br/>
            <a:r>
              <a:t>(Evaluasi)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452360" y="2331720"/>
            <a:ext cx="4114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772400" y="2011680"/>
            <a:ext cx="1463040" cy="9144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KADIV</a:t>
            </a:r>
            <a:br/>
            <a:r>
              <a:t>(Approval)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281160" y="2331720"/>
            <a:ext cx="4114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200" y="2011680"/>
            <a:ext cx="1463040" cy="9144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DIREKSI</a:t>
            </a:r>
            <a:br/>
            <a:r>
              <a:t>(Final)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291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STATUS PENGAJUAN KREDIT: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49039"/>
            <a:ext cx="1097280" cy="365760"/>
          </a:xfrm>
          <a:prstGeom prst="round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DRAFT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Analis membuat pengajuan kredit baru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3749039"/>
            <a:ext cx="1097280" cy="36576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DIAJUKAN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Pengajuan dikirim ke rantai approval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749039"/>
            <a:ext cx="1097280" cy="36576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PROSES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79475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Sedang ditinjau oleh pejabat berwenang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389119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DISETUJUI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4434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Kredit disetujui oleh pejabat terakhir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9120" y="4389119"/>
            <a:ext cx="1097280" cy="3657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DITOLAK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0" y="4434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Kredit ditolak, dikembalikan ke analis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4389119"/>
            <a:ext cx="109728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REVISI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4348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Perlu perbaikan data oleh analis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120640"/>
            <a:ext cx="10698480" cy="1097280"/>
          </a:xfrm>
          <a:prstGeom prst="roundRect">
            <a:avLst/>
          </a:prstGeom>
          <a:solidFill>
            <a:srgbClr val="142B5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2120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⚡ FITUR AUTO-SKIP &amp; THRESHOLD AMOUNT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5321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1F5F9"/>
                </a:solidFill>
                <a:latin typeface="Calibri"/>
              </a:defRPr>
            </a:pPr>
            <a:r>
              <a:t>• Jika pejabat sedang cuti/sakit/berhalangan, sistem otomatis melompati ke pejabat aktif berikutnya</a:t>
            </a:r>
            <a:br/>
            <a:r>
              <a:t>• Kredit &lt; Rp 500 Juta: Approval final di level KADIV (tidak perlu ke Direksi)</a:t>
            </a:r>
            <a:br/>
            <a:r>
              <a:t>• Kredit ≥ Rp 500 Juta: Harus mendapat persetujuan DIREKSI sebagai level tertinggi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DIAGRAM ALUR APPROVAL KREDIT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ystem_flow_diagram_17847690993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CARA KERJA ANALIS (INPUT KREDIT)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Proses Input Data Pengajuan Kredit oleh Analis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JENIS KREDIT YANG TERSEDIA: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1737360" cy="10058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5AA8"/>
                </a:solidFill>
              </a:defRPr>
            </a:pPr>
            <a:r>
              <a:t>Umum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Kredit umum untuk</a:t>
            </a:r>
            <a:br/>
            <a:r>
              <a:t>nasabah perorangan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39" y="2286000"/>
            <a:ext cx="1737360" cy="10058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6B6D4"/>
                </a:solidFill>
              </a:defRPr>
            </a:pPr>
            <a:r>
              <a:t>PPPK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Kredit untuk Pegawai</a:t>
            </a:r>
            <a:br/>
            <a:r>
              <a:t>Pemerintah (PPPK)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8" y="2286000"/>
            <a:ext cx="1737360" cy="10058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Perangkat Desa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Kredit khusus</a:t>
            </a:r>
            <a:br/>
            <a:r>
              <a:t>Perangkat Desa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77" y="2286000"/>
            <a:ext cx="1737360" cy="10058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97316"/>
                </a:solidFill>
              </a:defRPr>
            </a:pPr>
            <a:r>
              <a:t>KPR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Kredit Pemilikan</a:t>
            </a:r>
            <a:br/>
            <a:r>
              <a:t>Rumah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6" y="2286000"/>
            <a:ext cx="1737360" cy="10058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</a:defRPr>
            </a:pPr>
            <a:r>
              <a:t>Kretamas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Kredit Emas</a:t>
            </a:r>
            <a:br/>
            <a:r>
              <a:t>(Gold Loan)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04115" y="2286000"/>
            <a:ext cx="1737360" cy="10058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7C3AED"/>
                </a:solidFill>
              </a:defRPr>
            </a:pPr>
            <a:r>
              <a:t>Cash Collateral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Kredit dengan</a:t>
            </a:r>
            <a:br/>
            <a:r>
              <a:t>jaminan deposito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6 TAHAP INPUT DATA KREDIT: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347472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4160520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1605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Data Pemohon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5262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NIK, Nama, Alamat, Pekerjaan,</a:t>
            </a:r>
            <a:br/>
            <a:r>
              <a:t>Tanggal Lahir, Status Perkawinan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59" y="4023360"/>
            <a:ext cx="347472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617719" y="416052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19" y="41605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Penghasilan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19" y="45262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Gaji pokok, tunjangan, penghasilan</a:t>
            </a:r>
            <a:br/>
            <a:r>
              <a:t>lain, analisa repayment capacity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598" y="4023360"/>
            <a:ext cx="347472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66758" y="416052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58" y="41605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Agunan / Jaminan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58" y="452628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Data kendaraan/tanah/bangunan,</a:t>
            </a:r>
            <a:br/>
            <a:r>
              <a:t>foto agunan, taksasi nilai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257800"/>
            <a:ext cx="347472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68680" y="539496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39496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Struktur Kredit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7607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Plafond, jangka waktu, suku bunga,</a:t>
            </a:r>
            <a:br/>
            <a:r>
              <a:t>tujuan penggunaan kredit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80559" y="5257800"/>
            <a:ext cx="347472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17719" y="539496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19" y="539496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Neraca Keuangan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19" y="57607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Aset, kewajiban, modal bersih</a:t>
            </a:r>
            <a:br/>
            <a:r>
              <a:t>(untuk kredit usaha/umum)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598" y="5257800"/>
            <a:ext cx="347472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58" y="5394960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58" y="539496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Analisa 6C &amp; Verifikasi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58" y="57607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Character, Capacity, Capital,</a:t>
            </a:r>
            <a:br/>
            <a:r>
              <a:t>Collateral, Condition, Constraint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WORKFLOW INPUT DATA ANALIS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nalis_workflow_17847691067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DETAIL PROSES KERJA ANALIS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303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32588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32588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Login ke Sistem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9164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Analis login menggunakan akun yang terdaftar</a:t>
            </a:r>
            <a:br/>
            <a:r>
              <a:t>dengan role 'analis'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5303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" y="219456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19456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Pilih Jenis Kredit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6032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Memilih jenis produk kredit sesuai kebutuhan</a:t>
            </a:r>
            <a:br/>
            <a:r>
              <a:t>nasabah (Umum/PPPK/Desa/dll)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26080"/>
            <a:ext cx="5303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94360" y="306324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Input Data Lengkap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2900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Mengisi form data pemohon, penghasilan,</a:t>
            </a:r>
            <a:br/>
            <a:r>
              <a:t>agunan, struktur kredit, neraca, &amp; analisa 6C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94760"/>
            <a:ext cx="5303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60" y="393192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Upload Dokumen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9768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Upload foto agunan, dokumen pendukung,</a:t>
            </a:r>
            <a:br/>
            <a:r>
              <a:t>dan kelengkapan administrasi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663440"/>
            <a:ext cx="5303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4360" y="480060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80060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Simpan Draft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16636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Data dapat disimpan sebagai draft untuk</a:t>
            </a:r>
            <a:br/>
            <a:r>
              <a:t>dilengkapi kemudian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532120"/>
            <a:ext cx="5303520" cy="7772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360" y="566928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669280"/>
            <a:ext cx="4526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Submit Pengajuan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35040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Kirim pengajuan ke rantai approval.</a:t>
            </a:r>
            <a:br/>
            <a:r>
              <a:t>Status berubah menjadi 'Diajukan'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FITUR KHUSUS ANALIS: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645920"/>
            <a:ext cx="5303520" cy="105156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1737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t>📝 Revisi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01168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Jika pengajuan dikembalikan untuk revisi,</a:t>
            </a:r>
            <a:br/>
            <a:r>
              <a:t>analis dapat mengedit data dan mengirim ulang.</a:t>
            </a:r>
            <a:br/>
            <a:r>
              <a:t>Sistem langsung mengirim ke level yang</a:t>
            </a:r>
            <a:br/>
            <a:r>
              <a:t>mengembalikan (skip level sebelumnya).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2834640"/>
            <a:ext cx="5303520" cy="105156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2926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5AA8"/>
                </a:solidFill>
                <a:latin typeface="Calibri"/>
              </a:defRPr>
            </a:pPr>
            <a:r>
              <a:t>📊 Kalkulasi Otomatis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20040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Repayment capacity, taksasi agunan,</a:t>
            </a:r>
            <a:br/>
            <a:r>
              <a:t>dan rasio plafond dihitung otomatis</a:t>
            </a:r>
            <a:br/>
            <a:r>
              <a:t>berdasarkan parameter yang dikonfigurasi.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4023360"/>
            <a:ext cx="5303520" cy="105156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1148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  <a:latin typeface="Calibri"/>
              </a:defRPr>
            </a:pPr>
            <a:r>
              <a:t>📋 Riwayat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3891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Melihat seluruh riwayat pengajuan yang</a:t>
            </a:r>
            <a:br/>
            <a:r>
              <a:t>pernah dibuat beserta status terkini.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5212080"/>
            <a:ext cx="5303520" cy="105156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53035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  <a:latin typeface="Calibri"/>
              </a:defRPr>
            </a:pPr>
            <a:r>
              <a:t>🔄 Resubmit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57784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Pengajuan yang ditolak dapat diperbaiki</a:t>
            </a:r>
            <a:br/>
            <a:r>
              <a:t>dan diajukan kembali sebagai pengajuan baru.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05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CARA KERJA KEPATUHAN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Singkronisasi &amp; Penilaian Dokumen Kepatuhan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05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ALUR KERJA KEPATUHAN: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423160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Terima Data Analis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Sistem auto-populate form dari</a:t>
            </a:r>
            <a:br/>
            <a:r>
              <a:t>data input awal Analis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2900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59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03320" y="2423160"/>
            <a:ext cx="365760" cy="365760"/>
          </a:xfrm>
          <a:prstGeom prst="ellipse">
            <a:avLst/>
          </a:prstGeom>
          <a:solidFill>
            <a:srgbClr val="05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Review Kepatuhan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Periksa dokumen, checklist SOP,</a:t>
            </a:r>
            <a:br/>
            <a:r>
              <a:t>dan validasi syarat kredit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26364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60" y="242316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Singkronisasi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Melengkapi fasilitas kredit,</a:t>
            </a:r>
            <a:br/>
            <a:r>
              <a:t>catatan, &amp; kesimpulan final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09828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3544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72600" y="242316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Simpan Assessment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Data tersimpan di database,</a:t>
            </a:r>
            <a:br/>
            <a:r>
              <a:t>siap direview oleh Komite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FITUR UTAMA PENILAIAN KEPATUHAN: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206240"/>
            <a:ext cx="265176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6B6D4"/>
                </a:solidFill>
                <a:latin typeface="Calibri"/>
              </a:defRPr>
            </a:pPr>
            <a:r>
              <a:t>Auto-Populate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Data dari Analis langsung muncul</a:t>
            </a:r>
            <a:br/>
            <a:r>
              <a:t>di form Kepatuhan (tidak perlu</a:t>
            </a:r>
            <a:br/>
            <a:r>
              <a:t>input ulang).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66160" y="4206240"/>
            <a:ext cx="265176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059E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E6F"/>
                </a:solidFill>
                <a:latin typeface="Calibri"/>
              </a:defRPr>
            </a:pPr>
            <a:r>
              <a:t>AJAX Submission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4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Penyimpanan data real-time</a:t>
            </a:r>
            <a:br/>
            <a:r>
              <a:t>tanpa loading ulang halaman.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206240"/>
            <a:ext cx="265176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t>Validasi Dokumen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Memastikan semua syarat legal,</a:t>
            </a:r>
            <a:br/>
            <a:r>
              <a:t>agunan, dan administrasi telah</a:t>
            </a:r>
            <a:br/>
            <a:r>
              <a:t>sesuai SOP Bank.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35440" y="4206240"/>
            <a:ext cx="265176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5AA8"/>
                </a:solidFill>
                <a:latin typeface="Calibri"/>
              </a:defRPr>
            </a:pPr>
            <a:r>
              <a:t>Tersentralisasi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Hasil assessment langsung</a:t>
            </a:r>
            <a:br/>
            <a:r>
              <a:t>terhubung ke pengajuan kredit</a:t>
            </a:r>
            <a:br/>
            <a:r>
              <a:t>dan bisa dilihat Kasubag/Kabag.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CARA KERJA KASUBAG ANALIS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Review &amp; Verifikasi Awal Pengajuan Kredit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ALUR KERJA KASUBAG ANALIS: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42316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Buka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Login dan lihat daftar pengajuan</a:t>
            </a:r>
            <a:br/>
            <a:r>
              <a:t>yang menunggu review di inbox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2900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03320" y="2423160"/>
            <a:ext cx="365760" cy="36576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Review Detail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Klik pengajuan untuk melihat</a:t>
            </a:r>
            <a:br/>
            <a:r>
              <a:t>seluruh data yang diinput analis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26364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60" y="2423160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Verifikasi Dokumen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Periksa kelengkapan data pemohon,</a:t>
            </a:r>
            <a:br/>
            <a:r>
              <a:t>kesesuaian dokumen pendukung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09828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3544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72600" y="242316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Cek Perhitungan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Verifikasi kalkulasi repayment</a:t>
            </a:r>
            <a:br/>
            <a:r>
              <a:t>capacity dan taksasi agunan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KEPUTUSAN YANG DAPAT DIAMBIL: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206240"/>
            <a:ext cx="3474720" cy="210312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463040" y="4389120"/>
            <a:ext cx="201168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✅ SETUJU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83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Pengajuan diteruskan ke</a:t>
            </a:r>
            <a:br/>
            <a:r>
              <a:t>KABAG KREDIT</a:t>
            </a:r>
            <a:br/>
            <a:r>
              <a:t>untuk evaluasi lebih lanjut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760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Status: posisi_saat_ini → 'kabag_kredit'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59" y="4206240"/>
            <a:ext cx="3474720" cy="210312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212079" y="4389120"/>
            <a:ext cx="2011680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🔄 REVISI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39" y="4983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Pengajuan dikembalikan ke</a:t>
            </a:r>
            <a:br/>
            <a:r>
              <a:t>ANALIS</a:t>
            </a:r>
            <a:br/>
            <a:r>
              <a:t>untuk perbaikan data/dokumen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39" y="5760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Status: posisi_saat_ini → 'analis' | status → 'revisi'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598" y="4206240"/>
            <a:ext cx="3474720" cy="210312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61118" y="4389120"/>
            <a:ext cx="2011680" cy="4572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❌ TOLAK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78" y="498348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Pengajuan DITOLAK dan</a:t>
            </a:r>
            <a:br/>
            <a:r>
              <a:t>dikembalikan ke ANALIS</a:t>
            </a:r>
            <a:br/>
            <a:r>
              <a:t>dengan alasan penolakan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78" y="57607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94A3B8"/>
                </a:solidFill>
                <a:latin typeface="Calibri"/>
              </a:defRPr>
            </a:pPr>
            <a:r>
              <a:t>Status: posisi_saat_ini → 'analis' | status → 'ditolak'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CARA KERJA KABAG KREDIT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Evaluasi Risiko Kredit &amp; Penilaian Agunan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ALUR KERJA KABAG KREDIT: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42316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Dashboard Inbox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Menerima pengajuan yang sudah</a:t>
            </a:r>
            <a:br/>
            <a:r>
              <a:t>disetujui oleh Kasubag Analis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42900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03320" y="2423160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Evaluasi Risiko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Analisis mendalam terhadap risiko</a:t>
            </a:r>
            <a:br/>
            <a:r>
              <a:t>kredit, kelayakan usaha nasabah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26364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37960" y="242316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Review Agunan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Verifikasi nilai taksasi agunan</a:t>
            </a:r>
            <a:br/>
            <a:r>
              <a:t>dan kecukupan jaminan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098280" y="269748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235440" y="2286000"/>
            <a:ext cx="2651760" cy="10972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372600" y="242316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242316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Keputusan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78892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Memberikan keputusan: Setuju,</a:t>
            </a:r>
            <a:br/>
            <a:r>
              <a:t>Revisi, atau Tolak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7490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FOKUS EVALUASI KABAG KREDIT: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4206240"/>
            <a:ext cx="265176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5AA8"/>
                </a:solidFill>
                <a:latin typeface="Calibri"/>
              </a:defRPr>
            </a:pPr>
            <a:r>
              <a:t>Analisis Keuangan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Mengevaluasi rasio keuangan nasabah,</a:t>
            </a:r>
            <a:br/>
            <a:r>
              <a:t>Debt Service Ratio (DSR), dan</a:t>
            </a:r>
            <a:br/>
            <a:r>
              <a:t>Repayment Capacity sesuai standar bank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66160" y="4206240"/>
            <a:ext cx="265176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4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B981"/>
                </a:solidFill>
                <a:latin typeface="Calibri"/>
              </a:defRPr>
            </a:pPr>
            <a:r>
              <a:t>Penilaian Agunan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4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Memverifikasi nilai taksasi agunan,</a:t>
            </a:r>
            <a:br/>
            <a:r>
              <a:t>rasio Loan to Value (LTV),</a:t>
            </a:r>
            <a:br/>
            <a:r>
              <a:t>dan kelayakan jaminan yang diajukan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206240"/>
            <a:ext cx="265176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7316"/>
                </a:solidFill>
                <a:latin typeface="Calibri"/>
              </a:defRPr>
            </a:pPr>
            <a:r>
              <a:t>Risiko Kredit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Menilai risiko kredit berdasarkan</a:t>
            </a:r>
            <a:br/>
            <a:r>
              <a:t>analisa 6C yang dilakukan analis,</a:t>
            </a:r>
            <a:br/>
            <a:r>
              <a:t>kelayakan struktur kredit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35440" y="4206240"/>
            <a:ext cx="265176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0" y="4709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C3AED"/>
                </a:solidFill>
                <a:latin typeface="Calibri"/>
              </a:defRPr>
            </a:pPr>
            <a:r>
              <a:t>Kepatuhan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502920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Memastikan kesesuaian dengan</a:t>
            </a:r>
            <a:br/>
            <a:r>
              <a:t>kebijakan internal bank dan</a:t>
            </a:r>
            <a:br/>
            <a:r>
              <a:t>regulasi OJK yang berlaku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PROSES KEPUTUSAN APPROVAL (Kasubag / Kabag)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Calibri"/>
              </a:defRPr>
            </a:pPr>
            <a:r>
              <a:t>Tampilan halaman review dan aksi keputusan yang tersedia pada setiap level approval:</a:t>
            </a:r>
          </a:p>
        </p:txBody>
      </p:sp>
      <p:pic>
        <p:nvPicPr>
          <p:cNvPr id="6" name="Picture 5" descr="approval_workflow_17847691147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11247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CARA KERJA KADIV BISNIS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Approval Divisi &amp; Threshold Keputusan Kredit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698480" cy="137160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⚡ ATURAN THRESHOLD JUMLAH KREDIT: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468880"/>
            <a:ext cx="457200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Kredit &lt; Rp 500 Juta → KADIV = FINAL APPROVAL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68880"/>
            <a:ext cx="5029200" cy="6400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Kredit ≥ Rp 500 Juta → Eskalasi ke DIREKSI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ALUR KERJA KADIV BISNIS: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2651760" cy="1280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416052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416052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Terima Pengajuan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262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Menerima pengajuan dari Kabag</a:t>
            </a:r>
            <a:br/>
            <a:r>
              <a:t>Kredit yang sudah disetujui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429000" y="448056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6160" y="4023360"/>
            <a:ext cx="2651760" cy="1280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03320" y="4160520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16052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Review Menyeluruh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45262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Evaluasi kelayakan bisnis, risiko</a:t>
            </a:r>
            <a:br/>
            <a:r>
              <a:t>divisi, dan dampak portfolio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263640" y="448056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4023360"/>
            <a:ext cx="2651760" cy="1280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37960" y="41605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416052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Cek Threshold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5262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Periksa jumlah kredit untuk</a:t>
            </a:r>
            <a:br/>
            <a:r>
              <a:t>menentukan apakah Kadiv</a:t>
            </a:r>
            <a:br/>
            <a:r>
              <a:t>adalah level approval terakhir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98280" y="4480560"/>
            <a:ext cx="9144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35440" y="4023360"/>
            <a:ext cx="2651760" cy="128016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72600" y="416052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4160520"/>
            <a:ext cx="1874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Keputusan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5262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Setuju (final jika &lt;500Jt),</a:t>
            </a:r>
            <a:br/>
            <a:r>
              <a:t>Revisi, atau Tolak.</a:t>
            </a:r>
            <a:br/>
            <a:r>
              <a:t>Jika ≥500Jt: eskalasi ke Direksi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5778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1F5F9"/>
                </a:solidFill>
                <a:latin typeface="Calibri"/>
              </a:defRPr>
            </a:pPr>
            <a:r>
              <a:t>OPSI KEPUTUSAN:  ✅ Setuju (lanjut/final)  |  🔄 Revisi (kembali ke Analis)  |  ❌ Tolak (ditolak ke Analis)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DIAGRAM KEPUTUSAN KADIV BISNIS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adiv_workflow_17847691510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CARA KERJA DIREKSI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Persetujuan Final untuk Kredit Bernilai Besar (≥ Rp 500 Juta)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698480" cy="914400"/>
          </a:xfrm>
          <a:prstGeom prst="roundRect">
            <a:avLst/>
          </a:prstGeom>
          <a:solidFill>
            <a:srgbClr val="45121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Calibri"/>
              </a:defRPr>
            </a:pPr>
            <a:r>
              <a:t>⚠️  PENTING: Direksi hanya menerima pengajuan kredit dengan nilai ≥ Rp 500.000.000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CA5A5"/>
                </a:solidFill>
                <a:latin typeface="Calibri"/>
              </a:defRPr>
            </a:pPr>
            <a:r>
              <a:t>Direksi TIDAK memiliki opsi REVISI — hanya dapat MENYETUJUI atau MENOLAK (keputusan bersifat FINAL)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ALUR KERJA DIREKSI: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3474720" cy="13716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3703320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033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Dashboard Direksi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Melihat pengajuan kredit bernilai</a:t>
            </a:r>
            <a:br/>
            <a:r>
              <a:t>besar (≥500Jt) yang menunggu</a:t>
            </a:r>
            <a:br/>
            <a:r>
              <a:t>keputusan eksekutif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51960" y="4114800"/>
            <a:ext cx="1828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80559" y="3566160"/>
            <a:ext cx="3474720" cy="13716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17719" y="3703320"/>
            <a:ext cx="365760" cy="365760"/>
          </a:xfrm>
          <a:prstGeom prst="ellipse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19" y="37033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Review Executive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19" y="4069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Evaluasi final terhadap kelayakan</a:t>
            </a:r>
            <a:br/>
            <a:r>
              <a:t>bisnis, risiko bank, dan dampak</a:t>
            </a:r>
            <a:br/>
            <a:r>
              <a:t>terhadap portfolio keseluruhan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000999" y="4114800"/>
            <a:ext cx="182880" cy="27432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598" y="3566160"/>
            <a:ext cx="3474720" cy="13716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66758" y="370332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58" y="3703320"/>
            <a:ext cx="2697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Keputusan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8" y="4069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Calibri"/>
              </a:defRPr>
            </a:pPr>
            <a:r>
              <a:t>Hanya 2 pilihan:</a:t>
            </a:r>
            <a:br/>
            <a:r>
              <a:t>✅ SETUJU → Kredit Disetujui</a:t>
            </a:r>
            <a:br/>
            <a:r>
              <a:t>❌ TOLAK → Kredit Ditolak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HASIL KEPUTUSAN DIREKSI: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669280"/>
            <a:ext cx="5029200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✅ SETUJU — APPROVAL FINAL</a:t>
            </a:r>
          </a:p>
          <a:p>
            <a:pPr algn="ctr">
              <a:defRPr sz="1000">
                <a:solidFill>
                  <a:srgbClr val="BBF7D0"/>
                </a:solidFill>
              </a:defRPr>
            </a:pPr>
            <a:r>
              <a:t>status_pengajuan → 'disetujui' | posisi → 'selesai'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669280"/>
            <a:ext cx="5029200" cy="8229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❌ TOLAK — PENOLAKAN FINAL</a:t>
            </a:r>
          </a:p>
          <a:p>
            <a:pPr algn="ctr">
              <a:defRPr sz="1000">
                <a:solidFill>
                  <a:srgbClr val="FECACA"/>
                </a:solidFill>
              </a:defRPr>
            </a:pPr>
            <a:r>
              <a:t>status_pengajuan → 'ditolak' | posisi → 'analis'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DIAGRAM WORKFLOW DIREKSI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reksi_workflow_17847691437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CARA KERJA ADMIN / SUPERADMIN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9E0B"/>
                </a:solidFill>
                <a:latin typeface="Calibri"/>
              </a:defRPr>
            </a:pPr>
            <a:r>
              <a:t>Manajemen Sistem, User, Parameter &amp; Monitoring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1069848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47472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5AA8"/>
                </a:solidFill>
                <a:latin typeface="Calibri"/>
              </a:defRPr>
            </a:pPr>
            <a:r>
              <a:t>Manajemen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423160"/>
            <a:ext cx="3108960" cy="27432"/>
          </a:xfrm>
          <a:prstGeom prst="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Membuat, mengedit, dan mengatur akun pengguna.</a:t>
            </a:r>
            <a:br/>
            <a:r>
              <a:t>Mengatur role (Analis, Kasubag, Kabag, Kadiv, Direksi).</a:t>
            </a:r>
            <a:br/>
            <a:r>
              <a:t>Mengatur status jabatan (Aktif, Cuti, Sakit, Izin, Berhalangan).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920240"/>
            <a:ext cx="347472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39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🏛️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59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6B6D4"/>
                </a:solidFill>
                <a:latin typeface="Calibri"/>
              </a:defRPr>
            </a:pPr>
            <a:r>
              <a:t>Master Pejabat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39" y="2423160"/>
            <a:ext cx="3108960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39" y="2560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Konfigurasi jabatan dan tanda tangan pejabat</a:t>
            </a:r>
            <a:br/>
            <a:r>
              <a:t>yang tampil pada dokumen cetak.</a:t>
            </a:r>
            <a:br/>
            <a:r>
              <a:t>Menentukan urutan hierarki approval.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598" y="1920240"/>
            <a:ext cx="347472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8" y="2057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398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Calibri"/>
              </a:defRPr>
            </a:pPr>
            <a:r>
              <a:t>Parameter Repayment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78" y="2423160"/>
            <a:ext cx="3108960" cy="274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2560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Konfigurasi formula Repayment Capacity.</a:t>
            </a:r>
            <a:br/>
            <a:r>
              <a:t>Atur parameter DSR (Debt Service Ratio),</a:t>
            </a:r>
            <a:br/>
            <a:r>
              <a:t>biaya hidup, dan threshold perhitungan.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347472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43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343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97316"/>
                </a:solidFill>
                <a:latin typeface="Calibri"/>
              </a:defRPr>
            </a:pPr>
            <a:r>
              <a:t>Backup Database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709160"/>
            <a:ext cx="3108960" cy="2743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846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Backup dan restore database sistem.</a:t>
            </a:r>
            <a:br/>
            <a:r>
              <a:t>Menjaga keamanan data dan</a:t>
            </a:r>
            <a:br/>
            <a:r>
              <a:t>memastikan ketersediaan data.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59" y="4206240"/>
            <a:ext cx="347472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39" y="4343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59" y="4343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Calibri"/>
              </a:defRPr>
            </a:pPr>
            <a:r>
              <a:t>Audit Log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39" y="4709160"/>
            <a:ext cx="3108960" cy="274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39" y="4846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Memonitor log aktivitas sistem.</a:t>
            </a:r>
            <a:br/>
            <a:r>
              <a:t>Melacak perubahan parameter.</a:t>
            </a:r>
            <a:br/>
            <a:r>
              <a:t>Audit trail untuk kepatuhan.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598" y="4206240"/>
            <a:ext cx="3474720" cy="2103120"/>
          </a:xfrm>
          <a:prstGeom prst="roundRect">
            <a:avLst/>
          </a:prstGeom>
          <a:solidFill>
            <a:srgbClr val="142B5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78" y="43434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5398" y="4343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4444"/>
                </a:solidFill>
                <a:latin typeface="Calibri"/>
              </a:defRPr>
            </a:pPr>
            <a:r>
              <a:t>Riwayat &amp; Monitoring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78" y="4709160"/>
            <a:ext cx="3108960" cy="2743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78" y="48463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1F5F9"/>
                </a:solidFill>
                <a:latin typeface="Calibri"/>
              </a:defRPr>
            </a:pPr>
            <a:r>
              <a:t>Melihat seluruh riwayat pengajuan kredit.</a:t>
            </a:r>
            <a:br/>
            <a:r>
              <a:t>Monitor status pengajuan secara real-time.</a:t>
            </a:r>
            <a:br/>
            <a:r>
              <a:t>Laporan statistik dan aktivitas.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FITUR ADMIN / SUPERADMIN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dmin_workflow_17847691346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MANAJEMEN STATUS JABATAN &amp; AUTO-SKIP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1F5F9"/>
                </a:solidFill>
                <a:latin typeface="Calibri"/>
              </a:defRPr>
            </a:pPr>
            <a:r>
              <a:t>Admin mengatur status jabatan setiap pejabat. Sistem secara otomatis melompati pejabat yang tidak aktif</a:t>
            </a:r>
            <a:br/>
            <a:r>
              <a:t>dan mengirim pengajuan ke pejabat aktif berikutnya dalam rantai approval.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2103120" cy="14630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103120"/>
            <a:ext cx="155448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AKTIF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Pejabat aktif bertugas dan</a:t>
            </a:r>
            <a:br/>
            <a:r>
              <a:t>dapat menerima pengajuan kredit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920240"/>
            <a:ext cx="2103120" cy="14630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46120" y="2103120"/>
            <a:ext cx="1554480" cy="41148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CUTI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Pejabat sedang cuti,</a:t>
            </a:r>
            <a:br/>
            <a:r>
              <a:t>pengajuan di-skip otomatis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80" y="1920240"/>
            <a:ext cx="2103120" cy="14630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0" y="2103120"/>
            <a:ext cx="1554480" cy="4114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SAKIT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Pejabat sedang sakit,</a:t>
            </a:r>
            <a:br/>
            <a:r>
              <a:t>pengajuan di-skip otomatis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52360" y="1920240"/>
            <a:ext cx="2103120" cy="14630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26680" y="2103120"/>
            <a:ext cx="1554480" cy="411480"/>
          </a:xfrm>
          <a:prstGeom prst="round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IZIN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Pejabat sedang izin,</a:t>
            </a:r>
            <a:br/>
            <a:r>
              <a:t>pengajuan di-skip otomatis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92640" y="1920240"/>
            <a:ext cx="2103120" cy="14630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66960" y="2103120"/>
            <a:ext cx="1554480" cy="4114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BERHALANGAN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29800" y="26517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5F9"/>
                </a:solidFill>
                <a:latin typeface="Calibri"/>
              </a:defRPr>
            </a:pPr>
            <a:r>
              <a:t>Pejabat berhalangan,</a:t>
            </a:r>
            <a:br/>
            <a:r>
              <a:t>pengajuan di-skip otomatis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57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CONTOH SKENARIO AUTO-SKIP: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114800"/>
            <a:ext cx="2011680" cy="914400"/>
          </a:xfrm>
          <a:prstGeom prst="roundRect">
            <a:avLst/>
          </a:prstGeom>
          <a:solidFill>
            <a:srgbClr val="059E6F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ANALIS</a:t>
            </a:r>
            <a:br/>
            <a:r>
              <a:t>✅ Submit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389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17520" y="4114800"/>
            <a:ext cx="2011680" cy="914400"/>
          </a:xfrm>
          <a:prstGeom prst="roundRect">
            <a:avLst/>
          </a:prstGeom>
          <a:solidFill>
            <a:srgbClr val="45121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KASUBAG</a:t>
            </a:r>
            <a:br/>
            <a:r>
              <a:t>❌ CUTI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4389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Calibri"/>
              </a:defRPr>
            </a:pPr>
            <a:r>
              <a:t>SKIP 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4114800"/>
            <a:ext cx="2011680" cy="914400"/>
          </a:xfrm>
          <a:prstGeom prst="roundRect">
            <a:avLst/>
          </a:prstGeom>
          <a:solidFill>
            <a:srgbClr val="059E6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KABAG</a:t>
            </a:r>
            <a:br/>
            <a:r>
              <a:t>✅ AKTIF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389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0" y="4114800"/>
            <a:ext cx="2011680" cy="914400"/>
          </a:xfrm>
          <a:prstGeom prst="roundRect">
            <a:avLst/>
          </a:prstGeom>
          <a:solidFill>
            <a:srgbClr val="45121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KADIV</a:t>
            </a:r>
            <a:br/>
            <a:r>
              <a:t>❌ SAKIT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43891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Calibri"/>
              </a:defRPr>
            </a:pPr>
            <a:r>
              <a:t>SKIP 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75520" y="4114800"/>
            <a:ext cx="2011680" cy="914400"/>
          </a:xfrm>
          <a:prstGeom prst="roundRect">
            <a:avLst/>
          </a:prstGeom>
          <a:solidFill>
            <a:srgbClr val="059E6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DIREKSI</a:t>
            </a:r>
            <a:br/>
            <a:r>
              <a:t>✅ AKTIF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1F5F9"/>
                </a:solidFill>
                <a:latin typeface="Calibri"/>
              </a:defRPr>
            </a:pPr>
            <a:r>
              <a:t>Pada contoh di atas:</a:t>
            </a:r>
            <a:br/>
            <a:r>
              <a:t>• Analis submit pengajuan → Kasubag sedang CUTI → Sistem otomatis SKIP ke Kabag</a:t>
            </a:r>
            <a:br/>
            <a:r>
              <a:t>• Kabag AKTIF → Review &amp; Setuju → Kadiv sedang SAKIT → Sistem otomatis SKIP ke Direksi</a:t>
            </a:r>
            <a:br/>
            <a:r>
              <a:t>• Direksi AKTIF → Review &amp; memberikan keputusan FINAL</a:t>
            </a:r>
            <a:br/>
            <a:r>
              <a:t>• Setiap auto-skip dicatat dalam audit trail untuk transparansi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RINGKASAN PERAN &amp; TANGGUNG JAWAB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36576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3474720" cy="23774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1E5A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3108960" cy="457200"/>
          </a:xfrm>
          <a:prstGeom prst="roundRect">
            <a:avLst/>
          </a:prstGeom>
          <a:solidFill>
            <a:srgbClr val="1E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ANALIS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E5AA8"/>
                </a:solidFill>
                <a:latin typeface="Calibri"/>
              </a:defRPr>
            </a:pPr>
            <a:r>
              <a:t>Input &amp; Submit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Input data kredit, upload dokumen,</a:t>
            </a:r>
            <a:br/>
            <a:r>
              <a:t>submit &amp; resubmit pengajuan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1188720"/>
            <a:ext cx="3474720" cy="23774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63439" y="1371600"/>
            <a:ext cx="3108960" cy="45720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KASUBAG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39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6B6D4"/>
                </a:solidFill>
                <a:latin typeface="Calibri"/>
              </a:defRPr>
            </a:pPr>
            <a:r>
              <a:t>Review Awal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286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Verifikasi awal, cek kelengkapan,</a:t>
            </a:r>
            <a:br/>
            <a:r>
              <a:t>review data analis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598" y="1188720"/>
            <a:ext cx="3474720" cy="23774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78" y="1371600"/>
            <a:ext cx="3108960" cy="45720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KABAG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8" y="196596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97316"/>
                </a:solidFill>
                <a:latin typeface="Calibri"/>
              </a:defRPr>
            </a:pPr>
            <a:r>
              <a:t>Evaluasi Risiko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8" y="22860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Evaluasi risiko kredit, penilaian</a:t>
            </a:r>
            <a:br/>
            <a:r>
              <a:t>agunan, analisis keuangan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40480"/>
            <a:ext cx="3474720" cy="23774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4023360"/>
            <a:ext cx="310896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KADIV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17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C3AED"/>
                </a:solidFill>
                <a:latin typeface="Calibri"/>
              </a:defRPr>
            </a:pPr>
            <a:r>
              <a:t>Approval Divisi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9377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Approval divisi, final untuk &lt;500Jt,</a:t>
            </a:r>
            <a:br/>
            <a:r>
              <a:t>eskalasi untuk ≥500Jt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59" y="3840480"/>
            <a:ext cx="3474720" cy="23774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63439" y="4023360"/>
            <a:ext cx="3108960" cy="4572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DIREKSI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39" y="4617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F4444"/>
                </a:solidFill>
                <a:latin typeface="Calibri"/>
              </a:defRPr>
            </a:pPr>
            <a:r>
              <a:t>Final Approval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39" y="49377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Keputusan final untuk kredit ≥500Jt,</a:t>
            </a:r>
            <a:br/>
            <a:r>
              <a:t>hanya Setuju atau Tolak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598" y="3840480"/>
            <a:ext cx="3474720" cy="2377440"/>
          </a:xfrm>
          <a:prstGeom prst="roundRect">
            <a:avLst/>
          </a:prstGeom>
          <a:solidFill>
            <a:srgbClr val="142B52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78" y="4023360"/>
            <a:ext cx="3108960" cy="457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ADMIN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8" y="4617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9E0B"/>
                </a:solidFill>
                <a:latin typeface="Calibri"/>
              </a:defRPr>
            </a:pPr>
            <a:r>
              <a:t>Sistem Admin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8" y="49377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1F5F9"/>
                </a:solidFill>
                <a:latin typeface="Calibri"/>
              </a:defRPr>
            </a:pPr>
            <a:r>
              <a:t>Manajemen user, parameter,</a:t>
            </a:r>
            <a:br/>
            <a:r>
              <a:t>backup, audit &amp; monitoring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926080"/>
            <a:ext cx="393192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2918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59E0B"/>
                </a:solidFill>
                <a:latin typeface="Calibri"/>
              </a:defRPr>
            </a:pPr>
            <a:r>
              <a:t>Sistem Aplikasi Kredit — PT BPR Bank Wonosobo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Presentasi Demo Sistem untuk Manajemen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5F9"/>
                </a:solidFill>
                <a:latin typeface="Calibri"/>
              </a:defRPr>
            </a:pPr>
            <a:r>
              <a:t>Siap untuk sesi tanya jawab &amp; demo live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