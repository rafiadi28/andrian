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tableStyles" Target="tableStyles.xml"/><Relationship Id="rId27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78909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056897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23694279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52675999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324154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9983300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7687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2291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969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BA159D-654A-E59A-5414-678E149C9F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9334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24183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409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7D354B-1CC2-E6CB-30B9-1CA558F584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4004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8131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8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D421B9-CFB5-B7C2-BC45-25FC56D434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7647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9736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520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55840C-B8E7-3880-883E-F3756C7AA05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0691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3403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9978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B01889-AC78-8CB8-6D43-5A464C914C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9956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51928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677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3479B6-F359-3103-E0C6-156F665A00D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435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73978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9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7D8D24-EC07-3D5A-ABE7-80789E8F13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9003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9963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417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2FE1A8-CBA0-04B3-F64B-7AAE654E99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0152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4272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2728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76428C-5F1E-5EF8-2C17-F700A530763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483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5459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4881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8D8C5D-4434-C5FD-B4E4-68A68FC0A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452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33451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236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8AD178-0D59-7843-7D65-001301DFE7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5411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12433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548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08A10D-0EBE-84E3-6D43-AFD69D8AE8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8756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3097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81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B9AACC-6E2E-1A71-1937-7BE93FFDBD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4013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5071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1104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D36E14-BFEE-64D9-683F-01A84426DE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4231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334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298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FAF3E6-9543-F34A-21A3-A6D85A21F4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98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4592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5747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E8BF82-8D32-52F9-152A-0DD3AECCE9C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9847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69377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5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4464F6-C6FE-40BD-9C39-F18E3393A4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932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7176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362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76B74D-9D5E-6B71-136C-D24F2F3755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7806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2208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6062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56D3DE-FB32-068F-7BD0-7F35C6AD29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0220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80570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896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3D3C1-1AFD-247F-133F-81A0BFCAB1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61422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206083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3278320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160041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54610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2237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8405632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194717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511042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41325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3741650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9079020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067071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6121949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49257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07720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2513394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799113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3310533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8975306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93323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8579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39950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2767840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031623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9903119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993860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5037193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423266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9548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343429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0867053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763538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302385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3021538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088631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233039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5412971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0001034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2094975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177130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194265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891560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178462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210626141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227934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709073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68108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9014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6769082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61740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349427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82910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32310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6515077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71257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295760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04078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910465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402024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5474633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60387759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8291490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294522" name="Rectangle 1"/>
          <p:cNvSpPr/>
          <p:nvPr/>
        </p:nvSpPr>
        <p:spPr bwMode="auto"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256050" name="Rectangle 2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6518314" name="Rectangle 3"/>
          <p:cNvSpPr/>
          <p:nvPr/>
        </p:nvSpPr>
        <p:spPr bwMode="auto">
          <a:xfrm>
            <a:off x="0" y="6803136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68181695" name="TextBox 4"/>
          <p:cNvSpPr txBox="1"/>
          <p:nvPr/>
        </p:nvSpPr>
        <p:spPr bwMode="auto"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rPr/>
              <a:t>SISTEM APLIKASI KREDIT</a:t>
            </a:r>
            <a:endParaRPr/>
          </a:p>
        </p:txBody>
      </p:sp>
      <p:sp>
        <p:nvSpPr>
          <p:cNvPr id="1149104516" name="TextBox 5"/>
          <p:cNvSpPr txBox="1"/>
          <p:nvPr/>
        </p:nvSpPr>
        <p:spPr bwMode="auto">
          <a:xfrm>
            <a:off x="1371600" y="22860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Calibri"/>
              </a:defRPr>
            </a:pPr>
            <a:r>
              <a:rPr/>
              <a:t>PT BPR BANK WONOSOBO</a:t>
            </a:r>
            <a:endParaRPr/>
          </a:p>
        </p:txBody>
      </p:sp>
      <p:sp>
        <p:nvSpPr>
          <p:cNvPr id="853405427" name="Rectangle 6"/>
          <p:cNvSpPr/>
          <p:nvPr/>
        </p:nvSpPr>
        <p:spPr bwMode="auto">
          <a:xfrm>
            <a:off x="4114800" y="3108960"/>
            <a:ext cx="39319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5967852" name="TextBox 7"/>
          <p:cNvSpPr txBox="1"/>
          <p:nvPr/>
        </p:nvSpPr>
        <p:spPr bwMode="auto">
          <a:xfrm>
            <a:off x="137160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5F9"/>
                </a:solidFill>
                <a:latin typeface="Calibri"/>
              </a:defRPr>
            </a:pPr>
            <a:r>
              <a:rPr/>
              <a:t>Panduan Lengkap Alur Sistem &amp; Cara Kerja Setiap Role</a:t>
            </a:r>
            <a:endParaRPr/>
          </a:p>
        </p:txBody>
      </p:sp>
      <p:sp>
        <p:nvSpPr>
          <p:cNvPr id="1441985686" name="TextBox 8"/>
          <p:cNvSpPr txBox="1"/>
          <p:nvPr/>
        </p:nvSpPr>
        <p:spPr bwMode="auto"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rPr/>
              <a:t>Presentasi Demo Sistem — Juli 2026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113438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8937958" name="TextBox 2"/>
          <p:cNvSpPr txBox="1"/>
          <p:nvPr/>
        </p:nvSpPr>
        <p:spPr bwMode="auto"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/>
              <a:t>DAFTAR ISI PRESENTASI</a:t>
            </a:r>
            <a:endParaRPr/>
          </a:p>
        </p:txBody>
      </p:sp>
      <p:sp>
        <p:nvSpPr>
          <p:cNvPr id="767824342" name="Rectangle 3"/>
          <p:cNvSpPr/>
          <p:nvPr/>
        </p:nvSpPr>
        <p:spPr bwMode="auto">
          <a:xfrm>
            <a:off x="731520" y="100584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7380602" name="Oval 4"/>
          <p:cNvSpPr/>
          <p:nvPr/>
        </p:nvSpPr>
        <p:spPr bwMode="auto">
          <a:xfrm>
            <a:off x="914400" y="1280160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50265025" name="TextBox 5"/>
          <p:cNvSpPr txBox="1"/>
          <p:nvPr/>
        </p:nvSpPr>
        <p:spPr bwMode="auto">
          <a:xfrm>
            <a:off x="1554480" y="12984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Alur Sistem</a:t>
            </a:r>
            <a:endParaRPr/>
          </a:p>
        </p:txBody>
      </p:sp>
      <p:sp>
        <p:nvSpPr>
          <p:cNvPr id="127164244" name="TextBox 6"/>
          <p:cNvSpPr txBox="1"/>
          <p:nvPr/>
        </p:nvSpPr>
        <p:spPr bwMode="auto">
          <a:xfrm>
            <a:off x="1554480" y="15727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Overview lengkap alur pengajuan hingga persetujuan</a:t>
            </a:r>
            <a:endParaRPr/>
          </a:p>
        </p:txBody>
      </p:sp>
      <p:sp>
        <p:nvSpPr>
          <p:cNvPr id="989254439" name="Oval 7"/>
          <p:cNvSpPr/>
          <p:nvPr/>
        </p:nvSpPr>
        <p:spPr bwMode="auto">
          <a:xfrm>
            <a:off x="914400" y="1920240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2</a:t>
            </a:r>
            <a:endParaRPr/>
          </a:p>
        </p:txBody>
      </p:sp>
      <p:sp>
        <p:nvSpPr>
          <p:cNvPr id="645976002" name="TextBox 8"/>
          <p:cNvSpPr txBox="1"/>
          <p:nvPr/>
        </p:nvSpPr>
        <p:spPr bwMode="auto">
          <a:xfrm>
            <a:off x="1554480" y="1938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Analis</a:t>
            </a:r>
            <a:endParaRPr/>
          </a:p>
        </p:txBody>
      </p:sp>
      <p:sp>
        <p:nvSpPr>
          <p:cNvPr id="955774045" name="TextBox 9"/>
          <p:cNvSpPr txBox="1"/>
          <p:nvPr/>
        </p:nvSpPr>
        <p:spPr bwMode="auto">
          <a:xfrm>
            <a:off x="1554480" y="22128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Proses input data kredit oleh analis</a:t>
            </a:r>
            <a:endParaRPr/>
          </a:p>
        </p:txBody>
      </p:sp>
      <p:sp>
        <p:nvSpPr>
          <p:cNvPr id="1938456538" name="Oval 10"/>
          <p:cNvSpPr/>
          <p:nvPr/>
        </p:nvSpPr>
        <p:spPr bwMode="auto">
          <a:xfrm>
            <a:off x="914400" y="2560320"/>
            <a:ext cx="457200" cy="457200"/>
          </a:xfrm>
          <a:prstGeom prst="ellipse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2041554516" name="TextBox 11"/>
          <p:cNvSpPr txBox="1"/>
          <p:nvPr/>
        </p:nvSpPr>
        <p:spPr bwMode="auto">
          <a:xfrm>
            <a:off x="1554480" y="25786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Kepatuhan (TEMP)</a:t>
            </a:r>
            <a:endParaRPr/>
          </a:p>
        </p:txBody>
      </p:sp>
      <p:sp>
        <p:nvSpPr>
          <p:cNvPr id="1027444474" name="TextBox 12"/>
          <p:cNvSpPr txBox="1"/>
          <p:nvPr/>
        </p:nvSpPr>
        <p:spPr bwMode="auto">
          <a:xfrm>
            <a:off x="1554480" y="28529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Review &amp; verifikasi awal oleh Kasubag</a:t>
            </a:r>
            <a:endParaRPr/>
          </a:p>
        </p:txBody>
      </p:sp>
      <p:sp>
        <p:nvSpPr>
          <p:cNvPr id="1958941388" name="Oval 13"/>
          <p:cNvSpPr/>
          <p:nvPr/>
        </p:nvSpPr>
        <p:spPr bwMode="auto">
          <a:xfrm>
            <a:off x="914400" y="3200399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4</a:t>
            </a:r>
            <a:endParaRPr/>
          </a:p>
        </p:txBody>
      </p:sp>
      <p:sp>
        <p:nvSpPr>
          <p:cNvPr id="959994174" name="TextBox 14"/>
          <p:cNvSpPr txBox="1"/>
          <p:nvPr/>
        </p:nvSpPr>
        <p:spPr bwMode="auto">
          <a:xfrm>
            <a:off x="1554480" y="3218687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Kepatuhan</a:t>
            </a:r>
            <a:endParaRPr/>
          </a:p>
        </p:txBody>
      </p:sp>
      <p:sp>
        <p:nvSpPr>
          <p:cNvPr id="1961290839" name="TextBox 15"/>
          <p:cNvSpPr txBox="1"/>
          <p:nvPr/>
        </p:nvSpPr>
        <p:spPr bwMode="auto">
          <a:xfrm>
            <a:off x="1554480" y="349300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Penilaian kepatuhan, SOP, &amp; kelengkapan dokumen</a:t>
            </a:r>
            <a:endParaRPr/>
          </a:p>
        </p:txBody>
      </p:sp>
      <p:sp>
        <p:nvSpPr>
          <p:cNvPr id="680681423" name="Oval 16"/>
          <p:cNvSpPr/>
          <p:nvPr/>
        </p:nvSpPr>
        <p:spPr bwMode="auto">
          <a:xfrm>
            <a:off x="914400" y="3840480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5</a:t>
            </a:r>
            <a:endParaRPr/>
          </a:p>
        </p:txBody>
      </p:sp>
      <p:sp>
        <p:nvSpPr>
          <p:cNvPr id="800614307" name="TextBox 17"/>
          <p:cNvSpPr txBox="1"/>
          <p:nvPr/>
        </p:nvSpPr>
        <p:spPr bwMode="auto">
          <a:xfrm>
            <a:off x="1554480" y="38587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Kabag Analis</a:t>
            </a:r>
            <a:endParaRPr/>
          </a:p>
        </p:txBody>
      </p:sp>
      <p:sp>
        <p:nvSpPr>
          <p:cNvPr id="1226220426" name="TextBox 18"/>
          <p:cNvSpPr txBox="1"/>
          <p:nvPr/>
        </p:nvSpPr>
        <p:spPr bwMode="auto">
          <a:xfrm>
            <a:off x="1554480" y="4133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Evaluasi risiko kredit secara mendalam oleh Kabag Analis</a:t>
            </a:r>
            <a:endParaRPr/>
          </a:p>
        </p:txBody>
      </p:sp>
      <p:sp>
        <p:nvSpPr>
          <p:cNvPr id="1533009309" name="Oval 19"/>
          <p:cNvSpPr/>
          <p:nvPr/>
        </p:nvSpPr>
        <p:spPr bwMode="auto">
          <a:xfrm>
            <a:off x="914400" y="44805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6</a:t>
            </a:r>
            <a:endParaRPr/>
          </a:p>
        </p:txBody>
      </p:sp>
      <p:sp>
        <p:nvSpPr>
          <p:cNvPr id="1540844533" name="TextBox 20"/>
          <p:cNvSpPr txBox="1"/>
          <p:nvPr/>
        </p:nvSpPr>
        <p:spPr bwMode="auto">
          <a:xfrm>
            <a:off x="1554480" y="44988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Kadiv</a:t>
            </a:r>
            <a:endParaRPr/>
          </a:p>
        </p:txBody>
      </p:sp>
      <p:sp>
        <p:nvSpPr>
          <p:cNvPr id="1408008811" name="TextBox 21"/>
          <p:cNvSpPr txBox="1"/>
          <p:nvPr/>
        </p:nvSpPr>
        <p:spPr bwMode="auto">
          <a:xfrm>
            <a:off x="1554480" y="47731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Approval divisi &amp; threshold keputusan</a:t>
            </a:r>
            <a:endParaRPr/>
          </a:p>
        </p:txBody>
      </p:sp>
      <p:sp>
        <p:nvSpPr>
          <p:cNvPr id="632197544" name="Oval 22"/>
          <p:cNvSpPr/>
          <p:nvPr/>
        </p:nvSpPr>
        <p:spPr bwMode="auto">
          <a:xfrm>
            <a:off x="914400" y="5120639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7</a:t>
            </a:r>
            <a:endParaRPr/>
          </a:p>
        </p:txBody>
      </p:sp>
      <p:sp>
        <p:nvSpPr>
          <p:cNvPr id="2080114775" name="TextBox 23"/>
          <p:cNvSpPr txBox="1"/>
          <p:nvPr/>
        </p:nvSpPr>
        <p:spPr bwMode="auto">
          <a:xfrm>
            <a:off x="1554480" y="5138927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Direksi</a:t>
            </a:r>
            <a:endParaRPr/>
          </a:p>
        </p:txBody>
      </p:sp>
      <p:sp>
        <p:nvSpPr>
          <p:cNvPr id="1263589933" name="TextBox 24"/>
          <p:cNvSpPr txBox="1"/>
          <p:nvPr/>
        </p:nvSpPr>
        <p:spPr bwMode="auto">
          <a:xfrm>
            <a:off x="1554480" y="541324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Persetujuan final untuk kredit besar</a:t>
            </a:r>
            <a:endParaRPr/>
          </a:p>
        </p:txBody>
      </p:sp>
      <p:sp>
        <p:nvSpPr>
          <p:cNvPr id="915136331" name="Oval 25"/>
          <p:cNvSpPr/>
          <p:nvPr/>
        </p:nvSpPr>
        <p:spPr bwMode="auto">
          <a:xfrm>
            <a:off x="914400" y="5760719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8</a:t>
            </a:r>
            <a:endParaRPr/>
          </a:p>
        </p:txBody>
      </p:sp>
      <p:sp>
        <p:nvSpPr>
          <p:cNvPr id="1576422216" name="TextBox 26"/>
          <p:cNvSpPr txBox="1"/>
          <p:nvPr/>
        </p:nvSpPr>
        <p:spPr bwMode="auto">
          <a:xfrm>
            <a:off x="1554480" y="5779007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Admin</a:t>
            </a:r>
            <a:endParaRPr/>
          </a:p>
        </p:txBody>
      </p:sp>
      <p:sp>
        <p:nvSpPr>
          <p:cNvPr id="1702916902" name="TextBox 27"/>
          <p:cNvSpPr txBox="1"/>
          <p:nvPr/>
        </p:nvSpPr>
        <p:spPr bwMode="auto">
          <a:xfrm>
            <a:off x="1554480" y="605332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/>
              <a:t>Manajemen sistem, user &amp; parameter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624353" name="Oval 1"/>
          <p:cNvSpPr/>
          <p:nvPr/>
        </p:nvSpPr>
        <p:spPr bwMode="auto">
          <a:xfrm>
            <a:off x="731520" y="457200"/>
            <a:ext cx="914400" cy="91440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1011187925" name="TextBox 2"/>
          <p:cNvSpPr txBox="1"/>
          <p:nvPr/>
        </p:nvSpPr>
        <p:spPr bwMode="auto"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ALUR SISTEM APLIKASI KREDIT</a:t>
            </a:r>
            <a:endParaRPr/>
          </a:p>
        </p:txBody>
      </p:sp>
      <p:sp>
        <p:nvSpPr>
          <p:cNvPr id="706234917" name="TextBox 3"/>
          <p:cNvSpPr txBox="1"/>
          <p:nvPr/>
        </p:nvSpPr>
        <p:spPr bwMode="auto"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rPr/>
              <a:t>Overview Proses Pengajuan Hingga Persetujuan</a:t>
            </a:r>
            <a:endParaRPr/>
          </a:p>
        </p:txBody>
      </p:sp>
      <p:sp>
        <p:nvSpPr>
          <p:cNvPr id="337129343" name="Rectangle 4"/>
          <p:cNvSpPr/>
          <p:nvPr/>
        </p:nvSpPr>
        <p:spPr bwMode="auto">
          <a:xfrm>
            <a:off x="731520" y="1554480"/>
            <a:ext cx="10698480" cy="36576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7684092" name="Rounded Rectangle 5"/>
          <p:cNvSpPr/>
          <p:nvPr/>
        </p:nvSpPr>
        <p:spPr bwMode="auto">
          <a:xfrm>
            <a:off x="457200" y="2011680"/>
            <a:ext cx="1463040" cy="914400"/>
          </a:xfrm>
          <a:prstGeom prst="roundRect">
            <a:avLst>
              <a:gd name="adj" fmla="val 16667"/>
            </a:avLst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ANALIS</a:t>
            </a:r>
            <a:br>
              <a:rPr/>
            </a:br>
            <a:r>
              <a:rPr/>
              <a:t>(Input)</a:t>
            </a:r>
            <a:endParaRPr/>
          </a:p>
        </p:txBody>
      </p:sp>
      <p:sp>
        <p:nvSpPr>
          <p:cNvPr id="1992175257" name="Right Arrow 6"/>
          <p:cNvSpPr/>
          <p:nvPr/>
        </p:nvSpPr>
        <p:spPr bwMode="auto">
          <a:xfrm>
            <a:off x="1965960" y="2331720"/>
            <a:ext cx="41148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0920337" name="Rounded Rectangle 7"/>
          <p:cNvSpPr/>
          <p:nvPr/>
        </p:nvSpPr>
        <p:spPr bwMode="auto">
          <a:xfrm>
            <a:off x="2286000" y="2011680"/>
            <a:ext cx="1463040" cy="914400"/>
          </a:xfrm>
          <a:prstGeom prst="roundRect">
            <a:avLst>
              <a:gd name="adj" fmla="val 16667"/>
            </a:avLst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Kasubag analis</a:t>
            </a:r>
            <a:br>
              <a:rPr/>
            </a:br>
            <a:r>
              <a:rPr/>
              <a:t>(Review approval )</a:t>
            </a:r>
            <a:endParaRPr/>
          </a:p>
        </p:txBody>
      </p:sp>
      <p:sp>
        <p:nvSpPr>
          <p:cNvPr id="1279851811" name="Right Arrow 8"/>
          <p:cNvSpPr/>
          <p:nvPr/>
        </p:nvSpPr>
        <p:spPr bwMode="auto">
          <a:xfrm>
            <a:off x="3794760" y="2331720"/>
            <a:ext cx="41148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2102594" name="Rounded Rectangle 9"/>
          <p:cNvSpPr/>
          <p:nvPr/>
        </p:nvSpPr>
        <p:spPr bwMode="auto">
          <a:xfrm>
            <a:off x="4114800" y="2011680"/>
            <a:ext cx="1463040" cy="914400"/>
          </a:xfrm>
          <a:prstGeom prst="roundRect">
            <a:avLst>
              <a:gd name="adj" fmla="val 16667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KEPATUHAN</a:t>
            </a:r>
            <a:br>
              <a:rPr/>
            </a:br>
            <a:r>
              <a:rPr/>
              <a:t>(Review)</a:t>
            </a:r>
            <a:endParaRPr/>
          </a:p>
        </p:txBody>
      </p:sp>
      <p:sp>
        <p:nvSpPr>
          <p:cNvPr id="1124214502" name="Right Arrow 10"/>
          <p:cNvSpPr/>
          <p:nvPr/>
        </p:nvSpPr>
        <p:spPr bwMode="auto">
          <a:xfrm>
            <a:off x="5623560" y="2331720"/>
            <a:ext cx="41148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0164883" name="Rounded Rectangle 11"/>
          <p:cNvSpPr/>
          <p:nvPr/>
        </p:nvSpPr>
        <p:spPr bwMode="auto">
          <a:xfrm>
            <a:off x="5943600" y="2011680"/>
            <a:ext cx="1463040" cy="91440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KABAG ANALIS</a:t>
            </a:r>
            <a:br>
              <a:rPr/>
            </a:br>
            <a:r>
              <a:rPr/>
              <a:t>(Evaluas dan approval i)</a:t>
            </a:r>
            <a:endParaRPr/>
          </a:p>
        </p:txBody>
      </p:sp>
      <p:sp>
        <p:nvSpPr>
          <p:cNvPr id="126678081" name="Right Arrow 12"/>
          <p:cNvSpPr/>
          <p:nvPr/>
        </p:nvSpPr>
        <p:spPr bwMode="auto">
          <a:xfrm>
            <a:off x="7452360" y="2331720"/>
            <a:ext cx="41148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7815247" name="Rounded Rectangle 13"/>
          <p:cNvSpPr/>
          <p:nvPr/>
        </p:nvSpPr>
        <p:spPr bwMode="auto">
          <a:xfrm>
            <a:off x="7772400" y="2011680"/>
            <a:ext cx="1463040" cy="91440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KADIV</a:t>
            </a:r>
            <a:br>
              <a:rPr/>
            </a:br>
            <a:r>
              <a:rPr/>
              <a:t>(Approval)</a:t>
            </a:r>
            <a:endParaRPr/>
          </a:p>
        </p:txBody>
      </p:sp>
      <p:sp>
        <p:nvSpPr>
          <p:cNvPr id="2146715521" name="Right Arrow 14"/>
          <p:cNvSpPr/>
          <p:nvPr/>
        </p:nvSpPr>
        <p:spPr bwMode="auto">
          <a:xfrm>
            <a:off x="9281160" y="2331720"/>
            <a:ext cx="41148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4156469" name="Rounded Rectangle 15"/>
          <p:cNvSpPr/>
          <p:nvPr/>
        </p:nvSpPr>
        <p:spPr bwMode="auto">
          <a:xfrm>
            <a:off x="9601200" y="2011680"/>
            <a:ext cx="1463040" cy="91440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DIREKSI</a:t>
            </a:r>
            <a:br>
              <a:rPr/>
            </a:br>
            <a:r>
              <a:rPr/>
              <a:t>(Final)</a:t>
            </a:r>
            <a:endParaRPr/>
          </a:p>
        </p:txBody>
      </p:sp>
      <p:sp>
        <p:nvSpPr>
          <p:cNvPr id="229393989" name="TextBox 16"/>
          <p:cNvSpPr txBox="1"/>
          <p:nvPr/>
        </p:nvSpPr>
        <p:spPr bwMode="auto">
          <a:xfrm>
            <a:off x="73152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STATUS PENGAJUAN KREDIT:</a:t>
            </a:r>
            <a:endParaRPr/>
          </a:p>
        </p:txBody>
      </p:sp>
      <p:sp>
        <p:nvSpPr>
          <p:cNvPr id="354143780" name="Rounded Rectangle 17"/>
          <p:cNvSpPr/>
          <p:nvPr/>
        </p:nvSpPr>
        <p:spPr bwMode="auto">
          <a:xfrm>
            <a:off x="731520" y="3749039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/>
              <a:t>DRAFT</a:t>
            </a:r>
            <a:endParaRPr/>
          </a:p>
        </p:txBody>
      </p:sp>
      <p:sp>
        <p:nvSpPr>
          <p:cNvPr id="240134673" name="TextBox 18"/>
          <p:cNvSpPr txBox="1"/>
          <p:nvPr/>
        </p:nvSpPr>
        <p:spPr bwMode="auto">
          <a:xfrm>
            <a:off x="19659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Analis input pengajuan kredit baru</a:t>
            </a:r>
            <a:endParaRPr/>
          </a:p>
        </p:txBody>
      </p:sp>
      <p:sp>
        <p:nvSpPr>
          <p:cNvPr id="940993353" name="Rounded Rectangle 19"/>
          <p:cNvSpPr/>
          <p:nvPr/>
        </p:nvSpPr>
        <p:spPr bwMode="auto">
          <a:xfrm>
            <a:off x="4389120" y="3749039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/>
              <a:t>DIAJUKAN</a:t>
            </a:r>
            <a:endParaRPr/>
          </a:p>
        </p:txBody>
      </p:sp>
      <p:sp>
        <p:nvSpPr>
          <p:cNvPr id="1077065982" name="TextBox 20"/>
          <p:cNvSpPr txBox="1"/>
          <p:nvPr/>
        </p:nvSpPr>
        <p:spPr bwMode="auto">
          <a:xfrm>
            <a:off x="56235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Pengajuan dikirim ke rantai approval</a:t>
            </a:r>
            <a:endParaRPr/>
          </a:p>
        </p:txBody>
      </p:sp>
      <p:sp>
        <p:nvSpPr>
          <p:cNvPr id="2103229488" name="Rounded Rectangle 21"/>
          <p:cNvSpPr/>
          <p:nvPr/>
        </p:nvSpPr>
        <p:spPr bwMode="auto">
          <a:xfrm>
            <a:off x="8046720" y="3749039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/>
              <a:t>PROSES</a:t>
            </a:r>
            <a:endParaRPr/>
          </a:p>
        </p:txBody>
      </p:sp>
      <p:sp>
        <p:nvSpPr>
          <p:cNvPr id="1336069128" name="TextBox 22"/>
          <p:cNvSpPr txBox="1"/>
          <p:nvPr/>
        </p:nvSpPr>
        <p:spPr bwMode="auto">
          <a:xfrm>
            <a:off x="92811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Sedang ditinjau oleh pejabat berwenang</a:t>
            </a:r>
            <a:endParaRPr/>
          </a:p>
        </p:txBody>
      </p:sp>
      <p:sp>
        <p:nvSpPr>
          <p:cNvPr id="2126571731" name="Rounded Rectangle 23"/>
          <p:cNvSpPr/>
          <p:nvPr/>
        </p:nvSpPr>
        <p:spPr bwMode="auto">
          <a:xfrm>
            <a:off x="731520" y="4389119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/>
              <a:t>DISETUJUI</a:t>
            </a:r>
            <a:endParaRPr/>
          </a:p>
        </p:txBody>
      </p:sp>
      <p:sp>
        <p:nvSpPr>
          <p:cNvPr id="157183099" name="TextBox 24"/>
          <p:cNvSpPr txBox="1"/>
          <p:nvPr/>
        </p:nvSpPr>
        <p:spPr bwMode="auto">
          <a:xfrm>
            <a:off x="19659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Kredit disetujui oleh pejabat terakhir</a:t>
            </a:r>
            <a:endParaRPr/>
          </a:p>
        </p:txBody>
      </p:sp>
      <p:sp>
        <p:nvSpPr>
          <p:cNvPr id="631936896" name="Rounded Rectangle 25"/>
          <p:cNvSpPr/>
          <p:nvPr/>
        </p:nvSpPr>
        <p:spPr bwMode="auto">
          <a:xfrm>
            <a:off x="4389120" y="4389119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/>
              <a:t>DITOLAK</a:t>
            </a:r>
            <a:endParaRPr/>
          </a:p>
        </p:txBody>
      </p:sp>
      <p:sp>
        <p:nvSpPr>
          <p:cNvPr id="1909418649" name="TextBox 26"/>
          <p:cNvSpPr txBox="1"/>
          <p:nvPr/>
        </p:nvSpPr>
        <p:spPr bwMode="auto">
          <a:xfrm>
            <a:off x="56235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Kredit ditolak, dikembalikan ke analis</a:t>
            </a:r>
            <a:endParaRPr/>
          </a:p>
        </p:txBody>
      </p:sp>
      <p:sp>
        <p:nvSpPr>
          <p:cNvPr id="503547000" name="Rounded Rectangle 27"/>
          <p:cNvSpPr/>
          <p:nvPr/>
        </p:nvSpPr>
        <p:spPr bwMode="auto">
          <a:xfrm>
            <a:off x="8046720" y="4389119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/>
              <a:t>REVISI</a:t>
            </a:r>
            <a:endParaRPr/>
          </a:p>
        </p:txBody>
      </p:sp>
      <p:sp>
        <p:nvSpPr>
          <p:cNvPr id="1898894192" name="TextBox 28"/>
          <p:cNvSpPr txBox="1"/>
          <p:nvPr/>
        </p:nvSpPr>
        <p:spPr bwMode="auto">
          <a:xfrm>
            <a:off x="92811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Perlu perbaikan data oleh analis</a:t>
            </a:r>
            <a:endParaRPr/>
          </a:p>
        </p:txBody>
      </p:sp>
      <p:sp>
        <p:nvSpPr>
          <p:cNvPr id="407857229" name="Rounded Rectangle 29"/>
          <p:cNvSpPr/>
          <p:nvPr/>
        </p:nvSpPr>
        <p:spPr bwMode="auto">
          <a:xfrm>
            <a:off x="731520" y="5120640"/>
            <a:ext cx="10698480" cy="109728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6596351" name="TextBox 30"/>
          <p:cNvSpPr txBox="1"/>
          <p:nvPr/>
        </p:nvSpPr>
        <p:spPr bwMode="auto">
          <a:xfrm>
            <a:off x="914400" y="52120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rPr/>
              <a:t>⚡ FITUR AUTO-SKIP &amp; THRESHOLD AMOUNT</a:t>
            </a:r>
            <a:endParaRPr/>
          </a:p>
        </p:txBody>
      </p:sp>
      <p:sp>
        <p:nvSpPr>
          <p:cNvPr id="116258275" name="TextBox 31"/>
          <p:cNvSpPr txBox="1"/>
          <p:nvPr/>
        </p:nvSpPr>
        <p:spPr bwMode="auto">
          <a:xfrm>
            <a:off x="914400" y="5532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1F5F9"/>
                </a:solidFill>
                <a:latin typeface="Calibri"/>
              </a:defRPr>
            </a:pPr>
            <a:r>
              <a:rPr/>
              <a:t>• Jika pejabat sedang cuti/sakit/berhalangan, sistem otomatis melompati ke pejabat aktif berikutnya</a:t>
            </a:r>
            <a:br>
              <a:rPr/>
            </a:br>
            <a:r>
              <a:rPr/>
              <a:t>• Kredit &lt; Rp 500 Juta: Approval final di level KADIV (tidak perlu ke Direksi)</a:t>
            </a:r>
            <a:br>
              <a:rPr/>
            </a:br>
            <a:r>
              <a:rPr/>
              <a:t>• Kredit ≥ Rp 500 Juta: Harus mendapat persetujuan DIREKSI sebagai level tertinggi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5111346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7166636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8508922" name="TextBox 478974201"/>
          <p:cNvSpPr txBox="1"/>
          <p:nvPr/>
        </p:nvSpPr>
        <p:spPr bwMode="auto"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1D3858"/>
                </a:solidFill>
              </a:defRPr>
            </a:pPr>
            <a:r>
              <a:rPr/>
              <a:t>BANK CREDIT APPLICATION SYSTEM WORKFLOW</a:t>
            </a:r>
            <a:endParaRPr/>
          </a:p>
        </p:txBody>
      </p:sp>
      <p:sp>
        <p:nvSpPr>
          <p:cNvPr id="2141682874" name="TextBox 478974202"/>
          <p:cNvSpPr txBox="1"/>
          <p:nvPr/>
        </p:nvSpPr>
        <p:spPr bwMode="auto">
          <a:xfrm>
            <a:off x="457200" y="6400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D3858"/>
                </a:solidFill>
              </a:defRPr>
            </a:pPr>
            <a:r>
              <a:rPr/>
              <a:t>Corporate Banking Process</a:t>
            </a:r>
            <a:endParaRPr/>
          </a:p>
        </p:txBody>
      </p:sp>
      <p:sp>
        <p:nvSpPr>
          <p:cNvPr id="777757641" name="Rounded Rectangle 478974203"/>
          <p:cNvSpPr/>
          <p:nvPr/>
        </p:nvSpPr>
        <p:spPr bwMode="auto">
          <a:xfrm>
            <a:off x="3429000" y="118872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ANALIS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(INPUT DATA)</a:t>
            </a:r>
            <a:endParaRPr/>
          </a:p>
        </p:txBody>
      </p:sp>
      <p:sp>
        <p:nvSpPr>
          <p:cNvPr id="2145383802" name="Rounded Rectangle 478974204"/>
          <p:cNvSpPr/>
          <p:nvPr/>
        </p:nvSpPr>
        <p:spPr bwMode="auto">
          <a:xfrm>
            <a:off x="3429000" y="192024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KASUBAG ANALIS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(REVIEW)</a:t>
            </a:r>
            <a:endParaRPr/>
          </a:p>
        </p:txBody>
      </p:sp>
      <p:sp>
        <p:nvSpPr>
          <p:cNvPr id="1710846438" name="Down Arrow 478974205"/>
          <p:cNvSpPr/>
          <p:nvPr/>
        </p:nvSpPr>
        <p:spPr bwMode="auto">
          <a:xfrm>
            <a:off x="4480560" y="1737360"/>
            <a:ext cx="182880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9137997" name="Rounded Rectangle 478974206"/>
          <p:cNvSpPr/>
          <p:nvPr/>
        </p:nvSpPr>
        <p:spPr bwMode="auto">
          <a:xfrm>
            <a:off x="3429000" y="265176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KEPATUHAN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(ASSESSMENT)</a:t>
            </a:r>
            <a:endParaRPr/>
          </a:p>
        </p:txBody>
      </p:sp>
      <p:sp>
        <p:nvSpPr>
          <p:cNvPr id="1073445843" name="Down Arrow 478974207"/>
          <p:cNvSpPr/>
          <p:nvPr/>
        </p:nvSpPr>
        <p:spPr bwMode="auto">
          <a:xfrm>
            <a:off x="4480560" y="2468880"/>
            <a:ext cx="182880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188574" name="Rounded Rectangle 478974208"/>
          <p:cNvSpPr/>
          <p:nvPr/>
        </p:nvSpPr>
        <p:spPr bwMode="auto">
          <a:xfrm>
            <a:off x="3429000" y="338328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KABAG ANALIS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(REVIEW)</a:t>
            </a:r>
            <a:endParaRPr/>
          </a:p>
        </p:txBody>
      </p:sp>
      <p:sp>
        <p:nvSpPr>
          <p:cNvPr id="2065176646" name="Down Arrow 478974209"/>
          <p:cNvSpPr/>
          <p:nvPr/>
        </p:nvSpPr>
        <p:spPr bwMode="auto">
          <a:xfrm>
            <a:off x="4480560" y="3200400"/>
            <a:ext cx="182880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2926293" name="Rounded Rectangle 478974210"/>
          <p:cNvSpPr/>
          <p:nvPr/>
        </p:nvSpPr>
        <p:spPr bwMode="auto">
          <a:xfrm>
            <a:off x="3429000" y="4114800"/>
            <a:ext cx="2286000" cy="54864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KADIV BISNIS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(REVIEW)</a:t>
            </a:r>
            <a:endParaRPr/>
          </a:p>
        </p:txBody>
      </p:sp>
      <p:sp>
        <p:nvSpPr>
          <p:cNvPr id="332233794" name="Down Arrow 478974211"/>
          <p:cNvSpPr/>
          <p:nvPr/>
        </p:nvSpPr>
        <p:spPr bwMode="auto">
          <a:xfrm>
            <a:off x="4480560" y="3931920"/>
            <a:ext cx="182880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6748812" name="Diamond 478974212"/>
          <p:cNvSpPr/>
          <p:nvPr/>
        </p:nvSpPr>
        <p:spPr bwMode="auto">
          <a:xfrm>
            <a:off x="3429000" y="4846320"/>
            <a:ext cx="2286000" cy="731520"/>
          </a:xfrm>
          <a:prstGeom prst="diamond">
            <a:avLst/>
          </a:prstGeom>
          <a:solidFill>
            <a:srgbClr val="C49A45"/>
          </a:solidFill>
          <a:ln>
            <a:solidFill>
              <a:srgbClr val="C49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/>
              <a:t>NILAI KREDIT</a:t>
            </a:r>
            <a:endParaRPr/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/>
              <a:t>(LOAN AMOUNT)</a:t>
            </a:r>
            <a:endParaRPr/>
          </a:p>
        </p:txBody>
      </p:sp>
      <p:sp>
        <p:nvSpPr>
          <p:cNvPr id="297411884" name="Down Arrow 478974213"/>
          <p:cNvSpPr/>
          <p:nvPr/>
        </p:nvSpPr>
        <p:spPr bwMode="auto">
          <a:xfrm>
            <a:off x="4480560" y="4663440"/>
            <a:ext cx="182880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73869983" name="TextBox 478974214"/>
          <p:cNvSpPr txBox="1"/>
          <p:nvPr/>
        </p:nvSpPr>
        <p:spPr bwMode="auto">
          <a:xfrm>
            <a:off x="2057400" y="46634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C49A45"/>
                </a:solidFill>
              </a:defRPr>
            </a:pPr>
            <a:r>
              <a:rPr/>
              <a:t>&lt; 500 Juta</a:t>
            </a:r>
            <a:endParaRPr/>
          </a:p>
        </p:txBody>
      </p:sp>
      <p:cxnSp>
        <p:nvCxnSpPr>
          <p:cNvPr id="1073508837" name="Connector 478974215"/>
          <p:cNvCxnSpPr/>
          <p:nvPr/>
        </p:nvCxnSpPr>
        <p:spPr bwMode="auto">
          <a:xfrm flipH="1">
            <a:off x="2514600" y="5212080"/>
            <a:ext cx="914400" cy="0"/>
          </a:xfrm>
          <a:prstGeom prst="line">
            <a:avLst/>
          </a:prstGeom>
          <a:ln>
            <a:solidFill>
              <a:srgbClr val="1D3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914996" name="Rounded Rectangle 478974216"/>
          <p:cNvSpPr/>
          <p:nvPr/>
        </p:nvSpPr>
        <p:spPr bwMode="auto">
          <a:xfrm>
            <a:off x="1143000" y="4937760"/>
            <a:ext cx="13716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D3858"/>
                </a:solidFill>
              </a:defRPr>
            </a:pPr>
            <a:r>
              <a:rPr/>
              <a:t>STOP AT</a:t>
            </a:r>
            <a:endParaRPr/>
          </a:p>
          <a:p>
            <a:pPr algn="ctr">
              <a:defRPr sz="1200" b="1">
                <a:solidFill>
                  <a:srgbClr val="1D3858"/>
                </a:solidFill>
              </a:defRPr>
            </a:pPr>
            <a:r>
              <a:rPr/>
              <a:t>KADIV BISNIS</a:t>
            </a:r>
            <a:endParaRPr/>
          </a:p>
        </p:txBody>
      </p:sp>
      <p:sp>
        <p:nvSpPr>
          <p:cNvPr id="278580122" name="TextBox 478974217"/>
          <p:cNvSpPr txBox="1"/>
          <p:nvPr/>
        </p:nvSpPr>
        <p:spPr bwMode="auto">
          <a:xfrm>
            <a:off x="5715000" y="46634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C49A45"/>
                </a:solidFill>
              </a:defRPr>
            </a:pPr>
            <a:r>
              <a:rPr/>
              <a:t>&gt;= 500 Juta</a:t>
            </a:r>
            <a:endParaRPr/>
          </a:p>
        </p:txBody>
      </p:sp>
      <p:cxnSp>
        <p:nvCxnSpPr>
          <p:cNvPr id="1269978041" name="Connector 478974218"/>
          <p:cNvCxnSpPr/>
          <p:nvPr/>
        </p:nvCxnSpPr>
        <p:spPr bwMode="auto">
          <a:xfrm>
            <a:off x="5715000" y="5212080"/>
            <a:ext cx="457200" cy="0"/>
          </a:xfrm>
          <a:prstGeom prst="line">
            <a:avLst/>
          </a:prstGeom>
          <a:ln>
            <a:solidFill>
              <a:srgbClr val="1D3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8214621" name="Rounded Rectangle 478974219"/>
          <p:cNvSpPr/>
          <p:nvPr/>
        </p:nvSpPr>
        <p:spPr bwMode="auto">
          <a:xfrm>
            <a:off x="6172200" y="4846320"/>
            <a:ext cx="2286000" cy="73152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DIREKSI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(FINAL APPROVAL)</a:t>
            </a:r>
            <a:endParaRPr/>
          </a:p>
        </p:txBody>
      </p:sp>
      <p:sp>
        <p:nvSpPr>
          <p:cNvPr id="410640322" name="Rounded Rectangle 478974220"/>
          <p:cNvSpPr/>
          <p:nvPr/>
        </p:nvSpPr>
        <p:spPr bwMode="auto">
          <a:xfrm>
            <a:off x="914400" y="585216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DISETUJUI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(APPROVED)</a:t>
            </a:r>
            <a:endParaRPr/>
          </a:p>
        </p:txBody>
      </p:sp>
      <p:sp>
        <p:nvSpPr>
          <p:cNvPr id="810852815" name="Rounded Rectangle 478974221"/>
          <p:cNvSpPr/>
          <p:nvPr/>
        </p:nvSpPr>
        <p:spPr bwMode="auto">
          <a:xfrm>
            <a:off x="6400800" y="585216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DITOLAK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(REJECTED)</a:t>
            </a:r>
            <a:endParaRPr/>
          </a:p>
        </p:txBody>
      </p:sp>
      <p:sp>
        <p:nvSpPr>
          <p:cNvPr id="2107693257" name="Down Arrow 478974222"/>
          <p:cNvSpPr/>
          <p:nvPr/>
        </p:nvSpPr>
        <p:spPr bwMode="auto">
          <a:xfrm>
            <a:off x="1737360" y="5486400"/>
            <a:ext cx="182880" cy="3657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375766460" name="Connector 478974223"/>
          <p:cNvCxnSpPr/>
          <p:nvPr/>
        </p:nvCxnSpPr>
        <p:spPr bwMode="auto">
          <a:xfrm>
            <a:off x="7315200" y="5577840"/>
            <a:ext cx="0" cy="91440"/>
          </a:xfrm>
          <a:prstGeom prst="line">
            <a:avLst/>
          </a:prstGeom>
          <a:ln>
            <a:solidFill>
              <a:srgbClr val="1D3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537620" name="Connector 478974224"/>
          <p:cNvCxnSpPr/>
          <p:nvPr/>
        </p:nvCxnSpPr>
        <p:spPr bwMode="auto">
          <a:xfrm flipH="1">
            <a:off x="2743200" y="5669280"/>
            <a:ext cx="4572000" cy="0"/>
          </a:xfrm>
          <a:prstGeom prst="line">
            <a:avLst/>
          </a:prstGeom>
          <a:ln>
            <a:solidFill>
              <a:srgbClr val="1D3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2458363" name="Down Arrow 478974225"/>
          <p:cNvSpPr/>
          <p:nvPr/>
        </p:nvSpPr>
        <p:spPr bwMode="auto">
          <a:xfrm>
            <a:off x="2651760" y="5669280"/>
            <a:ext cx="182880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208328249" name="Connector 478974226"/>
          <p:cNvCxnSpPr/>
          <p:nvPr/>
        </p:nvCxnSpPr>
        <p:spPr bwMode="auto">
          <a:xfrm>
            <a:off x="7315200" y="5669280"/>
            <a:ext cx="0" cy="0"/>
          </a:xfrm>
          <a:prstGeom prst="line">
            <a:avLst/>
          </a:prstGeom>
          <a:ln>
            <a:solidFill>
              <a:srgbClr val="1D3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692566" name="Down Arrow 478974227"/>
          <p:cNvSpPr/>
          <p:nvPr/>
        </p:nvSpPr>
        <p:spPr bwMode="auto">
          <a:xfrm>
            <a:off x="7223760" y="5669280"/>
            <a:ext cx="182880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548640" cy="548640"/>
          </a:xfrm>
          <a:prstGeom prst="ellipse">
            <a:avLst/>
          </a:prstGeom>
          <a:solidFill>
            <a:srgbClr val="C49A45"/>
          </a:solidFill>
          <a:ln>
            <a:solidFill>
              <a:srgbClr val="C49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9144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D3858"/>
                </a:solidFill>
              </a:defRPr>
            </a:pPr>
            <a:r>
              <a:t>CARA KERJA ANALIS (INPUT KREDIT)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40080"/>
            <a:ext cx="9144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6464"/>
                </a:solidFill>
              </a:defRPr>
            </a:pPr>
            <a:r>
              <a:t>Proses Input Data Pengajuan Kredit oleh Analis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77295" cy="27432"/>
          </a:xfrm>
          <a:prstGeom prst="rect">
            <a:avLst/>
          </a:prstGeom>
          <a:solidFill>
            <a:srgbClr val="C49A45"/>
          </a:solidFill>
          <a:ln>
            <a:solidFill>
              <a:srgbClr val="C49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D3858"/>
                </a:solidFill>
              </a:defRPr>
            </a:pPr>
            <a:r>
              <a:t>JENIS KREDIT YANG TERSEDIA: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783080" cy="640080"/>
          </a:xfrm>
          <a:prstGeom prst="round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Umum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umum untuk</a:t>
            </a:r>
            <a:br/>
            <a:r>
              <a:t>nasabah perorangan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371600"/>
            <a:ext cx="1783080" cy="640080"/>
          </a:xfrm>
          <a:prstGeom prst="round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PPPK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untuk Pegawai</a:t>
            </a:r>
            <a:br/>
            <a:r>
              <a:t>Pemerintah (PPPK)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1783080" cy="640080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Perangkat Desa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khusus</a:t>
            </a:r>
            <a:br/>
            <a:r>
              <a:t>Perangkat Desa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371600"/>
            <a:ext cx="1783080" cy="640080"/>
          </a:xfrm>
          <a:prstGeom prst="round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KPR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Pemilikan</a:t>
            </a:r>
            <a:br/>
            <a:r>
              <a:t>Rumah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71600"/>
            <a:ext cx="1783080" cy="640080"/>
          </a:xfrm>
          <a:prstGeom prst="roundRect">
            <a:avLst/>
          </a:prstGeom>
          <a:solidFill>
            <a:srgbClr val="F1C40F"/>
          </a:solidFill>
          <a:ln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Kretamas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Emas</a:t>
            </a:r>
            <a:br/>
            <a:r>
              <a:t>(Gold Loan)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1371600"/>
            <a:ext cx="1783080" cy="640080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Cash Collateral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dengan</a:t>
            </a:r>
            <a:br/>
            <a:r>
              <a:t>jaminan deposito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03120"/>
            <a:ext cx="11277295" cy="320040"/>
          </a:xfrm>
          <a:prstGeom prst="roundRect">
            <a:avLst/>
          </a:prstGeom>
          <a:solidFill>
            <a:srgbClr val="FDEDEC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⚠️  PENTING: Jenis kredit di atas terbatas untuk maksimal plafond kredit Rp 50.000.000 (lima puluh juta rupiah)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1460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D3858"/>
                </a:solidFill>
              </a:defRPr>
            </a:pPr>
            <a:r>
              <a:t>6 TAHAP INPUT DATA KREDIT: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34640"/>
            <a:ext cx="3566160" cy="640080"/>
          </a:xfrm>
          <a:prstGeom prst="roundRect">
            <a:avLst/>
          </a:prstGeom>
          <a:solidFill>
            <a:srgbClr val="F0F4F8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0352" y="2907792"/>
            <a:ext cx="274320" cy="274320"/>
          </a:xfrm>
          <a:prstGeom prst="ellipse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907792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D3858"/>
                </a:solidFill>
              </a:defRPr>
            </a:pPr>
            <a:r>
              <a:t>Data Pemohon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3163824"/>
            <a:ext cx="3419856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6464"/>
                </a:solidFill>
              </a:defRPr>
            </a:pPr>
            <a:r>
              <a:t>NIK, Nama, Alamat, Pekerjaan, Tanggal Lahir, Status Perkawinan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2834640"/>
            <a:ext cx="3566160" cy="640080"/>
          </a:xfrm>
          <a:prstGeom prst="roundRect">
            <a:avLst/>
          </a:prstGeom>
          <a:solidFill>
            <a:srgbClr val="F0F4F8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79392" y="2907792"/>
            <a:ext cx="274320" cy="274320"/>
          </a:xfrm>
          <a:prstGeom prst="ellipse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907792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D3858"/>
                </a:solidFill>
              </a:defRPr>
            </a:pPr>
            <a:r>
              <a:t>Penghasilan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3163824"/>
            <a:ext cx="3419856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6464"/>
                </a:solidFill>
              </a:defRPr>
            </a:pPr>
            <a:r>
              <a:t>Gaji pokok, tunjangan, penghasilan lain, analisa repayment capacity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2834640"/>
            <a:ext cx="3566160" cy="640080"/>
          </a:xfrm>
          <a:prstGeom prst="roundRect">
            <a:avLst/>
          </a:prstGeom>
          <a:solidFill>
            <a:srgbClr val="F0F4F8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28432" y="2907792"/>
            <a:ext cx="274320" cy="274320"/>
          </a:xfrm>
          <a:prstGeom prst="ellipse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2907792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D3858"/>
                </a:solidFill>
              </a:defRPr>
            </a:pPr>
            <a:r>
              <a:t>Agunan / Jaminan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2" y="3163824"/>
            <a:ext cx="3419856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6464"/>
                </a:solidFill>
              </a:defRPr>
            </a:pPr>
            <a:r>
              <a:t>Data kendaraan/tanah/bangunan, foto agunan, taksasi nilai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11880"/>
            <a:ext cx="3566160" cy="640080"/>
          </a:xfrm>
          <a:prstGeom prst="roundRect">
            <a:avLst/>
          </a:prstGeom>
          <a:solidFill>
            <a:srgbClr val="F0F4F8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0352" y="3685032"/>
            <a:ext cx="274320" cy="274320"/>
          </a:xfrm>
          <a:prstGeom prst="ellipse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3685032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D3858"/>
                </a:solidFill>
              </a:defRPr>
            </a:pPr>
            <a:r>
              <a:t>Struktur Kredit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941064"/>
            <a:ext cx="3419856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6464"/>
                </a:solidFill>
              </a:defRPr>
            </a:pPr>
            <a:r>
              <a:t>Plafond, jangka waktu, suku bunga, tujuan penggunaan kredit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40" y="3611880"/>
            <a:ext cx="3566160" cy="640080"/>
          </a:xfrm>
          <a:prstGeom prst="roundRect">
            <a:avLst/>
          </a:prstGeom>
          <a:solidFill>
            <a:srgbClr val="F0F4F8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79392" y="3685032"/>
            <a:ext cx="274320" cy="274320"/>
          </a:xfrm>
          <a:prstGeom prst="ellipse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685032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D3858"/>
                </a:solidFill>
              </a:defRPr>
            </a:pPr>
            <a:r>
              <a:t>Neraca Keuangan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9392" y="3941064"/>
            <a:ext cx="3419856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6464"/>
                </a:solidFill>
              </a:defRPr>
            </a:pPr>
            <a:r>
              <a:t>Aset, kewajiban, modal bersih (untuk kredit usaha/umum)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611880"/>
            <a:ext cx="3566160" cy="640080"/>
          </a:xfrm>
          <a:prstGeom prst="roundRect">
            <a:avLst/>
          </a:prstGeom>
          <a:solidFill>
            <a:srgbClr val="F0F4F8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28432" y="3685032"/>
            <a:ext cx="274320" cy="274320"/>
          </a:xfrm>
          <a:prstGeom prst="ellipse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8" y="3685032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D3858"/>
                </a:solidFill>
              </a:defRPr>
            </a:pPr>
            <a:r>
              <a:t>Analisa 6C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28432" y="3941064"/>
            <a:ext cx="3419856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646464"/>
                </a:solidFill>
              </a:defRPr>
            </a:pPr>
            <a:r>
              <a:t>Character, Capacity, Capital, Collateral, Condition, Constraint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48056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D3858"/>
                </a:solidFill>
              </a:defRPr>
            </a:pPr>
            <a:r>
              <a:t>STATUS PENGAJUAN KREDIT (TERMASUK KEPATUHAN):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800600"/>
            <a:ext cx="1783080" cy="548640"/>
          </a:xfrm>
          <a:prstGeom prst="roundRect">
            <a:avLst/>
          </a:prstGeom>
          <a:solidFill>
            <a:srgbClr val="95A5A6"/>
          </a:solidFill>
          <a:ln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DRAFT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Analis buat</a:t>
            </a:r>
            <a:br/>
            <a:r>
              <a:t>pengajuan baru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31720" y="4800600"/>
            <a:ext cx="1783080" cy="548640"/>
          </a:xfrm>
          <a:prstGeom prst="round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DIAJUKAN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Dikirim ke rantai</a:t>
            </a:r>
            <a:br/>
            <a:r>
              <a:t>approval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06240" y="4800600"/>
            <a:ext cx="1783080" cy="548640"/>
          </a:xfrm>
          <a:prstGeom prst="round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KEPATUHAN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Review kepatuhan</a:t>
            </a:r>
            <a:br/>
            <a:r>
              <a:t>&amp; SOP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80760" y="4800600"/>
            <a:ext cx="1783080" cy="548640"/>
          </a:xfrm>
          <a:prstGeom prst="roundRect">
            <a:avLst/>
          </a:prstGeom>
          <a:solidFill>
            <a:srgbClr val="3498DB"/>
          </a:solidFill>
          <a:ln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PROSES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Ditinjau pejabat</a:t>
            </a:r>
            <a:br/>
            <a:r>
              <a:t>berwenang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0" y="4800600"/>
            <a:ext cx="1783080" cy="548640"/>
          </a:xfrm>
          <a:prstGeom prst="roundRect">
            <a:avLst/>
          </a:prstGeom>
          <a:solidFill>
            <a:srgbClr val="2ECC71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DISETUJUI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disetujui</a:t>
            </a:r>
            <a:br/>
            <a:r>
              <a:t>oleh pejabat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29800" y="4800600"/>
            <a:ext cx="1783080" cy="548640"/>
          </a:xfrm>
          <a:prstGeom prst="roundRect">
            <a:avLst/>
          </a:prstGeom>
          <a:solidFill>
            <a:srgbClr val="E74C3C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DITOLAK</a:t>
            </a:r>
          </a:p>
          <a:p>
            <a:pPr algn="ctr">
              <a:defRPr sz="900" b="0">
                <a:solidFill>
                  <a:srgbClr val="DCDCDC"/>
                </a:solidFill>
              </a:defRPr>
            </a:pPr>
            <a:r>
              <a:t>Kredit ditolak,</a:t>
            </a:r>
            <a:br/>
            <a:r>
              <a:t>kembali ke analis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0" y="5020056"/>
            <a:ext cx="914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C49A45"/>
                </a:solidFill>
              </a:defRPr>
            </a:pPr>
            <a: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60520" y="5020056"/>
            <a:ext cx="914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C49A45"/>
                </a:solidFill>
              </a:defRPr>
            </a:pPr>
            <a: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5020056"/>
            <a:ext cx="914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C49A45"/>
                </a:solidFill>
              </a:defRPr>
            </a:pPr>
            <a:r>
              <a:t>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5020056"/>
            <a:ext cx="914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C49A45"/>
                </a:solidFill>
              </a:defRPr>
            </a:pPr>
            <a:r>
              <a:t>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5020056"/>
            <a:ext cx="914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C49A45"/>
                </a:solidFill>
              </a:defRPr>
            </a:pPr>
            <a: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486400"/>
            <a:ext cx="11277295" cy="411480"/>
          </a:xfrm>
          <a:prstGeom prst="roundRect">
            <a:avLst/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ALUR APPROVAL:  ANALIS (Input)  →  KASUBAG (Review)  →  KEPATUHAN (Assessment)  →  KABAG ANALIS (Evaluasi)  →  KADIV (Approval)  →  DIREKSI (Final)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5989320"/>
            <a:ext cx="11277295" cy="731520"/>
          </a:xfrm>
          <a:prstGeom prst="roundRect">
            <a:avLst/>
          </a:prstGeom>
          <a:solidFill>
            <a:srgbClr val="F0F4F8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D3858"/>
                </a:solidFill>
              </a:defRPr>
            </a:pPr>
            <a:r>
              <a:t>✅ Kalkulasi Otomatis: Repayment capacity &amp; taksasi agunan dihitung otomatis oleh sistem</a:t>
            </a:r>
          </a:p>
          <a:p>
            <a:pPr>
              <a:defRPr sz="1000">
                <a:solidFill>
                  <a:srgbClr val="1D3858"/>
                </a:solidFill>
              </a:defRPr>
            </a:pPr>
            <a:r>
              <a:t>✅ Fitur Revisi: Pengajuan yang dikembalikan dapat diedit &amp; dikirim ulang langsung ke level yang mengembalikan</a:t>
            </a:r>
          </a:p>
          <a:p>
            <a:pPr>
              <a:defRPr sz="1000">
                <a:solidFill>
                  <a:srgbClr val="1D3858"/>
                </a:solidFill>
              </a:defRPr>
            </a:pPr>
            <a:r>
              <a:t>✅ Fitur Resubmit: Pengajuan ditolak dapat diperbaiki &amp; diajukan kembali sebagai pengajuan baru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58890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33915752" name="TextBox 2"/>
          <p:cNvSpPr txBox="1"/>
          <p:nvPr/>
        </p:nvSpPr>
        <p:spPr bwMode="auto"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/>
              <a:t>WORKFLOW INPUT DATA ANALIS</a:t>
            </a:r>
            <a:endParaRPr/>
          </a:p>
        </p:txBody>
      </p:sp>
      <p:sp>
        <p:nvSpPr>
          <p:cNvPr id="1199198290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43075140" name="Picture 4" descr="analis_workflow_1784769106740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778721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73439085" name="TextBox 2"/>
          <p:cNvSpPr txBox="1"/>
          <p:nvPr/>
        </p:nvSpPr>
        <p:spPr bwMode="auto"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/>
              <a:t>DETAIL PROSES KERJA ANALIS</a:t>
            </a:r>
            <a:endParaRPr/>
          </a:p>
        </p:txBody>
      </p:sp>
      <p:sp>
        <p:nvSpPr>
          <p:cNvPr id="1457250318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2684201" name="Rounded Rectangle 4"/>
          <p:cNvSpPr/>
          <p:nvPr/>
        </p:nvSpPr>
        <p:spPr bwMode="auto">
          <a:xfrm>
            <a:off x="457200" y="1188720"/>
            <a:ext cx="5303520" cy="914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5400653" name="Oval 5"/>
          <p:cNvSpPr/>
          <p:nvPr/>
        </p:nvSpPr>
        <p:spPr bwMode="auto">
          <a:xfrm>
            <a:off x="594360" y="132588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475711988" name="TextBox 6"/>
          <p:cNvSpPr txBox="1"/>
          <p:nvPr/>
        </p:nvSpPr>
        <p:spPr bwMode="auto">
          <a:xfrm>
            <a:off x="1051560" y="132588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 b="1"/>
              <a:t>Login ke Sistem</a:t>
            </a:r>
            <a:endParaRPr/>
          </a:p>
        </p:txBody>
      </p:sp>
      <p:sp>
        <p:nvSpPr>
          <p:cNvPr id="1447208707" name="TextBox 7"/>
          <p:cNvSpPr txBox="1"/>
          <p:nvPr/>
        </p:nvSpPr>
        <p:spPr bwMode="auto">
          <a:xfrm flipH="0" flipV="0">
            <a:off x="594360" y="1691640"/>
            <a:ext cx="5446689" cy="442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sz="1100"/>
              <a:t>Analis login menggunakan akun yang terdaftar</a:t>
            </a:r>
            <a:br>
              <a:rPr/>
            </a:br>
            <a:r>
              <a:rPr sz="1100"/>
              <a:t>dengan role '</a:t>
            </a:r>
            <a:r>
              <a:rPr sz="1200"/>
              <a:t>analis</a:t>
            </a:r>
            <a:r>
              <a:rPr sz="1100"/>
              <a:t>'</a:t>
            </a:r>
            <a:endParaRPr/>
          </a:p>
        </p:txBody>
      </p:sp>
      <p:sp>
        <p:nvSpPr>
          <p:cNvPr id="1975187824" name="Rounded Rectangle 8"/>
          <p:cNvSpPr/>
          <p:nvPr/>
        </p:nvSpPr>
        <p:spPr bwMode="auto">
          <a:xfrm>
            <a:off x="457200" y="2057400"/>
            <a:ext cx="5303520" cy="914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9292358" name="Oval 9"/>
          <p:cNvSpPr/>
          <p:nvPr/>
        </p:nvSpPr>
        <p:spPr bwMode="auto">
          <a:xfrm>
            <a:off x="594360" y="21945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  <a:endParaRPr/>
          </a:p>
        </p:txBody>
      </p:sp>
      <p:sp>
        <p:nvSpPr>
          <p:cNvPr id="1773777093" name="TextBox 10"/>
          <p:cNvSpPr txBox="1"/>
          <p:nvPr/>
        </p:nvSpPr>
        <p:spPr bwMode="auto">
          <a:xfrm>
            <a:off x="1051560" y="219456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 b="1"/>
              <a:t>Pilih Jenis Kredit</a:t>
            </a:r>
            <a:endParaRPr/>
          </a:p>
        </p:txBody>
      </p:sp>
      <p:sp>
        <p:nvSpPr>
          <p:cNvPr id="731776500" name="TextBox 11"/>
          <p:cNvSpPr txBox="1"/>
          <p:nvPr/>
        </p:nvSpPr>
        <p:spPr bwMode="auto">
          <a:xfrm>
            <a:off x="59436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sz="1100"/>
              <a:t>Memilih jenis produk kredit sesuai kebutuhan</a:t>
            </a:r>
            <a:br>
              <a:rPr/>
            </a:br>
            <a:r>
              <a:rPr sz="1100"/>
              <a:t>nasabah (Umum/PPPK/Desa/dll)</a:t>
            </a:r>
            <a:endParaRPr/>
          </a:p>
        </p:txBody>
      </p:sp>
      <p:sp>
        <p:nvSpPr>
          <p:cNvPr id="945233979" name="Rounded Rectangle 12"/>
          <p:cNvSpPr/>
          <p:nvPr/>
        </p:nvSpPr>
        <p:spPr bwMode="auto">
          <a:xfrm>
            <a:off x="457200" y="2926080"/>
            <a:ext cx="5303520" cy="914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0195005" name="Oval 13"/>
          <p:cNvSpPr/>
          <p:nvPr/>
        </p:nvSpPr>
        <p:spPr bwMode="auto">
          <a:xfrm>
            <a:off x="594360" y="306324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384702977" name="TextBox 14"/>
          <p:cNvSpPr txBox="1"/>
          <p:nvPr/>
        </p:nvSpPr>
        <p:spPr bwMode="auto">
          <a:xfrm>
            <a:off x="1051560" y="306324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 b="1"/>
              <a:t>Input Data Lengkap</a:t>
            </a:r>
            <a:endParaRPr/>
          </a:p>
        </p:txBody>
      </p:sp>
      <p:sp>
        <p:nvSpPr>
          <p:cNvPr id="1849539204" name="TextBox 15"/>
          <p:cNvSpPr txBox="1"/>
          <p:nvPr/>
        </p:nvSpPr>
        <p:spPr bwMode="auto">
          <a:xfrm>
            <a:off x="594360" y="3429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sz="1100"/>
              <a:t>Mengisi form data pemohon, penghasilan,</a:t>
            </a:r>
            <a:br>
              <a:rPr/>
            </a:br>
            <a:r>
              <a:rPr sz="1100"/>
              <a:t>agunan, struktur kredit, neraca, &amp; analisa 6C</a:t>
            </a:r>
            <a:endParaRPr/>
          </a:p>
        </p:txBody>
      </p:sp>
      <p:sp>
        <p:nvSpPr>
          <p:cNvPr id="373138818" name="Rounded Rectangle 16"/>
          <p:cNvSpPr/>
          <p:nvPr/>
        </p:nvSpPr>
        <p:spPr bwMode="auto">
          <a:xfrm>
            <a:off x="457200" y="3794760"/>
            <a:ext cx="5303520" cy="914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0820524" name="Oval 17"/>
          <p:cNvSpPr/>
          <p:nvPr/>
        </p:nvSpPr>
        <p:spPr bwMode="auto">
          <a:xfrm>
            <a:off x="594360" y="393192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4</a:t>
            </a:r>
            <a:endParaRPr/>
          </a:p>
        </p:txBody>
      </p:sp>
      <p:sp>
        <p:nvSpPr>
          <p:cNvPr id="137084546" name="TextBox 18"/>
          <p:cNvSpPr txBox="1"/>
          <p:nvPr/>
        </p:nvSpPr>
        <p:spPr bwMode="auto">
          <a:xfrm>
            <a:off x="1051560" y="393192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 b="1"/>
              <a:t>Upload Dokumen</a:t>
            </a:r>
            <a:endParaRPr/>
          </a:p>
        </p:txBody>
      </p:sp>
      <p:sp>
        <p:nvSpPr>
          <p:cNvPr id="1439622024" name="TextBox 19"/>
          <p:cNvSpPr txBox="1"/>
          <p:nvPr/>
        </p:nvSpPr>
        <p:spPr bwMode="auto">
          <a:xfrm>
            <a:off x="59436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sz="1100"/>
              <a:t>Upload foto agunan, dokumen pendukung,</a:t>
            </a:r>
            <a:br>
              <a:rPr/>
            </a:br>
            <a:r>
              <a:rPr sz="1100"/>
              <a:t>dan kelengkapan administrasi</a:t>
            </a:r>
            <a:endParaRPr/>
          </a:p>
        </p:txBody>
      </p:sp>
      <p:sp>
        <p:nvSpPr>
          <p:cNvPr id="1272249767" name="Rounded Rectangle 20"/>
          <p:cNvSpPr/>
          <p:nvPr/>
        </p:nvSpPr>
        <p:spPr bwMode="auto">
          <a:xfrm>
            <a:off x="457200" y="4663440"/>
            <a:ext cx="5303520" cy="914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0205826" name="Oval 21"/>
          <p:cNvSpPr/>
          <p:nvPr/>
        </p:nvSpPr>
        <p:spPr bwMode="auto">
          <a:xfrm>
            <a:off x="594360" y="480060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5</a:t>
            </a:r>
            <a:endParaRPr/>
          </a:p>
        </p:txBody>
      </p:sp>
      <p:sp>
        <p:nvSpPr>
          <p:cNvPr id="786368276" name="TextBox 22"/>
          <p:cNvSpPr txBox="1"/>
          <p:nvPr/>
        </p:nvSpPr>
        <p:spPr bwMode="auto">
          <a:xfrm>
            <a:off x="1051560" y="480060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 b="1"/>
              <a:t>Simpan Draft</a:t>
            </a:r>
            <a:endParaRPr/>
          </a:p>
        </p:txBody>
      </p:sp>
      <p:sp>
        <p:nvSpPr>
          <p:cNvPr id="1751641555" name="TextBox 23"/>
          <p:cNvSpPr txBox="1"/>
          <p:nvPr/>
        </p:nvSpPr>
        <p:spPr bwMode="auto">
          <a:xfrm>
            <a:off x="594360" y="5166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sz="1100"/>
              <a:t>Data dapat disimpan sebagai draft untuk</a:t>
            </a:r>
            <a:br>
              <a:rPr/>
            </a:br>
            <a:r>
              <a:rPr sz="1100"/>
              <a:t>dilengkapi kemudian</a:t>
            </a:r>
            <a:endParaRPr/>
          </a:p>
        </p:txBody>
      </p:sp>
      <p:sp>
        <p:nvSpPr>
          <p:cNvPr id="1628888425" name="Rounded Rectangle 24"/>
          <p:cNvSpPr/>
          <p:nvPr/>
        </p:nvSpPr>
        <p:spPr bwMode="auto">
          <a:xfrm>
            <a:off x="457200" y="5532120"/>
            <a:ext cx="5303520" cy="914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1495329" name="Oval 25"/>
          <p:cNvSpPr/>
          <p:nvPr/>
        </p:nvSpPr>
        <p:spPr bwMode="auto">
          <a:xfrm>
            <a:off x="594360" y="566928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6</a:t>
            </a:r>
            <a:endParaRPr/>
          </a:p>
        </p:txBody>
      </p:sp>
      <p:sp>
        <p:nvSpPr>
          <p:cNvPr id="110089200" name="TextBox 26"/>
          <p:cNvSpPr txBox="1"/>
          <p:nvPr/>
        </p:nvSpPr>
        <p:spPr bwMode="auto">
          <a:xfrm>
            <a:off x="1051560" y="566928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 b="1"/>
              <a:t>Submit Pengajuan</a:t>
            </a:r>
            <a:endParaRPr/>
          </a:p>
        </p:txBody>
      </p:sp>
      <p:sp>
        <p:nvSpPr>
          <p:cNvPr id="1066929033" name="TextBox 27"/>
          <p:cNvSpPr txBox="1"/>
          <p:nvPr/>
        </p:nvSpPr>
        <p:spPr bwMode="auto">
          <a:xfrm>
            <a:off x="594360" y="60350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 sz="1100"/>
              <a:t>Kirim pengajuan ke rantai approval.</a:t>
            </a:r>
            <a:br>
              <a:rPr/>
            </a:br>
            <a:r>
              <a:rPr sz="1100"/>
              <a:t>Status berubah menjadi 'Diajukan'</a:t>
            </a:r>
            <a:endParaRPr/>
          </a:p>
        </p:txBody>
      </p:sp>
      <p:sp>
        <p:nvSpPr>
          <p:cNvPr id="1593430492" name="TextBox 28"/>
          <p:cNvSpPr txBox="1"/>
          <p:nvPr/>
        </p:nvSpPr>
        <p:spPr bwMode="auto"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FITUR KHUSUS ANALIS:</a:t>
            </a:r>
            <a:endParaRPr/>
          </a:p>
        </p:txBody>
      </p:sp>
      <p:sp>
        <p:nvSpPr>
          <p:cNvPr id="1788353683" name="Rounded Rectangle 29"/>
          <p:cNvSpPr/>
          <p:nvPr/>
        </p:nvSpPr>
        <p:spPr bwMode="auto">
          <a:xfrm>
            <a:off x="6217920" y="1645920"/>
            <a:ext cx="5303520" cy="105156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60418361" name="TextBox 30"/>
          <p:cNvSpPr txBox="1"/>
          <p:nvPr/>
        </p:nvSpPr>
        <p:spPr bwMode="auto">
          <a:xfrm>
            <a:off x="640080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rPr/>
              <a:t>📝 Revisi</a:t>
            </a:r>
            <a:endParaRPr/>
          </a:p>
        </p:txBody>
      </p:sp>
      <p:sp>
        <p:nvSpPr>
          <p:cNvPr id="1240897348" name="TextBox 31"/>
          <p:cNvSpPr txBox="1"/>
          <p:nvPr/>
        </p:nvSpPr>
        <p:spPr bwMode="auto">
          <a:xfrm>
            <a:off x="6400800" y="201168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Jika pengajuan dikembalikan untuk revisi,</a:t>
            </a:r>
            <a:br>
              <a:rPr/>
            </a:br>
            <a:r>
              <a:rPr/>
              <a:t>analis dapat mengedit data dan mengirim ulang.</a:t>
            </a:r>
            <a:br>
              <a:rPr/>
            </a:br>
            <a:r>
              <a:rPr/>
              <a:t>Sistem langsung mengirim ke level yang</a:t>
            </a:r>
            <a:br>
              <a:rPr/>
            </a:br>
            <a:r>
              <a:rPr/>
              <a:t>mengembalikan (skip level sebelumnya).</a:t>
            </a:r>
            <a:endParaRPr/>
          </a:p>
        </p:txBody>
      </p:sp>
      <p:sp>
        <p:nvSpPr>
          <p:cNvPr id="683476477" name="Rounded Rectangle 32"/>
          <p:cNvSpPr/>
          <p:nvPr/>
        </p:nvSpPr>
        <p:spPr bwMode="auto">
          <a:xfrm>
            <a:off x="6217920" y="2834640"/>
            <a:ext cx="5303520" cy="105156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1422467" name="TextBox 33"/>
          <p:cNvSpPr txBox="1"/>
          <p:nvPr/>
        </p:nvSpPr>
        <p:spPr bwMode="auto">
          <a:xfrm>
            <a:off x="6400800" y="2926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rPr/>
              <a:t>📊 Kalkulasi Otomatis</a:t>
            </a:r>
            <a:endParaRPr/>
          </a:p>
        </p:txBody>
      </p:sp>
      <p:sp>
        <p:nvSpPr>
          <p:cNvPr id="457503247" name="TextBox 34"/>
          <p:cNvSpPr txBox="1"/>
          <p:nvPr/>
        </p:nvSpPr>
        <p:spPr bwMode="auto">
          <a:xfrm>
            <a:off x="6400800" y="32004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Repayment capacity, taksasi agunan,</a:t>
            </a:r>
            <a:br>
              <a:rPr/>
            </a:br>
            <a:r>
              <a:rPr/>
              <a:t>dan rasio plafond dihitung otomatis</a:t>
            </a:r>
            <a:br>
              <a:rPr/>
            </a:br>
            <a:r>
              <a:rPr/>
              <a:t>berdasarkan parameter yang dikonfigurasi.</a:t>
            </a:r>
            <a:endParaRPr/>
          </a:p>
        </p:txBody>
      </p:sp>
      <p:sp>
        <p:nvSpPr>
          <p:cNvPr id="810049066" name="Rounded Rectangle 35"/>
          <p:cNvSpPr/>
          <p:nvPr/>
        </p:nvSpPr>
        <p:spPr bwMode="auto">
          <a:xfrm>
            <a:off x="6217920" y="4023360"/>
            <a:ext cx="5303520" cy="105156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845682" name="TextBox 36"/>
          <p:cNvSpPr txBox="1"/>
          <p:nvPr/>
        </p:nvSpPr>
        <p:spPr bwMode="auto">
          <a:xfrm>
            <a:off x="6400800" y="41148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Calibri"/>
              </a:defRPr>
            </a:pPr>
            <a:r>
              <a:rPr/>
              <a:t>📋 Riwayat</a:t>
            </a:r>
            <a:endParaRPr/>
          </a:p>
        </p:txBody>
      </p:sp>
      <p:sp>
        <p:nvSpPr>
          <p:cNvPr id="17528259" name="TextBox 37"/>
          <p:cNvSpPr txBox="1"/>
          <p:nvPr/>
        </p:nvSpPr>
        <p:spPr bwMode="auto">
          <a:xfrm>
            <a:off x="6400800" y="43891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Melihat seluruh riwayat pengajuan yang</a:t>
            </a:r>
            <a:br>
              <a:rPr/>
            </a:br>
            <a:r>
              <a:rPr/>
              <a:t>pernah dibuat beserta status terkini.</a:t>
            </a:r>
            <a:endParaRPr/>
          </a:p>
        </p:txBody>
      </p:sp>
      <p:sp>
        <p:nvSpPr>
          <p:cNvPr id="390260149" name="Rounded Rectangle 38"/>
          <p:cNvSpPr/>
          <p:nvPr/>
        </p:nvSpPr>
        <p:spPr bwMode="auto">
          <a:xfrm>
            <a:off x="6217920" y="5212080"/>
            <a:ext cx="5303520" cy="105156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7653546" name="TextBox 39"/>
          <p:cNvSpPr txBox="1"/>
          <p:nvPr/>
        </p:nvSpPr>
        <p:spPr bwMode="auto">
          <a:xfrm>
            <a:off x="6400800" y="5303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Calibri"/>
              </a:defRPr>
            </a:pPr>
            <a:r>
              <a:rPr/>
              <a:t>🔄 Resubmit</a:t>
            </a:r>
            <a:endParaRPr/>
          </a:p>
        </p:txBody>
      </p:sp>
      <p:sp>
        <p:nvSpPr>
          <p:cNvPr id="1743299397" name="TextBox 40"/>
          <p:cNvSpPr txBox="1"/>
          <p:nvPr/>
        </p:nvSpPr>
        <p:spPr bwMode="auto">
          <a:xfrm>
            <a:off x="6400800" y="55778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Pengajuan yang ditolak dapat diperbaiki</a:t>
            </a:r>
            <a:br>
              <a:rPr/>
            </a:br>
            <a:r>
              <a:rPr/>
              <a:t>dan diajukan kembali sebagai pengajuan baru.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123070" name="Oval 1"/>
          <p:cNvSpPr/>
          <p:nvPr/>
        </p:nvSpPr>
        <p:spPr bwMode="auto">
          <a:xfrm>
            <a:off x="731520" y="45720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/>
              <a:t>4</a:t>
            </a:r>
            <a:endParaRPr/>
          </a:p>
        </p:txBody>
      </p:sp>
      <p:sp>
        <p:nvSpPr>
          <p:cNvPr id="1729788256" name="TextBox 2"/>
          <p:cNvSpPr txBox="1"/>
          <p:nvPr/>
        </p:nvSpPr>
        <p:spPr bwMode="auto"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KASUBAG ANALIS</a:t>
            </a:r>
            <a:endParaRPr/>
          </a:p>
        </p:txBody>
      </p:sp>
      <p:sp>
        <p:nvSpPr>
          <p:cNvPr id="478793592" name="TextBox 3"/>
          <p:cNvSpPr txBox="1"/>
          <p:nvPr/>
        </p:nvSpPr>
        <p:spPr bwMode="auto"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rPr/>
              <a:t>Review &amp; Verifikasi Awal Pengajuan Kredit</a:t>
            </a:r>
            <a:endParaRPr/>
          </a:p>
        </p:txBody>
      </p:sp>
      <p:sp>
        <p:nvSpPr>
          <p:cNvPr id="315014460" name="Rectangle 4"/>
          <p:cNvSpPr/>
          <p:nvPr/>
        </p:nvSpPr>
        <p:spPr bwMode="auto">
          <a:xfrm>
            <a:off x="731520" y="1554480"/>
            <a:ext cx="1069848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8116273" name="TextBox 5"/>
          <p:cNvSpPr txBox="1"/>
          <p:nvPr/>
        </p:nvSpPr>
        <p:spPr bwMode="auto"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ALUR KERJA KASUBAG ANALIS:</a:t>
            </a:r>
            <a:endParaRPr/>
          </a:p>
        </p:txBody>
      </p:sp>
      <p:sp>
        <p:nvSpPr>
          <p:cNvPr id="1310934008" name="Rounded Rectangle 6"/>
          <p:cNvSpPr/>
          <p:nvPr/>
        </p:nvSpPr>
        <p:spPr bwMode="auto">
          <a:xfrm>
            <a:off x="73152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3994895" name="Oval 7"/>
          <p:cNvSpPr/>
          <p:nvPr/>
        </p:nvSpPr>
        <p:spPr bwMode="auto">
          <a:xfrm>
            <a:off x="868680" y="242316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782439270" name="TextBox 8"/>
          <p:cNvSpPr txBox="1"/>
          <p:nvPr/>
        </p:nvSpPr>
        <p:spPr bwMode="auto"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Buka Dashboard</a:t>
            </a:r>
            <a:endParaRPr/>
          </a:p>
        </p:txBody>
      </p:sp>
      <p:sp>
        <p:nvSpPr>
          <p:cNvPr id="1461304529" name="TextBox 9"/>
          <p:cNvSpPr txBox="1"/>
          <p:nvPr/>
        </p:nvSpPr>
        <p:spPr bwMode="auto"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Login dan lihat daftar pengajuan</a:t>
            </a:r>
            <a:br>
              <a:rPr/>
            </a:br>
            <a:r>
              <a:rPr/>
              <a:t>yang menunggu review di inbox</a:t>
            </a:r>
            <a:endParaRPr/>
          </a:p>
        </p:txBody>
      </p:sp>
      <p:sp>
        <p:nvSpPr>
          <p:cNvPr id="1665138317" name="Right Arrow 10"/>
          <p:cNvSpPr/>
          <p:nvPr/>
        </p:nvSpPr>
        <p:spPr bwMode="auto">
          <a:xfrm>
            <a:off x="342900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8557199" name="Rounded Rectangle 11"/>
          <p:cNvSpPr/>
          <p:nvPr/>
        </p:nvSpPr>
        <p:spPr bwMode="auto">
          <a:xfrm>
            <a:off x="356616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642301" name="Oval 12"/>
          <p:cNvSpPr/>
          <p:nvPr/>
        </p:nvSpPr>
        <p:spPr bwMode="auto">
          <a:xfrm>
            <a:off x="3703320" y="24231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  <a:endParaRPr/>
          </a:p>
        </p:txBody>
      </p:sp>
      <p:sp>
        <p:nvSpPr>
          <p:cNvPr id="430494147" name="TextBox 13"/>
          <p:cNvSpPr txBox="1"/>
          <p:nvPr/>
        </p:nvSpPr>
        <p:spPr bwMode="auto">
          <a:xfrm>
            <a:off x="4160519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Review Detail</a:t>
            </a:r>
            <a:endParaRPr/>
          </a:p>
        </p:txBody>
      </p:sp>
      <p:sp>
        <p:nvSpPr>
          <p:cNvPr id="609199557" name="TextBox 14"/>
          <p:cNvSpPr txBox="1"/>
          <p:nvPr/>
        </p:nvSpPr>
        <p:spPr bwMode="auto"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Klik pengajuan untuk melihat</a:t>
            </a:r>
            <a:br>
              <a:rPr/>
            </a:br>
            <a:r>
              <a:rPr/>
              <a:t>seluruh data yang diinput analis</a:t>
            </a:r>
            <a:endParaRPr/>
          </a:p>
        </p:txBody>
      </p:sp>
      <p:sp>
        <p:nvSpPr>
          <p:cNvPr id="1905011599" name="Right Arrow 15"/>
          <p:cNvSpPr/>
          <p:nvPr/>
        </p:nvSpPr>
        <p:spPr bwMode="auto">
          <a:xfrm>
            <a:off x="626364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753624" name="Rounded Rectangle 16"/>
          <p:cNvSpPr/>
          <p:nvPr/>
        </p:nvSpPr>
        <p:spPr bwMode="auto">
          <a:xfrm>
            <a:off x="640080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1789522" name="Oval 17"/>
          <p:cNvSpPr/>
          <p:nvPr/>
        </p:nvSpPr>
        <p:spPr bwMode="auto">
          <a:xfrm>
            <a:off x="6537960" y="242316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1514480873" name="TextBox 18"/>
          <p:cNvSpPr txBox="1"/>
          <p:nvPr/>
        </p:nvSpPr>
        <p:spPr bwMode="auto"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Verifikasi Dokumen</a:t>
            </a:r>
            <a:endParaRPr/>
          </a:p>
        </p:txBody>
      </p:sp>
      <p:sp>
        <p:nvSpPr>
          <p:cNvPr id="632661046" name="TextBox 19"/>
          <p:cNvSpPr txBox="1"/>
          <p:nvPr/>
        </p:nvSpPr>
        <p:spPr bwMode="auto"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Periksa kelengkapan data pemohon,</a:t>
            </a:r>
            <a:br>
              <a:rPr/>
            </a:br>
            <a:r>
              <a:rPr/>
              <a:t>kesesuaian dokumen pendukung</a:t>
            </a:r>
            <a:endParaRPr/>
          </a:p>
        </p:txBody>
      </p:sp>
      <p:sp>
        <p:nvSpPr>
          <p:cNvPr id="1654152997" name="Right Arrow 20"/>
          <p:cNvSpPr/>
          <p:nvPr/>
        </p:nvSpPr>
        <p:spPr bwMode="auto">
          <a:xfrm>
            <a:off x="909828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376208" name="Rounded Rectangle 21"/>
          <p:cNvSpPr/>
          <p:nvPr/>
        </p:nvSpPr>
        <p:spPr bwMode="auto">
          <a:xfrm>
            <a:off x="923544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2465481" name="Oval 22"/>
          <p:cNvSpPr/>
          <p:nvPr/>
        </p:nvSpPr>
        <p:spPr bwMode="auto">
          <a:xfrm>
            <a:off x="9372600" y="24231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4</a:t>
            </a:r>
            <a:endParaRPr/>
          </a:p>
        </p:txBody>
      </p:sp>
      <p:sp>
        <p:nvSpPr>
          <p:cNvPr id="777366866" name="TextBox 23"/>
          <p:cNvSpPr txBox="1"/>
          <p:nvPr/>
        </p:nvSpPr>
        <p:spPr bwMode="auto"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Cek Perhitungan</a:t>
            </a:r>
            <a:endParaRPr/>
          </a:p>
        </p:txBody>
      </p:sp>
      <p:sp>
        <p:nvSpPr>
          <p:cNvPr id="1419427103" name="TextBox 24"/>
          <p:cNvSpPr txBox="1"/>
          <p:nvPr/>
        </p:nvSpPr>
        <p:spPr bwMode="auto"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Verifikasi kalkulasi repayment</a:t>
            </a:r>
            <a:br>
              <a:rPr/>
            </a:br>
            <a:r>
              <a:rPr/>
              <a:t>capacity dan taksasi agunan</a:t>
            </a:r>
            <a:endParaRPr/>
          </a:p>
        </p:txBody>
      </p:sp>
      <p:sp>
        <p:nvSpPr>
          <p:cNvPr id="308954572" name="TextBox 25"/>
          <p:cNvSpPr txBox="1"/>
          <p:nvPr/>
        </p:nvSpPr>
        <p:spPr bwMode="auto"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KEPUTUSAN YANG DAPAT DIAMBIL:</a:t>
            </a:r>
            <a:endParaRPr/>
          </a:p>
        </p:txBody>
      </p:sp>
      <p:sp>
        <p:nvSpPr>
          <p:cNvPr id="1107822585" name="Rounded Rectangle 26"/>
          <p:cNvSpPr/>
          <p:nvPr/>
        </p:nvSpPr>
        <p:spPr bwMode="auto">
          <a:xfrm>
            <a:off x="731520" y="4206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8055162" name="Rounded Rectangle 27"/>
          <p:cNvSpPr/>
          <p:nvPr/>
        </p:nvSpPr>
        <p:spPr bwMode="auto">
          <a:xfrm>
            <a:off x="1463040" y="4389120"/>
            <a:ext cx="2011680" cy="45720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✅ SETUJU</a:t>
            </a:r>
            <a:endParaRPr/>
          </a:p>
        </p:txBody>
      </p:sp>
      <p:sp>
        <p:nvSpPr>
          <p:cNvPr id="2056649123" name="TextBox 28"/>
          <p:cNvSpPr txBox="1"/>
          <p:nvPr/>
        </p:nvSpPr>
        <p:spPr bwMode="auto">
          <a:xfrm>
            <a:off x="914400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/>
              <a:t>Pengajuan diteruskan ke</a:t>
            </a:r>
            <a:br>
              <a:rPr/>
            </a:br>
            <a:r>
              <a:rPr/>
              <a:t>KABAG KREDIT</a:t>
            </a:r>
            <a:br>
              <a:rPr/>
            </a:br>
            <a:r>
              <a:rPr/>
              <a:t>untuk evaluasi lebih lanjut</a:t>
            </a:r>
            <a:endParaRPr/>
          </a:p>
        </p:txBody>
      </p:sp>
      <p:sp>
        <p:nvSpPr>
          <p:cNvPr id="139615674" name="TextBox 29"/>
          <p:cNvSpPr txBox="1"/>
          <p:nvPr/>
        </p:nvSpPr>
        <p:spPr bwMode="auto">
          <a:xfrm>
            <a:off x="914400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rPr/>
              <a:t>Status: posisi_saat_ini → 'kabag_kredit'</a:t>
            </a:r>
            <a:endParaRPr/>
          </a:p>
        </p:txBody>
      </p:sp>
      <p:sp>
        <p:nvSpPr>
          <p:cNvPr id="1239259965" name="Rounded Rectangle 30"/>
          <p:cNvSpPr/>
          <p:nvPr/>
        </p:nvSpPr>
        <p:spPr bwMode="auto">
          <a:xfrm>
            <a:off x="4480559" y="4206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2731376" name="Rounded Rectangle 31"/>
          <p:cNvSpPr/>
          <p:nvPr/>
        </p:nvSpPr>
        <p:spPr bwMode="auto">
          <a:xfrm>
            <a:off x="5212079" y="4389120"/>
            <a:ext cx="2011680" cy="45720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🔄 REVISI</a:t>
            </a:r>
            <a:endParaRPr/>
          </a:p>
        </p:txBody>
      </p:sp>
      <p:sp>
        <p:nvSpPr>
          <p:cNvPr id="1983331414" name="TextBox 32"/>
          <p:cNvSpPr txBox="1"/>
          <p:nvPr/>
        </p:nvSpPr>
        <p:spPr bwMode="auto">
          <a:xfrm>
            <a:off x="4663439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/>
              <a:t>Pengajuan dikembalikan ke</a:t>
            </a:r>
            <a:br>
              <a:rPr/>
            </a:br>
            <a:r>
              <a:rPr/>
              <a:t>ANALIS</a:t>
            </a:r>
            <a:br>
              <a:rPr/>
            </a:br>
            <a:r>
              <a:rPr/>
              <a:t>untuk perbaikan data/dokumen</a:t>
            </a:r>
            <a:endParaRPr/>
          </a:p>
        </p:txBody>
      </p:sp>
      <p:sp>
        <p:nvSpPr>
          <p:cNvPr id="1307854395" name="TextBox 33"/>
          <p:cNvSpPr txBox="1"/>
          <p:nvPr/>
        </p:nvSpPr>
        <p:spPr bwMode="auto">
          <a:xfrm>
            <a:off x="4663439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rPr/>
              <a:t>Status: posisi_saat_ini → 'analis' | status → 'revisi'</a:t>
            </a:r>
            <a:endParaRPr/>
          </a:p>
        </p:txBody>
      </p:sp>
      <p:sp>
        <p:nvSpPr>
          <p:cNvPr id="1307264530" name="Rounded Rectangle 34"/>
          <p:cNvSpPr/>
          <p:nvPr/>
        </p:nvSpPr>
        <p:spPr bwMode="auto">
          <a:xfrm>
            <a:off x="8229598" y="4206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9068467" name="Rounded Rectangle 35"/>
          <p:cNvSpPr/>
          <p:nvPr/>
        </p:nvSpPr>
        <p:spPr bwMode="auto">
          <a:xfrm>
            <a:off x="8961118" y="4389120"/>
            <a:ext cx="2011680" cy="45720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❌ TOLAK</a:t>
            </a:r>
            <a:endParaRPr/>
          </a:p>
        </p:txBody>
      </p:sp>
      <p:sp>
        <p:nvSpPr>
          <p:cNvPr id="1657890595" name="TextBox 36"/>
          <p:cNvSpPr txBox="1"/>
          <p:nvPr/>
        </p:nvSpPr>
        <p:spPr bwMode="auto">
          <a:xfrm>
            <a:off x="8412478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/>
              <a:t>Pengajuan DITOLAK dan</a:t>
            </a:r>
            <a:br>
              <a:rPr/>
            </a:br>
            <a:r>
              <a:rPr/>
              <a:t>dikembalikan ke ANALIS</a:t>
            </a:r>
            <a:br>
              <a:rPr/>
            </a:br>
            <a:r>
              <a:rPr/>
              <a:t>dengan alasan penolakan</a:t>
            </a:r>
            <a:endParaRPr/>
          </a:p>
        </p:txBody>
      </p:sp>
      <p:sp>
        <p:nvSpPr>
          <p:cNvPr id="1842237545" name="TextBox 37"/>
          <p:cNvSpPr txBox="1"/>
          <p:nvPr/>
        </p:nvSpPr>
        <p:spPr bwMode="auto">
          <a:xfrm>
            <a:off x="8412478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rPr/>
              <a:t>Status: posisi_saat_ini → 'analis' | status → 'ditolak'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7258531" name="Oval 1"/>
          <p:cNvSpPr/>
          <p:nvPr/>
        </p:nvSpPr>
        <p:spPr bwMode="auto">
          <a:xfrm>
            <a:off x="731520" y="457200"/>
            <a:ext cx="914400" cy="914400"/>
          </a:xfrm>
          <a:prstGeom prst="ellipse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857867825" name="TextBox 2"/>
          <p:cNvSpPr txBox="1"/>
          <p:nvPr/>
        </p:nvSpPr>
        <p:spPr bwMode="auto"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KEPATUHAN</a:t>
            </a:r>
            <a:endParaRPr/>
          </a:p>
        </p:txBody>
      </p:sp>
      <p:sp>
        <p:nvSpPr>
          <p:cNvPr id="1707794819" name="TextBox 3"/>
          <p:cNvSpPr txBox="1"/>
          <p:nvPr/>
        </p:nvSpPr>
        <p:spPr bwMode="auto"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rPr/>
              <a:t>Singkronisasi &amp; Penilaian Dokumen Kepatuhan</a:t>
            </a:r>
            <a:endParaRPr/>
          </a:p>
        </p:txBody>
      </p:sp>
      <p:sp>
        <p:nvSpPr>
          <p:cNvPr id="1197530484" name="Rectangle 4"/>
          <p:cNvSpPr/>
          <p:nvPr/>
        </p:nvSpPr>
        <p:spPr bwMode="auto">
          <a:xfrm>
            <a:off x="731520" y="1554480"/>
            <a:ext cx="10698480" cy="36576"/>
          </a:xfrm>
          <a:prstGeom prst="rect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6973491" name="TextBox 5"/>
          <p:cNvSpPr txBox="1"/>
          <p:nvPr/>
        </p:nvSpPr>
        <p:spPr bwMode="auto"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ALUR KERJA KEPATUHAN:</a:t>
            </a:r>
            <a:endParaRPr/>
          </a:p>
        </p:txBody>
      </p:sp>
      <p:sp>
        <p:nvSpPr>
          <p:cNvPr id="1856851205" name="Rounded Rectangle 6"/>
          <p:cNvSpPr/>
          <p:nvPr/>
        </p:nvSpPr>
        <p:spPr bwMode="auto">
          <a:xfrm>
            <a:off x="73152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7075387" name="Oval 7"/>
          <p:cNvSpPr/>
          <p:nvPr/>
        </p:nvSpPr>
        <p:spPr bwMode="auto">
          <a:xfrm>
            <a:off x="868680" y="242316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2122305350" name="TextBox 8"/>
          <p:cNvSpPr txBox="1"/>
          <p:nvPr/>
        </p:nvSpPr>
        <p:spPr bwMode="auto"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Terima Data Kasubag</a:t>
            </a:r>
            <a:endParaRPr/>
          </a:p>
        </p:txBody>
      </p:sp>
      <p:sp>
        <p:nvSpPr>
          <p:cNvPr id="2044498239" name="TextBox 9"/>
          <p:cNvSpPr txBox="1"/>
          <p:nvPr/>
        </p:nvSpPr>
        <p:spPr bwMode="auto"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Sistem auto-populate form dari</a:t>
            </a:r>
            <a:br>
              <a:rPr/>
            </a:br>
            <a:r>
              <a:rPr/>
              <a:t>data diverifikasi Kasubag</a:t>
            </a:r>
            <a:endParaRPr/>
          </a:p>
        </p:txBody>
      </p:sp>
      <p:sp>
        <p:nvSpPr>
          <p:cNvPr id="755302964" name="Right Arrow 10"/>
          <p:cNvSpPr/>
          <p:nvPr/>
        </p:nvSpPr>
        <p:spPr bwMode="auto">
          <a:xfrm>
            <a:off x="342900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7670849" name="Rounded Rectangle 11"/>
          <p:cNvSpPr/>
          <p:nvPr/>
        </p:nvSpPr>
        <p:spPr bwMode="auto">
          <a:xfrm>
            <a:off x="356616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59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4694844" name="Oval 12"/>
          <p:cNvSpPr/>
          <p:nvPr/>
        </p:nvSpPr>
        <p:spPr bwMode="auto">
          <a:xfrm>
            <a:off x="3703320" y="2423160"/>
            <a:ext cx="365760" cy="365760"/>
          </a:xfrm>
          <a:prstGeom prst="ellipse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  <a:endParaRPr/>
          </a:p>
        </p:txBody>
      </p:sp>
      <p:sp>
        <p:nvSpPr>
          <p:cNvPr id="692902603" name="TextBox 13"/>
          <p:cNvSpPr txBox="1"/>
          <p:nvPr/>
        </p:nvSpPr>
        <p:spPr bwMode="auto">
          <a:xfrm>
            <a:off x="4160519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Review Kepatuhan</a:t>
            </a:r>
            <a:endParaRPr/>
          </a:p>
        </p:txBody>
      </p:sp>
      <p:sp>
        <p:nvSpPr>
          <p:cNvPr id="1776232416" name="TextBox 14"/>
          <p:cNvSpPr txBox="1"/>
          <p:nvPr/>
        </p:nvSpPr>
        <p:spPr bwMode="auto"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Periksa dokumen, checklist SOP,</a:t>
            </a:r>
            <a:br>
              <a:rPr/>
            </a:br>
            <a:r>
              <a:rPr/>
              <a:t>dan validasi syarat kredit</a:t>
            </a:r>
            <a:endParaRPr/>
          </a:p>
        </p:txBody>
      </p:sp>
      <p:sp>
        <p:nvSpPr>
          <p:cNvPr id="1439365253" name="Right Arrow 15"/>
          <p:cNvSpPr/>
          <p:nvPr/>
        </p:nvSpPr>
        <p:spPr bwMode="auto">
          <a:xfrm>
            <a:off x="626364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3394520" name="Rounded Rectangle 16"/>
          <p:cNvSpPr/>
          <p:nvPr/>
        </p:nvSpPr>
        <p:spPr bwMode="auto">
          <a:xfrm>
            <a:off x="640080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63251299" name="Oval 17"/>
          <p:cNvSpPr/>
          <p:nvPr/>
        </p:nvSpPr>
        <p:spPr bwMode="auto">
          <a:xfrm>
            <a:off x="6537960" y="24231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347990879" name="TextBox 18"/>
          <p:cNvSpPr txBox="1"/>
          <p:nvPr/>
        </p:nvSpPr>
        <p:spPr bwMode="auto"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Singkronisasi Data</a:t>
            </a:r>
            <a:endParaRPr/>
          </a:p>
        </p:txBody>
      </p:sp>
      <p:sp>
        <p:nvSpPr>
          <p:cNvPr id="176533009" name="TextBox 19"/>
          <p:cNvSpPr txBox="1"/>
          <p:nvPr/>
        </p:nvSpPr>
        <p:spPr bwMode="auto"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Melengkapi fasilitas kredit,</a:t>
            </a:r>
            <a:br>
              <a:rPr/>
            </a:br>
            <a:r>
              <a:rPr/>
              <a:t>catatan, &amp; kesimpulan final</a:t>
            </a:r>
            <a:endParaRPr/>
          </a:p>
        </p:txBody>
      </p:sp>
      <p:sp>
        <p:nvSpPr>
          <p:cNvPr id="972495044" name="Right Arrow 20"/>
          <p:cNvSpPr/>
          <p:nvPr/>
        </p:nvSpPr>
        <p:spPr bwMode="auto">
          <a:xfrm>
            <a:off x="909828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6956314" name="Rounded Rectangle 21"/>
          <p:cNvSpPr/>
          <p:nvPr/>
        </p:nvSpPr>
        <p:spPr bwMode="auto">
          <a:xfrm>
            <a:off x="923544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4370599" name="Oval 22"/>
          <p:cNvSpPr/>
          <p:nvPr/>
        </p:nvSpPr>
        <p:spPr bwMode="auto">
          <a:xfrm>
            <a:off x="9372600" y="242316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4</a:t>
            </a:r>
            <a:endParaRPr/>
          </a:p>
        </p:txBody>
      </p:sp>
      <p:sp>
        <p:nvSpPr>
          <p:cNvPr id="444119934" name="TextBox 23"/>
          <p:cNvSpPr txBox="1"/>
          <p:nvPr/>
        </p:nvSpPr>
        <p:spPr bwMode="auto"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Simpan Assessment</a:t>
            </a:r>
            <a:endParaRPr/>
          </a:p>
        </p:txBody>
      </p:sp>
      <p:sp>
        <p:nvSpPr>
          <p:cNvPr id="1419942705" name="TextBox 24"/>
          <p:cNvSpPr txBox="1"/>
          <p:nvPr/>
        </p:nvSpPr>
        <p:spPr bwMode="auto"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Data tersimpan di database,</a:t>
            </a:r>
            <a:br>
              <a:rPr/>
            </a:br>
            <a:r>
              <a:rPr/>
              <a:t>siap direview oleh Komite</a:t>
            </a:r>
            <a:endParaRPr/>
          </a:p>
        </p:txBody>
      </p:sp>
      <p:sp>
        <p:nvSpPr>
          <p:cNvPr id="1520600292" name="TextBox 25"/>
          <p:cNvSpPr txBox="1"/>
          <p:nvPr/>
        </p:nvSpPr>
        <p:spPr bwMode="auto"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FITUR UTAMA PENILAIAN KEPATUHAN:</a:t>
            </a:r>
            <a:endParaRPr/>
          </a:p>
        </p:txBody>
      </p:sp>
      <p:sp>
        <p:nvSpPr>
          <p:cNvPr id="1597382079" name="Rounded Rectangle 26"/>
          <p:cNvSpPr/>
          <p:nvPr/>
        </p:nvSpPr>
        <p:spPr bwMode="auto">
          <a:xfrm>
            <a:off x="73152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7739572" name="TextBox 27"/>
          <p:cNvSpPr txBox="1"/>
          <p:nvPr/>
        </p:nvSpPr>
        <p:spPr bwMode="auto">
          <a:xfrm>
            <a:off x="91440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📝</a:t>
            </a:r>
            <a:endParaRPr/>
          </a:p>
        </p:txBody>
      </p:sp>
      <p:sp>
        <p:nvSpPr>
          <p:cNvPr id="966481492" name="TextBox 28"/>
          <p:cNvSpPr txBox="1"/>
          <p:nvPr/>
        </p:nvSpPr>
        <p:spPr bwMode="auto">
          <a:xfrm>
            <a:off x="9144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6B6D4"/>
                </a:solidFill>
                <a:latin typeface="Calibri"/>
              </a:defRPr>
            </a:pPr>
            <a:r>
              <a:rPr/>
              <a:t>Auto-Populate Data</a:t>
            </a:r>
            <a:endParaRPr/>
          </a:p>
        </p:txBody>
      </p:sp>
      <p:sp>
        <p:nvSpPr>
          <p:cNvPr id="1083197650" name="TextBox 29"/>
          <p:cNvSpPr txBox="1"/>
          <p:nvPr/>
        </p:nvSpPr>
        <p:spPr bwMode="auto">
          <a:xfrm>
            <a:off x="91440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Data dari Analis langsung muncul</a:t>
            </a:r>
            <a:br>
              <a:rPr/>
            </a:br>
            <a:r>
              <a:rPr/>
              <a:t>di form Kepatuhan (tidak perlu</a:t>
            </a:r>
            <a:br>
              <a:rPr/>
            </a:br>
            <a:r>
              <a:rPr/>
              <a:t>input ulang).</a:t>
            </a:r>
            <a:endParaRPr/>
          </a:p>
        </p:txBody>
      </p:sp>
      <p:sp>
        <p:nvSpPr>
          <p:cNvPr id="152108980" name="Rounded Rectangle 30"/>
          <p:cNvSpPr/>
          <p:nvPr/>
        </p:nvSpPr>
        <p:spPr bwMode="auto">
          <a:xfrm>
            <a:off x="356616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059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221873" name="TextBox 31"/>
          <p:cNvSpPr txBox="1"/>
          <p:nvPr/>
        </p:nvSpPr>
        <p:spPr bwMode="auto">
          <a:xfrm>
            <a:off x="374904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🔄</a:t>
            </a:r>
            <a:endParaRPr/>
          </a:p>
        </p:txBody>
      </p:sp>
      <p:sp>
        <p:nvSpPr>
          <p:cNvPr id="987401910" name="TextBox 32"/>
          <p:cNvSpPr txBox="1"/>
          <p:nvPr/>
        </p:nvSpPr>
        <p:spPr bwMode="auto">
          <a:xfrm>
            <a:off x="374904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E6F"/>
                </a:solidFill>
                <a:latin typeface="Calibri"/>
              </a:defRPr>
            </a:pPr>
            <a:r>
              <a:rPr/>
              <a:t>AJAX Submission</a:t>
            </a:r>
            <a:endParaRPr/>
          </a:p>
        </p:txBody>
      </p:sp>
      <p:sp>
        <p:nvSpPr>
          <p:cNvPr id="1086313394" name="TextBox 33"/>
          <p:cNvSpPr txBox="1"/>
          <p:nvPr/>
        </p:nvSpPr>
        <p:spPr bwMode="auto">
          <a:xfrm>
            <a:off x="374904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Penyimpanan data real-time</a:t>
            </a:r>
            <a:br>
              <a:rPr/>
            </a:br>
            <a:r>
              <a:rPr/>
              <a:t>tanpa loading ulang halaman.</a:t>
            </a:r>
            <a:endParaRPr/>
          </a:p>
        </p:txBody>
      </p:sp>
      <p:sp>
        <p:nvSpPr>
          <p:cNvPr id="1472901456" name="Rounded Rectangle 34"/>
          <p:cNvSpPr/>
          <p:nvPr/>
        </p:nvSpPr>
        <p:spPr bwMode="auto">
          <a:xfrm>
            <a:off x="640080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12907718" name="TextBox 35"/>
          <p:cNvSpPr txBox="1"/>
          <p:nvPr/>
        </p:nvSpPr>
        <p:spPr bwMode="auto">
          <a:xfrm>
            <a:off x="65836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🔍</a:t>
            </a:r>
            <a:endParaRPr/>
          </a:p>
        </p:txBody>
      </p:sp>
      <p:sp>
        <p:nvSpPr>
          <p:cNvPr id="168558320" name="TextBox 36"/>
          <p:cNvSpPr txBox="1"/>
          <p:nvPr/>
        </p:nvSpPr>
        <p:spPr bwMode="auto">
          <a:xfrm>
            <a:off x="658368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rPr/>
              <a:t>Validasi Dokumen</a:t>
            </a:r>
            <a:endParaRPr/>
          </a:p>
        </p:txBody>
      </p:sp>
      <p:sp>
        <p:nvSpPr>
          <p:cNvPr id="1298461184" name="TextBox 37"/>
          <p:cNvSpPr txBox="1"/>
          <p:nvPr/>
        </p:nvSpPr>
        <p:spPr bwMode="auto">
          <a:xfrm>
            <a:off x="658368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Memastikan semua syarat legal,</a:t>
            </a:r>
            <a:br>
              <a:rPr/>
            </a:br>
            <a:r>
              <a:rPr/>
              <a:t>agunan, dan administrasi telah</a:t>
            </a:r>
            <a:br>
              <a:rPr/>
            </a:br>
            <a:r>
              <a:rPr/>
              <a:t>sesuai SOP Bank.</a:t>
            </a:r>
            <a:endParaRPr/>
          </a:p>
        </p:txBody>
      </p:sp>
      <p:sp>
        <p:nvSpPr>
          <p:cNvPr id="867342001" name="Rounded Rectangle 38"/>
          <p:cNvSpPr/>
          <p:nvPr/>
        </p:nvSpPr>
        <p:spPr bwMode="auto">
          <a:xfrm>
            <a:off x="923544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2611769" name="TextBox 39"/>
          <p:cNvSpPr txBox="1"/>
          <p:nvPr/>
        </p:nvSpPr>
        <p:spPr bwMode="auto">
          <a:xfrm>
            <a:off x="941832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📊</a:t>
            </a:r>
            <a:endParaRPr/>
          </a:p>
        </p:txBody>
      </p:sp>
      <p:sp>
        <p:nvSpPr>
          <p:cNvPr id="569947619" name="TextBox 40"/>
          <p:cNvSpPr txBox="1"/>
          <p:nvPr/>
        </p:nvSpPr>
        <p:spPr bwMode="auto">
          <a:xfrm>
            <a:off x="941832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rPr/>
              <a:t>Tersentralisasi</a:t>
            </a:r>
            <a:endParaRPr/>
          </a:p>
        </p:txBody>
      </p:sp>
      <p:sp>
        <p:nvSpPr>
          <p:cNvPr id="1421299054" name="TextBox 41"/>
          <p:cNvSpPr txBox="1"/>
          <p:nvPr/>
        </p:nvSpPr>
        <p:spPr bwMode="auto">
          <a:xfrm>
            <a:off x="941832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Hasil assessment langsung</a:t>
            </a:r>
            <a:br>
              <a:rPr/>
            </a:br>
            <a:r>
              <a:rPr/>
              <a:t>terhubung ke pengajuan kredit</a:t>
            </a:r>
            <a:br>
              <a:rPr/>
            </a:br>
            <a:r>
              <a:rPr/>
              <a:t>dan bisa dilihat Kasubag/Kabag.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1805102" name="Oval 1"/>
          <p:cNvSpPr/>
          <p:nvPr/>
        </p:nvSpPr>
        <p:spPr bwMode="auto">
          <a:xfrm>
            <a:off x="731520" y="457200"/>
            <a:ext cx="914400" cy="9144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/>
              <a:t>5</a:t>
            </a:r>
            <a:endParaRPr/>
          </a:p>
        </p:txBody>
      </p:sp>
      <p:sp>
        <p:nvSpPr>
          <p:cNvPr id="1556984170" name="TextBox 2"/>
          <p:cNvSpPr txBox="1"/>
          <p:nvPr/>
        </p:nvSpPr>
        <p:spPr bwMode="auto"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KABAG ANALIS</a:t>
            </a:r>
            <a:endParaRPr/>
          </a:p>
        </p:txBody>
      </p:sp>
      <p:sp>
        <p:nvSpPr>
          <p:cNvPr id="1358547162" name="TextBox 3"/>
          <p:cNvSpPr txBox="1"/>
          <p:nvPr/>
        </p:nvSpPr>
        <p:spPr bwMode="auto"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rPr/>
              <a:t>Evaluasi Risiko Kredit &amp; Penilaian Agunan</a:t>
            </a:r>
            <a:endParaRPr/>
          </a:p>
        </p:txBody>
      </p:sp>
      <p:sp>
        <p:nvSpPr>
          <p:cNvPr id="999100037" name="Rectangle 4"/>
          <p:cNvSpPr/>
          <p:nvPr/>
        </p:nvSpPr>
        <p:spPr bwMode="auto">
          <a:xfrm>
            <a:off x="731520" y="1554480"/>
            <a:ext cx="1069848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709402" name="TextBox 5"/>
          <p:cNvSpPr txBox="1"/>
          <p:nvPr/>
        </p:nvSpPr>
        <p:spPr bwMode="auto"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ALUR KERJA KABAG ANALIS:</a:t>
            </a:r>
            <a:endParaRPr/>
          </a:p>
        </p:txBody>
      </p:sp>
      <p:sp>
        <p:nvSpPr>
          <p:cNvPr id="1152759317" name="Rounded Rectangle 6"/>
          <p:cNvSpPr/>
          <p:nvPr/>
        </p:nvSpPr>
        <p:spPr bwMode="auto">
          <a:xfrm>
            <a:off x="73152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46045593" name="Oval 7"/>
          <p:cNvSpPr/>
          <p:nvPr/>
        </p:nvSpPr>
        <p:spPr bwMode="auto">
          <a:xfrm>
            <a:off x="868680" y="242316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716501820" name="TextBox 8"/>
          <p:cNvSpPr txBox="1"/>
          <p:nvPr/>
        </p:nvSpPr>
        <p:spPr bwMode="auto"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Dashboard Inbox</a:t>
            </a:r>
            <a:endParaRPr/>
          </a:p>
        </p:txBody>
      </p:sp>
      <p:sp>
        <p:nvSpPr>
          <p:cNvPr id="310079175" name="TextBox 9"/>
          <p:cNvSpPr txBox="1"/>
          <p:nvPr/>
        </p:nvSpPr>
        <p:spPr bwMode="auto"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Menerima pengajuan yang sudah</a:t>
            </a:r>
            <a:br>
              <a:rPr/>
            </a:br>
            <a:r>
              <a:rPr/>
              <a:t>disetujui oleh Kepatuhan</a:t>
            </a:r>
            <a:endParaRPr/>
          </a:p>
        </p:txBody>
      </p:sp>
      <p:sp>
        <p:nvSpPr>
          <p:cNvPr id="1632687560" name="Right Arrow 10"/>
          <p:cNvSpPr/>
          <p:nvPr/>
        </p:nvSpPr>
        <p:spPr bwMode="auto">
          <a:xfrm>
            <a:off x="342900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8419208" name="Rounded Rectangle 11"/>
          <p:cNvSpPr/>
          <p:nvPr/>
        </p:nvSpPr>
        <p:spPr bwMode="auto">
          <a:xfrm>
            <a:off x="356616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8261543" name="Oval 12"/>
          <p:cNvSpPr/>
          <p:nvPr/>
        </p:nvSpPr>
        <p:spPr bwMode="auto">
          <a:xfrm>
            <a:off x="3703320" y="242316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  <a:endParaRPr/>
          </a:p>
        </p:txBody>
      </p:sp>
      <p:sp>
        <p:nvSpPr>
          <p:cNvPr id="2147178878" name="TextBox 13"/>
          <p:cNvSpPr txBox="1"/>
          <p:nvPr/>
        </p:nvSpPr>
        <p:spPr bwMode="auto">
          <a:xfrm>
            <a:off x="4160519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Evaluasi Risiko</a:t>
            </a:r>
            <a:endParaRPr/>
          </a:p>
        </p:txBody>
      </p:sp>
      <p:sp>
        <p:nvSpPr>
          <p:cNvPr id="98993680" name="TextBox 14"/>
          <p:cNvSpPr txBox="1"/>
          <p:nvPr/>
        </p:nvSpPr>
        <p:spPr bwMode="auto"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Analisis mendalam terhadap risiko</a:t>
            </a:r>
            <a:br>
              <a:rPr/>
            </a:br>
            <a:r>
              <a:rPr/>
              <a:t>kredit, kelayakan usaha nasabah</a:t>
            </a:r>
            <a:endParaRPr/>
          </a:p>
        </p:txBody>
      </p:sp>
      <p:sp>
        <p:nvSpPr>
          <p:cNvPr id="1814688512" name="Right Arrow 15"/>
          <p:cNvSpPr/>
          <p:nvPr/>
        </p:nvSpPr>
        <p:spPr bwMode="auto">
          <a:xfrm>
            <a:off x="626364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9791281" name="Rounded Rectangle 16"/>
          <p:cNvSpPr/>
          <p:nvPr/>
        </p:nvSpPr>
        <p:spPr bwMode="auto">
          <a:xfrm>
            <a:off x="640080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87106" name="Oval 17"/>
          <p:cNvSpPr/>
          <p:nvPr/>
        </p:nvSpPr>
        <p:spPr bwMode="auto">
          <a:xfrm>
            <a:off x="6537960" y="24231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210889746" name="TextBox 18"/>
          <p:cNvSpPr txBox="1"/>
          <p:nvPr/>
        </p:nvSpPr>
        <p:spPr bwMode="auto"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Review Agunan</a:t>
            </a:r>
            <a:endParaRPr/>
          </a:p>
        </p:txBody>
      </p:sp>
      <p:sp>
        <p:nvSpPr>
          <p:cNvPr id="425866556" name="TextBox 19"/>
          <p:cNvSpPr txBox="1"/>
          <p:nvPr/>
        </p:nvSpPr>
        <p:spPr bwMode="auto"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Verifikasi nilai taksasi agunan</a:t>
            </a:r>
            <a:br>
              <a:rPr/>
            </a:br>
            <a:r>
              <a:rPr/>
              <a:t>dan kecukupan jaminan</a:t>
            </a:r>
            <a:endParaRPr/>
          </a:p>
        </p:txBody>
      </p:sp>
      <p:sp>
        <p:nvSpPr>
          <p:cNvPr id="1984950840" name="Right Arrow 20"/>
          <p:cNvSpPr/>
          <p:nvPr/>
        </p:nvSpPr>
        <p:spPr bwMode="auto">
          <a:xfrm>
            <a:off x="9098280" y="269748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4730873" name="Rounded Rectangle 21"/>
          <p:cNvSpPr/>
          <p:nvPr/>
        </p:nvSpPr>
        <p:spPr bwMode="auto">
          <a:xfrm>
            <a:off x="9235440" y="2286000"/>
            <a:ext cx="2651760" cy="10972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59255991" name="Oval 22"/>
          <p:cNvSpPr/>
          <p:nvPr/>
        </p:nvSpPr>
        <p:spPr bwMode="auto">
          <a:xfrm>
            <a:off x="9372600" y="242316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4</a:t>
            </a:r>
            <a:endParaRPr/>
          </a:p>
        </p:txBody>
      </p:sp>
      <p:sp>
        <p:nvSpPr>
          <p:cNvPr id="165510405" name="TextBox 23"/>
          <p:cNvSpPr txBox="1"/>
          <p:nvPr/>
        </p:nvSpPr>
        <p:spPr bwMode="auto"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Keputusan</a:t>
            </a:r>
            <a:endParaRPr/>
          </a:p>
        </p:txBody>
      </p:sp>
      <p:sp>
        <p:nvSpPr>
          <p:cNvPr id="726809881" name="TextBox 24"/>
          <p:cNvSpPr txBox="1"/>
          <p:nvPr/>
        </p:nvSpPr>
        <p:spPr bwMode="auto"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Memberikan keputusan: Setuju,</a:t>
            </a:r>
            <a:br>
              <a:rPr/>
            </a:br>
            <a:r>
              <a:rPr/>
              <a:t>Revisi, atau Tolak</a:t>
            </a:r>
            <a:endParaRPr/>
          </a:p>
        </p:txBody>
      </p:sp>
      <p:sp>
        <p:nvSpPr>
          <p:cNvPr id="1145154974" name="TextBox 25"/>
          <p:cNvSpPr txBox="1"/>
          <p:nvPr/>
        </p:nvSpPr>
        <p:spPr bwMode="auto"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FOKUS EVALUASI KABAG ANALIS:</a:t>
            </a:r>
            <a:endParaRPr/>
          </a:p>
        </p:txBody>
      </p:sp>
      <p:sp>
        <p:nvSpPr>
          <p:cNvPr id="732352047" name="Rounded Rectangle 26"/>
          <p:cNvSpPr/>
          <p:nvPr/>
        </p:nvSpPr>
        <p:spPr bwMode="auto">
          <a:xfrm>
            <a:off x="73152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573418" name="TextBox 27"/>
          <p:cNvSpPr txBox="1"/>
          <p:nvPr/>
        </p:nvSpPr>
        <p:spPr bwMode="auto">
          <a:xfrm>
            <a:off x="91440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💰</a:t>
            </a:r>
            <a:endParaRPr/>
          </a:p>
        </p:txBody>
      </p:sp>
      <p:sp>
        <p:nvSpPr>
          <p:cNvPr id="1275593395" name="TextBox 28"/>
          <p:cNvSpPr txBox="1"/>
          <p:nvPr/>
        </p:nvSpPr>
        <p:spPr bwMode="auto">
          <a:xfrm>
            <a:off x="9144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rPr/>
              <a:t>Analisis Keuangan</a:t>
            </a:r>
            <a:endParaRPr/>
          </a:p>
        </p:txBody>
      </p:sp>
      <p:sp>
        <p:nvSpPr>
          <p:cNvPr id="1186442091" name="TextBox 29"/>
          <p:cNvSpPr txBox="1"/>
          <p:nvPr/>
        </p:nvSpPr>
        <p:spPr bwMode="auto">
          <a:xfrm>
            <a:off x="91440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Mengevaluasi rasio keuangan nasabah,</a:t>
            </a:r>
            <a:br>
              <a:rPr/>
            </a:br>
            <a:r>
              <a:rPr/>
              <a:t>Debt Service Ratio (DSR), dan</a:t>
            </a:r>
            <a:br>
              <a:rPr/>
            </a:br>
            <a:r>
              <a:rPr/>
              <a:t>Repayment Capacity sesuai standar bank</a:t>
            </a:r>
            <a:endParaRPr/>
          </a:p>
        </p:txBody>
      </p:sp>
      <p:sp>
        <p:nvSpPr>
          <p:cNvPr id="505328844" name="Rounded Rectangle 30"/>
          <p:cNvSpPr/>
          <p:nvPr/>
        </p:nvSpPr>
        <p:spPr bwMode="auto">
          <a:xfrm>
            <a:off x="356616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9827686" name="TextBox 31"/>
          <p:cNvSpPr txBox="1"/>
          <p:nvPr/>
        </p:nvSpPr>
        <p:spPr bwMode="auto">
          <a:xfrm>
            <a:off x="374904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🏠</a:t>
            </a:r>
            <a:endParaRPr/>
          </a:p>
        </p:txBody>
      </p:sp>
      <p:sp>
        <p:nvSpPr>
          <p:cNvPr id="797976313" name="TextBox 32"/>
          <p:cNvSpPr txBox="1"/>
          <p:nvPr/>
        </p:nvSpPr>
        <p:spPr bwMode="auto">
          <a:xfrm>
            <a:off x="374904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rPr/>
              <a:t>Penilaian Agunan</a:t>
            </a:r>
            <a:endParaRPr/>
          </a:p>
        </p:txBody>
      </p:sp>
      <p:sp>
        <p:nvSpPr>
          <p:cNvPr id="459884475" name="TextBox 33"/>
          <p:cNvSpPr txBox="1"/>
          <p:nvPr/>
        </p:nvSpPr>
        <p:spPr bwMode="auto">
          <a:xfrm>
            <a:off x="374904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Memverifikasi nilai taksasi agunan,</a:t>
            </a:r>
            <a:br>
              <a:rPr/>
            </a:br>
            <a:r>
              <a:rPr/>
              <a:t>rasio Loan to Value (LTV),</a:t>
            </a:r>
            <a:br>
              <a:rPr/>
            </a:br>
            <a:r>
              <a:rPr/>
              <a:t>dan kelayakan jaminan yang diajukan</a:t>
            </a:r>
            <a:endParaRPr/>
          </a:p>
        </p:txBody>
      </p:sp>
      <p:sp>
        <p:nvSpPr>
          <p:cNvPr id="233083901" name="Rounded Rectangle 34"/>
          <p:cNvSpPr/>
          <p:nvPr/>
        </p:nvSpPr>
        <p:spPr bwMode="auto">
          <a:xfrm>
            <a:off x="640080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5373509" name="TextBox 35"/>
          <p:cNvSpPr txBox="1"/>
          <p:nvPr/>
        </p:nvSpPr>
        <p:spPr bwMode="auto">
          <a:xfrm>
            <a:off x="65836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📊</a:t>
            </a:r>
            <a:endParaRPr/>
          </a:p>
        </p:txBody>
      </p:sp>
      <p:sp>
        <p:nvSpPr>
          <p:cNvPr id="1847942006" name="TextBox 36"/>
          <p:cNvSpPr txBox="1"/>
          <p:nvPr/>
        </p:nvSpPr>
        <p:spPr bwMode="auto">
          <a:xfrm>
            <a:off x="658368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rPr/>
              <a:t>Risiko Kredit</a:t>
            </a:r>
            <a:endParaRPr/>
          </a:p>
        </p:txBody>
      </p:sp>
      <p:sp>
        <p:nvSpPr>
          <p:cNvPr id="308785924" name="TextBox 37"/>
          <p:cNvSpPr txBox="1"/>
          <p:nvPr/>
        </p:nvSpPr>
        <p:spPr bwMode="auto">
          <a:xfrm>
            <a:off x="658368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Menilai risiko kredit berdasarkan</a:t>
            </a:r>
            <a:br>
              <a:rPr/>
            </a:br>
            <a:r>
              <a:rPr/>
              <a:t>analisa 6C yang dilakukan analis,</a:t>
            </a:r>
            <a:br>
              <a:rPr/>
            </a:br>
            <a:r>
              <a:rPr/>
              <a:t>kelayakan struktur kredit</a:t>
            </a:r>
            <a:endParaRPr/>
          </a:p>
        </p:txBody>
      </p:sp>
      <p:sp>
        <p:nvSpPr>
          <p:cNvPr id="493266776" name="Rounded Rectangle 38"/>
          <p:cNvSpPr/>
          <p:nvPr/>
        </p:nvSpPr>
        <p:spPr bwMode="auto">
          <a:xfrm>
            <a:off x="9235440" y="4206240"/>
            <a:ext cx="265176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9527121" name="TextBox 39"/>
          <p:cNvSpPr txBox="1"/>
          <p:nvPr/>
        </p:nvSpPr>
        <p:spPr bwMode="auto">
          <a:xfrm>
            <a:off x="941832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rPr/>
              <a:t>📋</a:t>
            </a:r>
            <a:endParaRPr/>
          </a:p>
        </p:txBody>
      </p:sp>
      <p:sp>
        <p:nvSpPr>
          <p:cNvPr id="1239608408" name="TextBox 40"/>
          <p:cNvSpPr txBox="1"/>
          <p:nvPr/>
        </p:nvSpPr>
        <p:spPr bwMode="auto">
          <a:xfrm>
            <a:off x="941832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Calibri"/>
              </a:defRPr>
            </a:pPr>
            <a:r>
              <a:rPr/>
              <a:t>Kepatuhan</a:t>
            </a:r>
            <a:endParaRPr/>
          </a:p>
        </p:txBody>
      </p:sp>
      <p:sp>
        <p:nvSpPr>
          <p:cNvPr id="1440657389" name="TextBox 41"/>
          <p:cNvSpPr txBox="1"/>
          <p:nvPr/>
        </p:nvSpPr>
        <p:spPr bwMode="auto">
          <a:xfrm>
            <a:off x="941832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Memastikan kesesuaian dengan</a:t>
            </a:r>
            <a:br>
              <a:rPr/>
            </a:br>
            <a:r>
              <a:rPr/>
              <a:t>kebijakan internal bank dan</a:t>
            </a:r>
            <a:br>
              <a:rPr/>
            </a:br>
            <a:r>
              <a:rPr/>
              <a:t>regulasi OJK yang berlaku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024193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1176670" name="TextBox 2"/>
          <p:cNvSpPr txBox="1"/>
          <p:nvPr/>
        </p:nvSpPr>
        <p:spPr bwMode="auto"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rPr/>
              <a:t>PROSES KEPUTUSAN APPROVAL (Kasubag / Kabag)</a:t>
            </a:r>
            <a:endParaRPr/>
          </a:p>
        </p:txBody>
      </p:sp>
      <p:sp>
        <p:nvSpPr>
          <p:cNvPr id="277988195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9134609" name="TextBox 4"/>
          <p:cNvSpPr txBox="1"/>
          <p:nvPr/>
        </p:nvSpPr>
        <p:spPr bwMode="auto"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rPr/>
              <a:t>Tampilan halaman review dan aksi keputusan yang tersedia pada setiap level approval:</a:t>
            </a:r>
            <a:endParaRPr/>
          </a:p>
        </p:txBody>
      </p:sp>
      <p:pic>
        <p:nvPicPr>
          <p:cNvPr id="943408275" name="Picture 5" descr="approval_workflow_1784769114724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463040"/>
            <a:ext cx="11247120" cy="5029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37043" name="Oval 1"/>
          <p:cNvSpPr/>
          <p:nvPr/>
        </p:nvSpPr>
        <p:spPr bwMode="auto">
          <a:xfrm>
            <a:off x="731520" y="457200"/>
            <a:ext cx="914400" cy="9144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/>
              <a:t>6</a:t>
            </a:r>
            <a:endParaRPr/>
          </a:p>
        </p:txBody>
      </p:sp>
      <p:sp>
        <p:nvSpPr>
          <p:cNvPr id="1296462513" name="TextBox 2"/>
          <p:cNvSpPr txBox="1"/>
          <p:nvPr/>
        </p:nvSpPr>
        <p:spPr bwMode="auto"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KADIV BISNIS</a:t>
            </a:r>
            <a:endParaRPr/>
          </a:p>
        </p:txBody>
      </p:sp>
      <p:sp>
        <p:nvSpPr>
          <p:cNvPr id="2147447855" name="TextBox 3"/>
          <p:cNvSpPr txBox="1"/>
          <p:nvPr/>
        </p:nvSpPr>
        <p:spPr bwMode="auto"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rPr/>
              <a:t>Approval Divisi &amp; Threshold Keputusan Kredit</a:t>
            </a:r>
            <a:endParaRPr/>
          </a:p>
        </p:txBody>
      </p:sp>
      <p:sp>
        <p:nvSpPr>
          <p:cNvPr id="61197882" name="Rectangle 4"/>
          <p:cNvSpPr/>
          <p:nvPr/>
        </p:nvSpPr>
        <p:spPr bwMode="auto">
          <a:xfrm>
            <a:off x="731520" y="1554480"/>
            <a:ext cx="1069848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0958799" name="Rounded Rectangle 5"/>
          <p:cNvSpPr/>
          <p:nvPr/>
        </p:nvSpPr>
        <p:spPr bwMode="auto">
          <a:xfrm>
            <a:off x="731520" y="1920240"/>
            <a:ext cx="10698480" cy="137160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1370827" name="TextBox 6"/>
          <p:cNvSpPr txBox="1"/>
          <p:nvPr/>
        </p:nvSpPr>
        <p:spPr bwMode="auto"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rPr/>
              <a:t>⚡ ATURAN THRESHOLD JUMLAH KREDIT:</a:t>
            </a:r>
            <a:endParaRPr/>
          </a:p>
        </p:txBody>
      </p:sp>
      <p:sp>
        <p:nvSpPr>
          <p:cNvPr id="1885823008" name="Rounded Rectangle 7"/>
          <p:cNvSpPr/>
          <p:nvPr/>
        </p:nvSpPr>
        <p:spPr bwMode="auto">
          <a:xfrm>
            <a:off x="1097280" y="2468880"/>
            <a:ext cx="4572000" cy="6400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/>
              <a:t>Kredit &lt; Rp 500 Juta → KADIV = FINAL APPROVAL</a:t>
            </a:r>
            <a:endParaRPr/>
          </a:p>
        </p:txBody>
      </p:sp>
      <p:sp>
        <p:nvSpPr>
          <p:cNvPr id="354487980" name="Rounded Rectangle 8"/>
          <p:cNvSpPr/>
          <p:nvPr/>
        </p:nvSpPr>
        <p:spPr bwMode="auto">
          <a:xfrm>
            <a:off x="5943600" y="2468880"/>
            <a:ext cx="5029200" cy="6400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/>
              <a:t>Kredit ≥ Rp 500 Juta → Eskalasi ke DIREKSI</a:t>
            </a:r>
            <a:endParaRPr/>
          </a:p>
        </p:txBody>
      </p:sp>
      <p:sp>
        <p:nvSpPr>
          <p:cNvPr id="251535513" name="TextBox 9"/>
          <p:cNvSpPr txBox="1"/>
          <p:nvPr/>
        </p:nvSpPr>
        <p:spPr bwMode="auto"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ALUR KERJA KADIV BISNIS:</a:t>
            </a:r>
            <a:endParaRPr/>
          </a:p>
        </p:txBody>
      </p:sp>
      <p:sp>
        <p:nvSpPr>
          <p:cNvPr id="186721123" name="Rounded Rectangle 10"/>
          <p:cNvSpPr/>
          <p:nvPr/>
        </p:nvSpPr>
        <p:spPr bwMode="auto">
          <a:xfrm>
            <a:off x="731520" y="4023360"/>
            <a:ext cx="2651760" cy="1280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4478742" name="Oval 11"/>
          <p:cNvSpPr/>
          <p:nvPr/>
        </p:nvSpPr>
        <p:spPr bwMode="auto">
          <a:xfrm>
            <a:off x="868680" y="4160519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1664860215" name="TextBox 12"/>
          <p:cNvSpPr txBox="1"/>
          <p:nvPr/>
        </p:nvSpPr>
        <p:spPr bwMode="auto">
          <a:xfrm>
            <a:off x="1325880" y="4160519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Terima Pengajuan</a:t>
            </a:r>
            <a:endParaRPr/>
          </a:p>
        </p:txBody>
      </p:sp>
      <p:sp>
        <p:nvSpPr>
          <p:cNvPr id="1483851262" name="TextBox 13"/>
          <p:cNvSpPr txBox="1"/>
          <p:nvPr/>
        </p:nvSpPr>
        <p:spPr bwMode="auto">
          <a:xfrm>
            <a:off x="86868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Menerima pengajuan dari Kabag Analis</a:t>
            </a:r>
            <a:br>
              <a:rPr/>
            </a:br>
            <a:r>
              <a:rPr/>
              <a:t>Kredit yang sudah disetujui</a:t>
            </a:r>
            <a:endParaRPr/>
          </a:p>
        </p:txBody>
      </p:sp>
      <p:sp>
        <p:nvSpPr>
          <p:cNvPr id="1101676831" name="Right Arrow 14"/>
          <p:cNvSpPr/>
          <p:nvPr/>
        </p:nvSpPr>
        <p:spPr bwMode="auto">
          <a:xfrm>
            <a:off x="3429000" y="448056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6099572" name="Rounded Rectangle 15"/>
          <p:cNvSpPr/>
          <p:nvPr/>
        </p:nvSpPr>
        <p:spPr bwMode="auto">
          <a:xfrm>
            <a:off x="3566160" y="4023360"/>
            <a:ext cx="2651760" cy="1280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7192228" name="Oval 16"/>
          <p:cNvSpPr/>
          <p:nvPr/>
        </p:nvSpPr>
        <p:spPr bwMode="auto">
          <a:xfrm>
            <a:off x="3703320" y="4160519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  <a:endParaRPr/>
          </a:p>
        </p:txBody>
      </p:sp>
      <p:sp>
        <p:nvSpPr>
          <p:cNvPr id="2038761371" name="TextBox 17"/>
          <p:cNvSpPr txBox="1"/>
          <p:nvPr/>
        </p:nvSpPr>
        <p:spPr bwMode="auto">
          <a:xfrm>
            <a:off x="4160519" y="4160519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Review Menyeluruh</a:t>
            </a:r>
            <a:endParaRPr/>
          </a:p>
        </p:txBody>
      </p:sp>
      <p:sp>
        <p:nvSpPr>
          <p:cNvPr id="2073276708" name="TextBox 18"/>
          <p:cNvSpPr txBox="1"/>
          <p:nvPr/>
        </p:nvSpPr>
        <p:spPr bwMode="auto">
          <a:xfrm>
            <a:off x="370332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Evaluasi kelayakan bisnis, risiko</a:t>
            </a:r>
            <a:br>
              <a:rPr/>
            </a:br>
            <a:r>
              <a:rPr/>
              <a:t>divisi, dan dampak portfolio</a:t>
            </a:r>
            <a:endParaRPr/>
          </a:p>
        </p:txBody>
      </p:sp>
      <p:sp>
        <p:nvSpPr>
          <p:cNvPr id="284704196" name="Right Arrow 19"/>
          <p:cNvSpPr/>
          <p:nvPr/>
        </p:nvSpPr>
        <p:spPr bwMode="auto">
          <a:xfrm>
            <a:off x="6263640" y="448056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2578036" name="Rounded Rectangle 20"/>
          <p:cNvSpPr/>
          <p:nvPr/>
        </p:nvSpPr>
        <p:spPr bwMode="auto">
          <a:xfrm>
            <a:off x="6400800" y="4023360"/>
            <a:ext cx="2651760" cy="1280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11969245" name="Oval 21"/>
          <p:cNvSpPr/>
          <p:nvPr/>
        </p:nvSpPr>
        <p:spPr bwMode="auto">
          <a:xfrm>
            <a:off x="6537960" y="4160519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1063592972" name="TextBox 22"/>
          <p:cNvSpPr txBox="1"/>
          <p:nvPr/>
        </p:nvSpPr>
        <p:spPr bwMode="auto">
          <a:xfrm>
            <a:off x="6995160" y="4160519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Cek Threshold</a:t>
            </a:r>
            <a:endParaRPr/>
          </a:p>
        </p:txBody>
      </p:sp>
      <p:sp>
        <p:nvSpPr>
          <p:cNvPr id="1768128243" name="TextBox 23"/>
          <p:cNvSpPr txBox="1"/>
          <p:nvPr/>
        </p:nvSpPr>
        <p:spPr bwMode="auto">
          <a:xfrm>
            <a:off x="653796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Periksa jumlah kredit untuk</a:t>
            </a:r>
            <a:br>
              <a:rPr/>
            </a:br>
            <a:r>
              <a:rPr/>
              <a:t>menentukan apakah Kadiv</a:t>
            </a:r>
            <a:br>
              <a:rPr/>
            </a:br>
            <a:r>
              <a:rPr/>
              <a:t>adalah level approval terakhir</a:t>
            </a:r>
            <a:endParaRPr/>
          </a:p>
        </p:txBody>
      </p:sp>
      <p:sp>
        <p:nvSpPr>
          <p:cNvPr id="658717559" name="Right Arrow 24"/>
          <p:cNvSpPr/>
          <p:nvPr/>
        </p:nvSpPr>
        <p:spPr bwMode="auto">
          <a:xfrm>
            <a:off x="9098280" y="4480560"/>
            <a:ext cx="9144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7315219" name="Rounded Rectangle 25"/>
          <p:cNvSpPr/>
          <p:nvPr/>
        </p:nvSpPr>
        <p:spPr bwMode="auto">
          <a:xfrm>
            <a:off x="9235440" y="4023360"/>
            <a:ext cx="2651760" cy="1280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4774900" name="Oval 26"/>
          <p:cNvSpPr/>
          <p:nvPr/>
        </p:nvSpPr>
        <p:spPr bwMode="auto">
          <a:xfrm>
            <a:off x="9372600" y="4160519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4</a:t>
            </a:r>
            <a:endParaRPr/>
          </a:p>
        </p:txBody>
      </p:sp>
      <p:sp>
        <p:nvSpPr>
          <p:cNvPr id="2007943956" name="TextBox 27"/>
          <p:cNvSpPr txBox="1"/>
          <p:nvPr/>
        </p:nvSpPr>
        <p:spPr bwMode="auto">
          <a:xfrm>
            <a:off x="9829800" y="4160519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Keputusan</a:t>
            </a:r>
            <a:endParaRPr/>
          </a:p>
        </p:txBody>
      </p:sp>
      <p:sp>
        <p:nvSpPr>
          <p:cNvPr id="1059459261" name="TextBox 28"/>
          <p:cNvSpPr txBox="1"/>
          <p:nvPr/>
        </p:nvSpPr>
        <p:spPr bwMode="auto">
          <a:xfrm>
            <a:off x="937260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Setuju (final jika &lt;500Jt),</a:t>
            </a:r>
            <a:br>
              <a:rPr/>
            </a:br>
            <a:r>
              <a:rPr/>
              <a:t>Revisi, atau Tolak.</a:t>
            </a:r>
            <a:br>
              <a:rPr/>
            </a:br>
            <a:r>
              <a:rPr/>
              <a:t>Jika ≥500Jt: eskalasi ke Direksi</a:t>
            </a:r>
            <a:endParaRPr/>
          </a:p>
        </p:txBody>
      </p:sp>
      <p:sp>
        <p:nvSpPr>
          <p:cNvPr id="2076923022" name="TextBox 29"/>
          <p:cNvSpPr txBox="1"/>
          <p:nvPr/>
        </p:nvSpPr>
        <p:spPr bwMode="auto">
          <a:xfrm>
            <a:off x="731520" y="5577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Calibri"/>
              </a:defRPr>
            </a:pPr>
            <a:r>
              <a:rPr/>
              <a:t>OPSI KEPUTUSAN:  ✅ Setuju (lanjut/final)  |  🔄 Revisi (kembali ke Analis)  |  ❌ Tolak (ditolak ke Analis)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513419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13717027" name="TextBox 2"/>
          <p:cNvSpPr txBox="1"/>
          <p:nvPr/>
        </p:nvSpPr>
        <p:spPr bwMode="auto"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/>
              <a:t>DIAGRAM KEPUTUSAN KADIV BISNIS</a:t>
            </a:r>
            <a:endParaRPr/>
          </a:p>
        </p:txBody>
      </p:sp>
      <p:sp>
        <p:nvSpPr>
          <p:cNvPr id="1033794767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14643625" name="Picture 4" descr="kadiv_workflow_1784769151038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2794150" name="Oval 1"/>
          <p:cNvSpPr/>
          <p:nvPr/>
        </p:nvSpPr>
        <p:spPr bwMode="auto">
          <a:xfrm>
            <a:off x="731520" y="457200"/>
            <a:ext cx="914400" cy="914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/>
              <a:t>7</a:t>
            </a:r>
            <a:endParaRPr/>
          </a:p>
        </p:txBody>
      </p:sp>
      <p:sp>
        <p:nvSpPr>
          <p:cNvPr id="1209252315" name="TextBox 2"/>
          <p:cNvSpPr txBox="1"/>
          <p:nvPr/>
        </p:nvSpPr>
        <p:spPr bwMode="auto"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DIREKSI</a:t>
            </a:r>
            <a:endParaRPr/>
          </a:p>
        </p:txBody>
      </p:sp>
      <p:sp>
        <p:nvSpPr>
          <p:cNvPr id="50276746" name="TextBox 3"/>
          <p:cNvSpPr txBox="1"/>
          <p:nvPr/>
        </p:nvSpPr>
        <p:spPr bwMode="auto"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rPr/>
              <a:t>Persetujuan Final untuk Kredit Bernilai Besar (≥ Rp 500 Juta)</a:t>
            </a:r>
            <a:endParaRPr/>
          </a:p>
        </p:txBody>
      </p:sp>
      <p:sp>
        <p:nvSpPr>
          <p:cNvPr id="846656372" name="Rectangle 4"/>
          <p:cNvSpPr/>
          <p:nvPr/>
        </p:nvSpPr>
        <p:spPr bwMode="auto">
          <a:xfrm>
            <a:off x="731520" y="1554480"/>
            <a:ext cx="1069848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80881585" name="Rounded Rectangle 5"/>
          <p:cNvSpPr/>
          <p:nvPr/>
        </p:nvSpPr>
        <p:spPr bwMode="auto">
          <a:xfrm>
            <a:off x="731520" y="1920240"/>
            <a:ext cx="10698480" cy="914400"/>
          </a:xfrm>
          <a:prstGeom prst="roundRect">
            <a:avLst>
              <a:gd name="adj" fmla="val 16667"/>
            </a:avLst>
          </a:prstGeom>
          <a:solidFill>
            <a:srgbClr val="45121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23841417" name="TextBox 6"/>
          <p:cNvSpPr txBox="1"/>
          <p:nvPr/>
        </p:nvSpPr>
        <p:spPr bwMode="auto">
          <a:xfrm>
            <a:off x="914400" y="2011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rPr/>
              <a:t>⚠️  PENTING: Direksi hanya menerima pengajuan kredit dengan nilai ≥ Rp 500.000.000</a:t>
            </a:r>
            <a:endParaRPr/>
          </a:p>
        </p:txBody>
      </p:sp>
      <p:sp>
        <p:nvSpPr>
          <p:cNvPr id="649050052" name="TextBox 7"/>
          <p:cNvSpPr txBox="1"/>
          <p:nvPr/>
        </p:nvSpPr>
        <p:spPr bwMode="auto">
          <a:xfrm>
            <a:off x="914400" y="2377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CA5A5"/>
                </a:solidFill>
                <a:latin typeface="Calibri"/>
              </a:defRPr>
            </a:pPr>
            <a:r>
              <a:rPr/>
              <a:t>Direksi TIDAK memiliki opsi REVISI — hanya dapat MENYETUJUI atau MENOLAK (keputusan bersifat FINAL)</a:t>
            </a:r>
            <a:endParaRPr/>
          </a:p>
        </p:txBody>
      </p:sp>
      <p:sp>
        <p:nvSpPr>
          <p:cNvPr id="1505904301" name="TextBox 8"/>
          <p:cNvSpPr txBox="1"/>
          <p:nvPr/>
        </p:nvSpPr>
        <p:spPr bwMode="auto">
          <a:xfrm>
            <a:off x="73152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ALUR KERJA DIREKSI:</a:t>
            </a:r>
            <a:endParaRPr/>
          </a:p>
        </p:txBody>
      </p:sp>
      <p:sp>
        <p:nvSpPr>
          <p:cNvPr id="1928369512" name="Rounded Rectangle 9"/>
          <p:cNvSpPr/>
          <p:nvPr/>
        </p:nvSpPr>
        <p:spPr bwMode="auto">
          <a:xfrm>
            <a:off x="731520" y="3566160"/>
            <a:ext cx="3474720" cy="1371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4517526" name="Oval 10"/>
          <p:cNvSpPr/>
          <p:nvPr/>
        </p:nvSpPr>
        <p:spPr bwMode="auto">
          <a:xfrm>
            <a:off x="868680" y="370332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  <a:endParaRPr/>
          </a:p>
        </p:txBody>
      </p:sp>
      <p:sp>
        <p:nvSpPr>
          <p:cNvPr id="2016256460" name="TextBox 11"/>
          <p:cNvSpPr txBox="1"/>
          <p:nvPr/>
        </p:nvSpPr>
        <p:spPr bwMode="auto">
          <a:xfrm>
            <a:off x="1325880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Dashboard Direksi</a:t>
            </a:r>
            <a:endParaRPr/>
          </a:p>
        </p:txBody>
      </p:sp>
      <p:sp>
        <p:nvSpPr>
          <p:cNvPr id="2001526909" name="TextBox 12"/>
          <p:cNvSpPr txBox="1"/>
          <p:nvPr/>
        </p:nvSpPr>
        <p:spPr bwMode="auto">
          <a:xfrm>
            <a:off x="868680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Melihat pengajuan kredit bernilai</a:t>
            </a:r>
            <a:br>
              <a:rPr/>
            </a:br>
            <a:r>
              <a:rPr/>
              <a:t>besar (≥500Jt) yang menunggu</a:t>
            </a:r>
            <a:br>
              <a:rPr/>
            </a:br>
            <a:r>
              <a:rPr/>
              <a:t>keputusan eksekutif</a:t>
            </a:r>
            <a:endParaRPr/>
          </a:p>
        </p:txBody>
      </p:sp>
      <p:sp>
        <p:nvSpPr>
          <p:cNvPr id="951401755" name="Right Arrow 13"/>
          <p:cNvSpPr/>
          <p:nvPr/>
        </p:nvSpPr>
        <p:spPr bwMode="auto">
          <a:xfrm>
            <a:off x="4251960" y="4114800"/>
            <a:ext cx="18288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0062760" name="Rounded Rectangle 14"/>
          <p:cNvSpPr/>
          <p:nvPr/>
        </p:nvSpPr>
        <p:spPr bwMode="auto">
          <a:xfrm>
            <a:off x="4480559" y="3566160"/>
            <a:ext cx="3474720" cy="1371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1315515" name="Oval 15"/>
          <p:cNvSpPr/>
          <p:nvPr/>
        </p:nvSpPr>
        <p:spPr bwMode="auto">
          <a:xfrm>
            <a:off x="4617719" y="370332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  <a:endParaRPr/>
          </a:p>
        </p:txBody>
      </p:sp>
      <p:sp>
        <p:nvSpPr>
          <p:cNvPr id="1880540876" name="TextBox 16"/>
          <p:cNvSpPr txBox="1"/>
          <p:nvPr/>
        </p:nvSpPr>
        <p:spPr bwMode="auto">
          <a:xfrm>
            <a:off x="5074919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Review Executive</a:t>
            </a:r>
            <a:endParaRPr/>
          </a:p>
        </p:txBody>
      </p:sp>
      <p:sp>
        <p:nvSpPr>
          <p:cNvPr id="1069032135" name="TextBox 17"/>
          <p:cNvSpPr txBox="1"/>
          <p:nvPr/>
        </p:nvSpPr>
        <p:spPr bwMode="auto">
          <a:xfrm>
            <a:off x="4617719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Evaluasi final terhadap kelayakan</a:t>
            </a:r>
            <a:br>
              <a:rPr/>
            </a:br>
            <a:r>
              <a:rPr/>
              <a:t>bisnis, risiko bank, dan dampak</a:t>
            </a:r>
            <a:br>
              <a:rPr/>
            </a:br>
            <a:r>
              <a:rPr/>
              <a:t>terhadap portfolio keseluruhan</a:t>
            </a:r>
            <a:endParaRPr/>
          </a:p>
        </p:txBody>
      </p:sp>
      <p:sp>
        <p:nvSpPr>
          <p:cNvPr id="675913433" name="Right Arrow 18"/>
          <p:cNvSpPr/>
          <p:nvPr/>
        </p:nvSpPr>
        <p:spPr bwMode="auto">
          <a:xfrm>
            <a:off x="8000999" y="4114800"/>
            <a:ext cx="182880" cy="274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4601035" name="Rounded Rectangle 19"/>
          <p:cNvSpPr/>
          <p:nvPr/>
        </p:nvSpPr>
        <p:spPr bwMode="auto">
          <a:xfrm>
            <a:off x="8229598" y="3566160"/>
            <a:ext cx="3474720" cy="1371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38283842" name="Oval 20"/>
          <p:cNvSpPr/>
          <p:nvPr/>
        </p:nvSpPr>
        <p:spPr bwMode="auto">
          <a:xfrm>
            <a:off x="8366758" y="370332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  <a:endParaRPr/>
          </a:p>
        </p:txBody>
      </p:sp>
      <p:sp>
        <p:nvSpPr>
          <p:cNvPr id="730629387" name="TextBox 21"/>
          <p:cNvSpPr txBox="1"/>
          <p:nvPr/>
        </p:nvSpPr>
        <p:spPr bwMode="auto">
          <a:xfrm>
            <a:off x="8823958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/>
              <a:t>Keputusan FINAL</a:t>
            </a:r>
            <a:endParaRPr/>
          </a:p>
        </p:txBody>
      </p:sp>
      <p:sp>
        <p:nvSpPr>
          <p:cNvPr id="1134721539" name="TextBox 22"/>
          <p:cNvSpPr txBox="1"/>
          <p:nvPr/>
        </p:nvSpPr>
        <p:spPr bwMode="auto">
          <a:xfrm>
            <a:off x="8366758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rPr/>
              <a:t>Hanya 2 pilihan:</a:t>
            </a:r>
            <a:br>
              <a:rPr/>
            </a:br>
            <a:r>
              <a:rPr/>
              <a:t>✅ SETUJU → Kredit Disetujui</a:t>
            </a:r>
            <a:br>
              <a:rPr/>
            </a:br>
            <a:r>
              <a:rPr/>
              <a:t>❌ TOLAK → Kredit Ditolak</a:t>
            </a:r>
            <a:endParaRPr/>
          </a:p>
        </p:txBody>
      </p:sp>
      <p:sp>
        <p:nvSpPr>
          <p:cNvPr id="905735326" name="TextBox 23"/>
          <p:cNvSpPr txBox="1"/>
          <p:nvPr/>
        </p:nvSpPr>
        <p:spPr bwMode="auto">
          <a:xfrm>
            <a:off x="73152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HASIL KEPUTUSAN DIREKSI:</a:t>
            </a:r>
            <a:endParaRPr/>
          </a:p>
        </p:txBody>
      </p:sp>
      <p:sp>
        <p:nvSpPr>
          <p:cNvPr id="1033454566" name="Rounded Rectangle 24"/>
          <p:cNvSpPr/>
          <p:nvPr/>
        </p:nvSpPr>
        <p:spPr bwMode="auto">
          <a:xfrm>
            <a:off x="731520" y="5669280"/>
            <a:ext cx="5029200" cy="82296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✅ SETUJU — APPROVAL FINAL</a:t>
            </a:r>
            <a:endParaRPr/>
          </a:p>
          <a:p>
            <a:pPr algn="ctr">
              <a:defRPr sz="1000">
                <a:solidFill>
                  <a:srgbClr val="BBF7D0"/>
                </a:solidFill>
              </a:defRPr>
            </a:pPr>
            <a:r>
              <a:rPr/>
              <a:t>status_pengajuan → 'disetujui' | posisi → 'selesai'</a:t>
            </a:r>
            <a:endParaRPr/>
          </a:p>
        </p:txBody>
      </p:sp>
      <p:sp>
        <p:nvSpPr>
          <p:cNvPr id="1336330709" name="Rounded Rectangle 25"/>
          <p:cNvSpPr/>
          <p:nvPr/>
        </p:nvSpPr>
        <p:spPr bwMode="auto">
          <a:xfrm>
            <a:off x="6217920" y="5669280"/>
            <a:ext cx="5029200" cy="82296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❌ TOLAK — PENOLAKAN FINAL</a:t>
            </a:r>
            <a:endParaRPr/>
          </a:p>
          <a:p>
            <a:pPr algn="ctr">
              <a:defRPr sz="1000">
                <a:solidFill>
                  <a:srgbClr val="FECACA"/>
                </a:solidFill>
              </a:defRPr>
            </a:pPr>
            <a:r>
              <a:rPr/>
              <a:t>status_pengajuan → 'ditolak' | posisi → 'analis'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611626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86657120" name="TextBox 2"/>
          <p:cNvSpPr txBox="1"/>
          <p:nvPr/>
        </p:nvSpPr>
        <p:spPr bwMode="auto"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/>
              <a:t>DIAGRAM WORKFLOW DIREKSI</a:t>
            </a:r>
            <a:endParaRPr/>
          </a:p>
        </p:txBody>
      </p:sp>
      <p:sp>
        <p:nvSpPr>
          <p:cNvPr id="1089997704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76103754" name="Picture 4" descr="direksi_workflow_1784769143726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207879" name="Oval 1"/>
          <p:cNvSpPr/>
          <p:nvPr/>
        </p:nvSpPr>
        <p:spPr bwMode="auto">
          <a:xfrm>
            <a:off x="731520" y="45720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/>
              <a:t>8</a:t>
            </a:r>
            <a:endParaRPr/>
          </a:p>
        </p:txBody>
      </p:sp>
      <p:sp>
        <p:nvSpPr>
          <p:cNvPr id="984274742" name="TextBox 2"/>
          <p:cNvSpPr txBox="1"/>
          <p:nvPr/>
        </p:nvSpPr>
        <p:spPr bwMode="auto"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CARA KERJA ADMIN / SUPERADMIN</a:t>
            </a:r>
            <a:endParaRPr/>
          </a:p>
        </p:txBody>
      </p:sp>
      <p:sp>
        <p:nvSpPr>
          <p:cNvPr id="5338540" name="TextBox 3"/>
          <p:cNvSpPr txBox="1"/>
          <p:nvPr/>
        </p:nvSpPr>
        <p:spPr bwMode="auto"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rPr/>
              <a:t>Manajemen Sistem, User, Parameter &amp; Monitoring</a:t>
            </a:r>
            <a:endParaRPr/>
          </a:p>
        </p:txBody>
      </p:sp>
      <p:sp>
        <p:nvSpPr>
          <p:cNvPr id="961999895" name="Rectangle 4"/>
          <p:cNvSpPr/>
          <p:nvPr/>
        </p:nvSpPr>
        <p:spPr bwMode="auto">
          <a:xfrm>
            <a:off x="731520" y="1554480"/>
            <a:ext cx="1069848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7810440" name="Rounded Rectangle 5"/>
          <p:cNvSpPr/>
          <p:nvPr/>
        </p:nvSpPr>
        <p:spPr bwMode="auto">
          <a:xfrm>
            <a:off x="731520" y="1920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1498635" name="TextBox 6"/>
          <p:cNvSpPr txBox="1"/>
          <p:nvPr/>
        </p:nvSpPr>
        <p:spPr bwMode="auto">
          <a:xfrm>
            <a:off x="91440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rPr/>
              <a:t>👥</a:t>
            </a:r>
            <a:endParaRPr/>
          </a:p>
        </p:txBody>
      </p:sp>
      <p:sp>
        <p:nvSpPr>
          <p:cNvPr id="450906319" name="TextBox 7"/>
          <p:cNvSpPr txBox="1"/>
          <p:nvPr/>
        </p:nvSpPr>
        <p:spPr bwMode="auto">
          <a:xfrm>
            <a:off x="14173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5AA8"/>
                </a:solidFill>
                <a:latin typeface="Calibri"/>
              </a:defRPr>
            </a:pPr>
            <a:r>
              <a:rPr/>
              <a:t>Manajemen User</a:t>
            </a:r>
            <a:endParaRPr/>
          </a:p>
        </p:txBody>
      </p:sp>
      <p:sp>
        <p:nvSpPr>
          <p:cNvPr id="1832389497" name="Rectangle 8"/>
          <p:cNvSpPr/>
          <p:nvPr/>
        </p:nvSpPr>
        <p:spPr bwMode="auto">
          <a:xfrm>
            <a:off x="914400" y="2423160"/>
            <a:ext cx="3108960" cy="27432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4578763" name="TextBox 9"/>
          <p:cNvSpPr txBox="1"/>
          <p:nvPr/>
        </p:nvSpPr>
        <p:spPr bwMode="auto">
          <a:xfrm>
            <a:off x="914400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Membuat, mengedit, dan mengatur akun pengguna.</a:t>
            </a:r>
            <a:br>
              <a:rPr/>
            </a:br>
            <a:r>
              <a:rPr/>
              <a:t>Mengatur role (Analis, Kasubag, Kabag, Kadiv, Direksi).</a:t>
            </a:r>
            <a:br>
              <a:rPr/>
            </a:br>
            <a:r>
              <a:rPr/>
              <a:t>Mengatur status jabatan (Aktif, Cuti, Sakit, Izin, Berhalangan).</a:t>
            </a:r>
            <a:endParaRPr/>
          </a:p>
        </p:txBody>
      </p:sp>
      <p:sp>
        <p:nvSpPr>
          <p:cNvPr id="163014971" name="Rounded Rectangle 10"/>
          <p:cNvSpPr/>
          <p:nvPr/>
        </p:nvSpPr>
        <p:spPr bwMode="auto">
          <a:xfrm>
            <a:off x="4480559" y="1920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2835875" name="TextBox 11"/>
          <p:cNvSpPr txBox="1"/>
          <p:nvPr/>
        </p:nvSpPr>
        <p:spPr bwMode="auto">
          <a:xfrm>
            <a:off x="4663439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rPr/>
              <a:t>🏛️</a:t>
            </a:r>
            <a:endParaRPr/>
          </a:p>
        </p:txBody>
      </p:sp>
      <p:sp>
        <p:nvSpPr>
          <p:cNvPr id="597145270" name="TextBox 12"/>
          <p:cNvSpPr txBox="1"/>
          <p:nvPr/>
        </p:nvSpPr>
        <p:spPr bwMode="auto">
          <a:xfrm>
            <a:off x="5166359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Calibri"/>
              </a:defRPr>
            </a:pPr>
            <a:r>
              <a:rPr/>
              <a:t>Master Pejabat</a:t>
            </a:r>
            <a:endParaRPr/>
          </a:p>
        </p:txBody>
      </p:sp>
      <p:sp>
        <p:nvSpPr>
          <p:cNvPr id="577667409" name="Rectangle 13"/>
          <p:cNvSpPr/>
          <p:nvPr/>
        </p:nvSpPr>
        <p:spPr bwMode="auto">
          <a:xfrm>
            <a:off x="4663439" y="2423160"/>
            <a:ext cx="310896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8962645" name="TextBox 14"/>
          <p:cNvSpPr txBox="1"/>
          <p:nvPr/>
        </p:nvSpPr>
        <p:spPr bwMode="auto">
          <a:xfrm>
            <a:off x="4663439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Konfigurasi jabatan dan tanda tangan pejabat</a:t>
            </a:r>
            <a:br>
              <a:rPr/>
            </a:br>
            <a:r>
              <a:rPr/>
              <a:t>yang tampil pada dokumen cetak.</a:t>
            </a:r>
            <a:br>
              <a:rPr/>
            </a:br>
            <a:r>
              <a:rPr/>
              <a:t>Menentukan urutan hierarki approval.</a:t>
            </a:r>
            <a:endParaRPr/>
          </a:p>
        </p:txBody>
      </p:sp>
      <p:sp>
        <p:nvSpPr>
          <p:cNvPr id="794389514" name="Rounded Rectangle 15"/>
          <p:cNvSpPr/>
          <p:nvPr/>
        </p:nvSpPr>
        <p:spPr bwMode="auto">
          <a:xfrm>
            <a:off x="8229598" y="1920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1956451" name="TextBox 16"/>
          <p:cNvSpPr txBox="1"/>
          <p:nvPr/>
        </p:nvSpPr>
        <p:spPr bwMode="auto">
          <a:xfrm>
            <a:off x="8412478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rPr/>
              <a:t>⚙️</a:t>
            </a:r>
            <a:endParaRPr/>
          </a:p>
        </p:txBody>
      </p:sp>
      <p:sp>
        <p:nvSpPr>
          <p:cNvPr id="1518561984" name="TextBox 17"/>
          <p:cNvSpPr txBox="1"/>
          <p:nvPr/>
        </p:nvSpPr>
        <p:spPr bwMode="auto">
          <a:xfrm>
            <a:off x="8915398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rPr/>
              <a:t>Parameter Repayment</a:t>
            </a:r>
            <a:endParaRPr/>
          </a:p>
        </p:txBody>
      </p:sp>
      <p:sp>
        <p:nvSpPr>
          <p:cNvPr id="259562604" name="Rectangle 18"/>
          <p:cNvSpPr/>
          <p:nvPr/>
        </p:nvSpPr>
        <p:spPr bwMode="auto">
          <a:xfrm>
            <a:off x="8412478" y="2423160"/>
            <a:ext cx="3108960" cy="27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36649213" name="TextBox 19"/>
          <p:cNvSpPr txBox="1"/>
          <p:nvPr/>
        </p:nvSpPr>
        <p:spPr bwMode="auto">
          <a:xfrm>
            <a:off x="8412478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Konfigurasi formula Repayment Capacity.</a:t>
            </a:r>
            <a:br>
              <a:rPr/>
            </a:br>
            <a:r>
              <a:rPr/>
              <a:t>Atur parameter DSR (Debt Service Ratio),</a:t>
            </a:r>
            <a:br>
              <a:rPr/>
            </a:br>
            <a:r>
              <a:rPr/>
              <a:t>biaya hidup, dan threshold perhitungan.</a:t>
            </a:r>
            <a:endParaRPr/>
          </a:p>
        </p:txBody>
      </p:sp>
      <p:sp>
        <p:nvSpPr>
          <p:cNvPr id="1487013072" name="Rounded Rectangle 20"/>
          <p:cNvSpPr/>
          <p:nvPr/>
        </p:nvSpPr>
        <p:spPr bwMode="auto">
          <a:xfrm>
            <a:off x="731520" y="4206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00652827" name="TextBox 21"/>
          <p:cNvSpPr txBox="1"/>
          <p:nvPr/>
        </p:nvSpPr>
        <p:spPr bwMode="auto">
          <a:xfrm>
            <a:off x="914400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rPr/>
              <a:t>💾</a:t>
            </a:r>
            <a:endParaRPr/>
          </a:p>
        </p:txBody>
      </p:sp>
      <p:sp>
        <p:nvSpPr>
          <p:cNvPr id="2129062924" name="TextBox 22"/>
          <p:cNvSpPr txBox="1"/>
          <p:nvPr/>
        </p:nvSpPr>
        <p:spPr bwMode="auto">
          <a:xfrm>
            <a:off x="1417320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Calibri"/>
              </a:defRPr>
            </a:pPr>
            <a:r>
              <a:rPr/>
              <a:t>Backup Database</a:t>
            </a:r>
            <a:endParaRPr/>
          </a:p>
        </p:txBody>
      </p:sp>
      <p:sp>
        <p:nvSpPr>
          <p:cNvPr id="1575434629" name="Rectangle 23"/>
          <p:cNvSpPr/>
          <p:nvPr/>
        </p:nvSpPr>
        <p:spPr bwMode="auto">
          <a:xfrm>
            <a:off x="914400" y="4709160"/>
            <a:ext cx="3108960" cy="274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5859252" name="TextBox 24"/>
          <p:cNvSpPr txBox="1"/>
          <p:nvPr/>
        </p:nvSpPr>
        <p:spPr bwMode="auto">
          <a:xfrm>
            <a:off x="914400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Backup dan restore database sistem.</a:t>
            </a:r>
            <a:br>
              <a:rPr/>
            </a:br>
            <a:r>
              <a:rPr/>
              <a:t>Menjaga keamanan data dan</a:t>
            </a:r>
            <a:br>
              <a:rPr/>
            </a:br>
            <a:r>
              <a:rPr/>
              <a:t>memastikan ketersediaan data.</a:t>
            </a:r>
            <a:endParaRPr/>
          </a:p>
        </p:txBody>
      </p:sp>
      <p:sp>
        <p:nvSpPr>
          <p:cNvPr id="1314547322" name="Rounded Rectangle 25"/>
          <p:cNvSpPr/>
          <p:nvPr/>
        </p:nvSpPr>
        <p:spPr bwMode="auto">
          <a:xfrm>
            <a:off x="4480559" y="4206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8659884" name="TextBox 26"/>
          <p:cNvSpPr txBox="1"/>
          <p:nvPr/>
        </p:nvSpPr>
        <p:spPr bwMode="auto">
          <a:xfrm>
            <a:off x="4663439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rPr/>
              <a:t>🔍</a:t>
            </a:r>
            <a:endParaRPr/>
          </a:p>
        </p:txBody>
      </p:sp>
      <p:sp>
        <p:nvSpPr>
          <p:cNvPr id="634176048" name="TextBox 27"/>
          <p:cNvSpPr txBox="1"/>
          <p:nvPr/>
        </p:nvSpPr>
        <p:spPr bwMode="auto">
          <a:xfrm>
            <a:off x="5166359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rPr/>
              <a:t>Audit Log</a:t>
            </a:r>
            <a:endParaRPr/>
          </a:p>
        </p:txBody>
      </p:sp>
      <p:sp>
        <p:nvSpPr>
          <p:cNvPr id="1972224740" name="Rectangle 28"/>
          <p:cNvSpPr/>
          <p:nvPr/>
        </p:nvSpPr>
        <p:spPr bwMode="auto">
          <a:xfrm>
            <a:off x="4663439" y="4709160"/>
            <a:ext cx="310896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5967541" name="TextBox 29"/>
          <p:cNvSpPr txBox="1"/>
          <p:nvPr/>
        </p:nvSpPr>
        <p:spPr bwMode="auto">
          <a:xfrm>
            <a:off x="4663439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Memonitor log aktivitas sistem.</a:t>
            </a:r>
            <a:br>
              <a:rPr/>
            </a:br>
            <a:r>
              <a:rPr/>
              <a:t>Melacak perubahan parameter.</a:t>
            </a:r>
            <a:br>
              <a:rPr/>
            </a:br>
            <a:r>
              <a:rPr/>
              <a:t>Audit trail untuk kepatuhan.</a:t>
            </a:r>
            <a:endParaRPr/>
          </a:p>
        </p:txBody>
      </p:sp>
      <p:sp>
        <p:nvSpPr>
          <p:cNvPr id="1358201509" name="Rounded Rectangle 30"/>
          <p:cNvSpPr/>
          <p:nvPr/>
        </p:nvSpPr>
        <p:spPr bwMode="auto">
          <a:xfrm>
            <a:off x="8229598" y="4206240"/>
            <a:ext cx="3474720" cy="210312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4272976" name="TextBox 31"/>
          <p:cNvSpPr txBox="1"/>
          <p:nvPr/>
        </p:nvSpPr>
        <p:spPr bwMode="auto">
          <a:xfrm>
            <a:off x="8412478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rPr/>
              <a:t>📊</a:t>
            </a:r>
            <a:endParaRPr/>
          </a:p>
        </p:txBody>
      </p:sp>
      <p:sp>
        <p:nvSpPr>
          <p:cNvPr id="2013043958" name="TextBox 32"/>
          <p:cNvSpPr txBox="1"/>
          <p:nvPr/>
        </p:nvSpPr>
        <p:spPr bwMode="auto">
          <a:xfrm>
            <a:off x="8915398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Calibri"/>
              </a:defRPr>
            </a:pPr>
            <a:r>
              <a:rPr/>
              <a:t>Riwayat &amp; Monitoring</a:t>
            </a:r>
            <a:endParaRPr/>
          </a:p>
        </p:txBody>
      </p:sp>
      <p:sp>
        <p:nvSpPr>
          <p:cNvPr id="2142960492" name="Rectangle 33"/>
          <p:cNvSpPr/>
          <p:nvPr/>
        </p:nvSpPr>
        <p:spPr bwMode="auto">
          <a:xfrm>
            <a:off x="8412478" y="4709160"/>
            <a:ext cx="3108960" cy="274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0228197" name="TextBox 34"/>
          <p:cNvSpPr txBox="1"/>
          <p:nvPr/>
        </p:nvSpPr>
        <p:spPr bwMode="auto">
          <a:xfrm>
            <a:off x="8412478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Melihat seluruh riwayat pengajuan kredit.</a:t>
            </a:r>
            <a:br>
              <a:rPr/>
            </a:br>
            <a:r>
              <a:rPr/>
              <a:t>Monitor status pengajuan secara real-time.</a:t>
            </a:r>
            <a:br>
              <a:rPr/>
            </a:br>
            <a:r>
              <a:rPr/>
              <a:t>Laporan statistik dan aktivitas.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941279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7633469" name="TextBox 2"/>
          <p:cNvSpPr txBox="1"/>
          <p:nvPr/>
        </p:nvSpPr>
        <p:spPr bwMode="auto"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/>
              <a:t>FITUR ADMIN / SUPERADMIN</a:t>
            </a:r>
            <a:endParaRPr/>
          </a:p>
        </p:txBody>
      </p:sp>
      <p:sp>
        <p:nvSpPr>
          <p:cNvPr id="306129597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70565426" name="Picture 4" descr="admin_workflow_1784769134628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196416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949474" name="TextBox 2"/>
          <p:cNvSpPr txBox="1"/>
          <p:nvPr/>
        </p:nvSpPr>
        <p:spPr bwMode="auto"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rPr/>
              <a:t>MANAJEMEN STATUS JABATAN &amp; AUTO-SKIP</a:t>
            </a:r>
            <a:endParaRPr/>
          </a:p>
        </p:txBody>
      </p:sp>
      <p:sp>
        <p:nvSpPr>
          <p:cNvPr id="1341882941" name="Rectangle 3"/>
          <p:cNvSpPr/>
          <p:nvPr/>
        </p:nvSpPr>
        <p:spPr bwMode="auto">
          <a:xfrm>
            <a:off x="731520" y="8229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32166048" name="TextBox 4"/>
          <p:cNvSpPr txBox="1"/>
          <p:nvPr/>
        </p:nvSpPr>
        <p:spPr bwMode="auto"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1F5F9"/>
                </a:solidFill>
                <a:latin typeface="Calibri"/>
              </a:defRPr>
            </a:pPr>
            <a:r>
              <a:rPr/>
              <a:t>Admin mengatur status jabatan setiap pejabat. Sistem secara otomatis melompati pejabat yang tidak aktif</a:t>
            </a:r>
            <a:br>
              <a:rPr/>
            </a:br>
            <a:r>
              <a:rPr/>
              <a:t>dan mengirim pengajuan ke pejabat aktif berikutnya dalam rantai approval.</a:t>
            </a:r>
            <a:endParaRPr/>
          </a:p>
        </p:txBody>
      </p:sp>
      <p:sp>
        <p:nvSpPr>
          <p:cNvPr id="1361664482" name="Rounded Rectangle 5"/>
          <p:cNvSpPr/>
          <p:nvPr/>
        </p:nvSpPr>
        <p:spPr bwMode="auto">
          <a:xfrm>
            <a:off x="731520" y="1920240"/>
            <a:ext cx="2103120" cy="146304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9183806" name="Rounded Rectangle 6"/>
          <p:cNvSpPr/>
          <p:nvPr/>
        </p:nvSpPr>
        <p:spPr bwMode="auto">
          <a:xfrm>
            <a:off x="1005840" y="2103120"/>
            <a:ext cx="1554480" cy="4114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AKTIF</a:t>
            </a:r>
            <a:endParaRPr/>
          </a:p>
        </p:txBody>
      </p:sp>
      <p:sp>
        <p:nvSpPr>
          <p:cNvPr id="2137637932" name="TextBox 7"/>
          <p:cNvSpPr txBox="1"/>
          <p:nvPr/>
        </p:nvSpPr>
        <p:spPr bwMode="auto">
          <a:xfrm>
            <a:off x="86868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Pejabat aktif bertugas dan</a:t>
            </a:r>
            <a:br>
              <a:rPr/>
            </a:br>
            <a:r>
              <a:rPr/>
              <a:t>dapat menerima pengajuan kredit</a:t>
            </a:r>
            <a:endParaRPr/>
          </a:p>
        </p:txBody>
      </p:sp>
      <p:sp>
        <p:nvSpPr>
          <p:cNvPr id="1334831484" name="Rounded Rectangle 8"/>
          <p:cNvSpPr/>
          <p:nvPr/>
        </p:nvSpPr>
        <p:spPr bwMode="auto">
          <a:xfrm>
            <a:off x="2971800" y="1920240"/>
            <a:ext cx="2103120" cy="146304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8588743" name="Rounded Rectangle 9"/>
          <p:cNvSpPr/>
          <p:nvPr/>
        </p:nvSpPr>
        <p:spPr bwMode="auto">
          <a:xfrm>
            <a:off x="3246120" y="2103120"/>
            <a:ext cx="1554480" cy="41148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CUTI</a:t>
            </a:r>
            <a:endParaRPr/>
          </a:p>
        </p:txBody>
      </p:sp>
      <p:sp>
        <p:nvSpPr>
          <p:cNvPr id="235859782" name="TextBox 10"/>
          <p:cNvSpPr txBox="1"/>
          <p:nvPr/>
        </p:nvSpPr>
        <p:spPr bwMode="auto">
          <a:xfrm>
            <a:off x="310896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Pejabat sedang cuti,</a:t>
            </a:r>
            <a:br>
              <a:rPr/>
            </a:br>
            <a:r>
              <a:rPr/>
              <a:t>pengajuan di-skip otomatis</a:t>
            </a:r>
            <a:endParaRPr/>
          </a:p>
        </p:txBody>
      </p:sp>
      <p:sp>
        <p:nvSpPr>
          <p:cNvPr id="1173314214" name="Rounded Rectangle 11"/>
          <p:cNvSpPr/>
          <p:nvPr/>
        </p:nvSpPr>
        <p:spPr bwMode="auto">
          <a:xfrm>
            <a:off x="5212080" y="1920240"/>
            <a:ext cx="2103120" cy="146304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6233622" name="Rounded Rectangle 12"/>
          <p:cNvSpPr/>
          <p:nvPr/>
        </p:nvSpPr>
        <p:spPr bwMode="auto">
          <a:xfrm>
            <a:off x="5486400" y="2103120"/>
            <a:ext cx="1554480" cy="4114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SAKIT</a:t>
            </a:r>
            <a:endParaRPr/>
          </a:p>
        </p:txBody>
      </p:sp>
      <p:sp>
        <p:nvSpPr>
          <p:cNvPr id="720992472" name="TextBox 13"/>
          <p:cNvSpPr txBox="1"/>
          <p:nvPr/>
        </p:nvSpPr>
        <p:spPr bwMode="auto">
          <a:xfrm>
            <a:off x="534924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Pejabat sedang sakit,</a:t>
            </a:r>
            <a:br>
              <a:rPr/>
            </a:br>
            <a:r>
              <a:rPr/>
              <a:t>pengajuan di-skip otomatis</a:t>
            </a:r>
            <a:endParaRPr/>
          </a:p>
        </p:txBody>
      </p:sp>
      <p:sp>
        <p:nvSpPr>
          <p:cNvPr id="1781018137" name="Rounded Rectangle 14"/>
          <p:cNvSpPr/>
          <p:nvPr/>
        </p:nvSpPr>
        <p:spPr bwMode="auto">
          <a:xfrm>
            <a:off x="7452360" y="1920240"/>
            <a:ext cx="2103120" cy="146304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3267084" name="Rounded Rectangle 15"/>
          <p:cNvSpPr/>
          <p:nvPr/>
        </p:nvSpPr>
        <p:spPr bwMode="auto">
          <a:xfrm>
            <a:off x="7726680" y="2103120"/>
            <a:ext cx="1554480" cy="411480"/>
          </a:xfrm>
          <a:prstGeom prst="roundRect">
            <a:avLst>
              <a:gd name="adj" fmla="val 16667"/>
            </a:avLst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IZIN</a:t>
            </a:r>
            <a:endParaRPr/>
          </a:p>
        </p:txBody>
      </p:sp>
      <p:sp>
        <p:nvSpPr>
          <p:cNvPr id="1540014340" name="TextBox 16"/>
          <p:cNvSpPr txBox="1"/>
          <p:nvPr/>
        </p:nvSpPr>
        <p:spPr bwMode="auto">
          <a:xfrm>
            <a:off x="758952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Pejabat sedang izin,</a:t>
            </a:r>
            <a:br>
              <a:rPr/>
            </a:br>
            <a:r>
              <a:rPr/>
              <a:t>pengajuan di-skip otomatis</a:t>
            </a:r>
            <a:endParaRPr/>
          </a:p>
        </p:txBody>
      </p:sp>
      <p:sp>
        <p:nvSpPr>
          <p:cNvPr id="275805046" name="Rounded Rectangle 17"/>
          <p:cNvSpPr/>
          <p:nvPr/>
        </p:nvSpPr>
        <p:spPr bwMode="auto">
          <a:xfrm>
            <a:off x="9692640" y="1920240"/>
            <a:ext cx="2103120" cy="1463040"/>
          </a:xfrm>
          <a:prstGeom prst="roundRect">
            <a:avLst>
              <a:gd name="adj" fmla="val 16667"/>
            </a:avLst>
          </a:prstGeom>
          <a:solidFill>
            <a:srgbClr val="142B52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673055" name="Rounded Rectangle 18"/>
          <p:cNvSpPr/>
          <p:nvPr/>
        </p:nvSpPr>
        <p:spPr bwMode="auto">
          <a:xfrm>
            <a:off x="9966960" y="2103120"/>
            <a:ext cx="1554480" cy="41148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BERHALANGAN</a:t>
            </a:r>
            <a:endParaRPr/>
          </a:p>
        </p:txBody>
      </p:sp>
      <p:sp>
        <p:nvSpPr>
          <p:cNvPr id="15855591" name="TextBox 19"/>
          <p:cNvSpPr txBox="1"/>
          <p:nvPr/>
        </p:nvSpPr>
        <p:spPr bwMode="auto">
          <a:xfrm>
            <a:off x="982980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rPr/>
              <a:t>Pejabat berhalangan,</a:t>
            </a:r>
            <a:br>
              <a:rPr/>
            </a:br>
            <a:r>
              <a:rPr/>
              <a:t>pengajuan di-skip otomatis</a:t>
            </a:r>
            <a:endParaRPr/>
          </a:p>
        </p:txBody>
      </p:sp>
      <p:sp>
        <p:nvSpPr>
          <p:cNvPr id="1628079895" name="TextBox 20"/>
          <p:cNvSpPr txBox="1"/>
          <p:nvPr/>
        </p:nvSpPr>
        <p:spPr bwMode="auto">
          <a:xfrm>
            <a:off x="73152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rPr/>
              <a:t>CONTOH SKENARIO AUTO-SKIP:</a:t>
            </a:r>
            <a:endParaRPr/>
          </a:p>
        </p:txBody>
      </p:sp>
      <p:sp>
        <p:nvSpPr>
          <p:cNvPr id="898695726" name="TextBox 30"/>
          <p:cNvSpPr txBox="1"/>
          <p:nvPr/>
        </p:nvSpPr>
        <p:spPr bwMode="auto"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1F5F9"/>
                </a:solidFill>
                <a:latin typeface="Calibri"/>
              </a:defRPr>
            </a:pPr>
            <a:r>
              <a:rPr/>
              <a:t>Pada contoh di atas:</a:t>
            </a:r>
            <a:br>
              <a:rPr/>
            </a:br>
            <a:r>
              <a:rPr/>
              <a:t>Analis submit pengajuan -&gt; Kasubag AKTIF -&gt; Kepatuhan CUTI -&gt; Sistem otomatis SKIP ke Kabag Analis</a:t>
            </a:r>
            <a:br>
              <a:rPr/>
            </a:br>
            <a:r>
              <a:rPr/>
              <a:t>• Kabag AKTIF → Review &amp; Setuju → Kadiv sedang SAKIT → Sistem otomatis SKIP ke Direksi</a:t>
            </a:r>
            <a:br>
              <a:rPr/>
            </a:br>
            <a:r>
              <a:rPr/>
              <a:t>• Direksi AKTIF → Review &amp; memberikan keputusan FINAL</a:t>
            </a:r>
            <a:br>
              <a:rPr/>
            </a:br>
            <a:r>
              <a:rPr/>
              <a:t>• Setiap auto-skip dicatat dalam audit trail untuk transparansi</a:t>
            </a:r>
            <a:endParaRPr/>
          </a:p>
        </p:txBody>
      </p:sp>
      <p:sp>
        <p:nvSpPr>
          <p:cNvPr id="1200176432" name="Rounded Rectangle 2083350031"/>
          <p:cNvSpPr/>
          <p:nvPr/>
        </p:nvSpPr>
        <p:spPr bwMode="auto">
          <a:xfrm>
            <a:off x="457200" y="4114800"/>
            <a:ext cx="1463040" cy="64008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ANALIS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✅ Submit</a:t>
            </a:r>
            <a:endParaRPr/>
          </a:p>
        </p:txBody>
      </p:sp>
      <p:sp>
        <p:nvSpPr>
          <p:cNvPr id="1332667517" name="TextBox 2083350032"/>
          <p:cNvSpPr txBox="1"/>
          <p:nvPr/>
        </p:nvSpPr>
        <p:spPr bwMode="auto">
          <a:xfrm>
            <a:off x="1920240" y="420624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D3858"/>
                </a:solidFill>
              </a:defRPr>
            </a:pPr>
            <a:r>
              <a:rPr/>
              <a:t>→</a:t>
            </a:r>
            <a:endParaRPr/>
          </a:p>
        </p:txBody>
      </p:sp>
      <p:sp>
        <p:nvSpPr>
          <p:cNvPr id="1721104750" name="Rounded Rectangle 2083350033"/>
          <p:cNvSpPr/>
          <p:nvPr/>
        </p:nvSpPr>
        <p:spPr bwMode="auto">
          <a:xfrm>
            <a:off x="2377440" y="4114800"/>
            <a:ext cx="1463040" cy="64008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KASUBAG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✅ AKTIF</a:t>
            </a:r>
            <a:endParaRPr/>
          </a:p>
        </p:txBody>
      </p:sp>
      <p:sp>
        <p:nvSpPr>
          <p:cNvPr id="1056869113" name="TextBox 2083350034"/>
          <p:cNvSpPr txBox="1"/>
          <p:nvPr/>
        </p:nvSpPr>
        <p:spPr bwMode="auto">
          <a:xfrm>
            <a:off x="3840480" y="420624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D3858"/>
                </a:solidFill>
              </a:defRPr>
            </a:pPr>
            <a:r>
              <a:rPr/>
              <a:t>→</a:t>
            </a:r>
            <a:endParaRPr/>
          </a:p>
        </p:txBody>
      </p:sp>
      <p:sp>
        <p:nvSpPr>
          <p:cNvPr id="143044930" name="Rounded Rectangle 2083350035"/>
          <p:cNvSpPr/>
          <p:nvPr/>
        </p:nvSpPr>
        <p:spPr bwMode="auto">
          <a:xfrm>
            <a:off x="4297680" y="4114800"/>
            <a:ext cx="1463040" cy="64008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KEPATUHAN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❌ CUTI</a:t>
            </a:r>
            <a:endParaRPr/>
          </a:p>
        </p:txBody>
      </p:sp>
      <p:sp>
        <p:nvSpPr>
          <p:cNvPr id="1449586566" name="TextBox 2083350036"/>
          <p:cNvSpPr txBox="1"/>
          <p:nvPr/>
        </p:nvSpPr>
        <p:spPr bwMode="auto">
          <a:xfrm>
            <a:off x="5760720" y="420624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D3858"/>
                </a:solidFill>
              </a:defRPr>
            </a:pPr>
            <a:r>
              <a:rPr/>
              <a:t>SKIP →</a:t>
            </a:r>
            <a:endParaRPr/>
          </a:p>
        </p:txBody>
      </p:sp>
      <p:sp>
        <p:nvSpPr>
          <p:cNvPr id="1931630923" name="Rounded Rectangle 2083350037"/>
          <p:cNvSpPr/>
          <p:nvPr/>
        </p:nvSpPr>
        <p:spPr bwMode="auto">
          <a:xfrm>
            <a:off x="6217920" y="4114800"/>
            <a:ext cx="1463040" cy="64008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KABAG ANALIS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✅ AKTIF</a:t>
            </a:r>
            <a:endParaRPr/>
          </a:p>
        </p:txBody>
      </p:sp>
      <p:sp>
        <p:nvSpPr>
          <p:cNvPr id="1044388426" name="TextBox 2083350038"/>
          <p:cNvSpPr txBox="1"/>
          <p:nvPr/>
        </p:nvSpPr>
        <p:spPr bwMode="auto">
          <a:xfrm>
            <a:off x="7680960" y="420624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D3858"/>
                </a:solidFill>
              </a:defRPr>
            </a:pPr>
            <a:r>
              <a:rPr/>
              <a:t>→</a:t>
            </a:r>
            <a:endParaRPr/>
          </a:p>
        </p:txBody>
      </p:sp>
      <p:sp>
        <p:nvSpPr>
          <p:cNvPr id="151446466" name="Rounded Rectangle 2083350039"/>
          <p:cNvSpPr/>
          <p:nvPr/>
        </p:nvSpPr>
        <p:spPr bwMode="auto">
          <a:xfrm>
            <a:off x="8138160" y="4114800"/>
            <a:ext cx="1463040" cy="64008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KADIV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❌ SAKIT</a:t>
            </a:r>
            <a:endParaRPr/>
          </a:p>
        </p:txBody>
      </p:sp>
      <p:sp>
        <p:nvSpPr>
          <p:cNvPr id="257714532" name="TextBox 2083350040"/>
          <p:cNvSpPr txBox="1"/>
          <p:nvPr/>
        </p:nvSpPr>
        <p:spPr bwMode="auto">
          <a:xfrm>
            <a:off x="9601200" y="420624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D3858"/>
                </a:solidFill>
              </a:defRPr>
            </a:pPr>
            <a:r>
              <a:rPr/>
              <a:t>SKIP →</a:t>
            </a:r>
            <a:endParaRPr/>
          </a:p>
        </p:txBody>
      </p:sp>
      <p:sp>
        <p:nvSpPr>
          <p:cNvPr id="1029770691" name="Rounded Rectangle 2083350041"/>
          <p:cNvSpPr/>
          <p:nvPr/>
        </p:nvSpPr>
        <p:spPr bwMode="auto">
          <a:xfrm>
            <a:off x="10058400" y="4114800"/>
            <a:ext cx="1463040" cy="640080"/>
          </a:xfrm>
          <a:prstGeom prst="roundRect">
            <a:avLst>
              <a:gd name="adj" fmla="val 16667"/>
            </a:avLst>
          </a:prstGeom>
          <a:solidFill>
            <a:srgbClr val="1D3858"/>
          </a:solidFill>
          <a:ln>
            <a:solidFill>
              <a:srgbClr val="1D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DIREKSI</a:t>
            </a:r>
            <a:endParaRPr/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/>
              <a:t>✅ AKTIF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869922" name="Rectangle 1"/>
          <p:cNvSpPr/>
          <p:nvPr/>
        </p:nvSpPr>
        <p:spPr bwMode="auto"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9548255" name="TextBox 2"/>
          <p:cNvSpPr txBox="1"/>
          <p:nvPr/>
        </p:nvSpPr>
        <p:spPr bwMode="auto"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/>
              <a:t>RINGKASAN PERAN &amp; TANGGUNG JAWAB</a:t>
            </a:r>
            <a:endParaRPr/>
          </a:p>
        </p:txBody>
      </p:sp>
      <p:sp>
        <p:nvSpPr>
          <p:cNvPr id="1455211584" name="Rectangle 3"/>
          <p:cNvSpPr/>
          <p:nvPr/>
        </p:nvSpPr>
        <p:spPr bwMode="auto">
          <a:xfrm>
            <a:off x="731520" y="82296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66793395" name="Rounded Rectangle 1878494384"/>
          <p:cNvSpPr/>
          <p:nvPr/>
        </p:nvSpPr>
        <p:spPr bwMode="auto">
          <a:xfrm>
            <a:off x="150876" y="1645920"/>
            <a:ext cx="2834640" cy="1645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63200074" name="Picture 1878494385" descr="icon_AN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8036" y="1783080"/>
            <a:ext cx="548640" cy="548640"/>
          </a:xfrm>
          <a:prstGeom prst="rect">
            <a:avLst/>
          </a:prstGeom>
        </p:spPr>
      </p:pic>
      <p:sp>
        <p:nvSpPr>
          <p:cNvPr id="735960347" name="TextBox 1878494386"/>
          <p:cNvSpPr txBox="1"/>
          <p:nvPr/>
        </p:nvSpPr>
        <p:spPr bwMode="auto">
          <a:xfrm>
            <a:off x="882396" y="17373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D3858"/>
                </a:solidFill>
              </a:defRPr>
            </a:pPr>
            <a:r>
              <a:rPr/>
              <a:t>ANALIS</a:t>
            </a:r>
            <a:endParaRPr/>
          </a:p>
        </p:txBody>
      </p:sp>
      <p:sp>
        <p:nvSpPr>
          <p:cNvPr id="1246295650" name="TextBox 1878494387"/>
          <p:cNvSpPr txBox="1"/>
          <p:nvPr/>
        </p:nvSpPr>
        <p:spPr bwMode="auto">
          <a:xfrm>
            <a:off x="882396" y="201168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9A45"/>
                </a:solidFill>
              </a:defRPr>
            </a:pPr>
            <a:r>
              <a:rPr/>
              <a:t>Input &amp; Submit</a:t>
            </a:r>
            <a:endParaRPr/>
          </a:p>
        </p:txBody>
      </p:sp>
      <p:sp>
        <p:nvSpPr>
          <p:cNvPr id="1725653614" name="TextBox 1878494388"/>
          <p:cNvSpPr txBox="1"/>
          <p:nvPr/>
        </p:nvSpPr>
        <p:spPr bwMode="auto">
          <a:xfrm>
            <a:off x="288036" y="23774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rPr/>
              <a:t>Input data kredit, upload dokumen, submit &amp; resubmit pengajuan.</a:t>
            </a:r>
            <a:endParaRPr/>
          </a:p>
        </p:txBody>
      </p:sp>
      <p:sp>
        <p:nvSpPr>
          <p:cNvPr id="396116091" name="Rounded Rectangle 1878494389"/>
          <p:cNvSpPr/>
          <p:nvPr/>
        </p:nvSpPr>
        <p:spPr bwMode="auto">
          <a:xfrm>
            <a:off x="3168396" y="1645920"/>
            <a:ext cx="2834640" cy="1645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07698403" name="Picture 1878494390" descr="icon_KA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305556" y="1783080"/>
            <a:ext cx="548640" cy="548640"/>
          </a:xfrm>
          <a:prstGeom prst="rect">
            <a:avLst/>
          </a:prstGeom>
        </p:spPr>
      </p:pic>
      <p:sp>
        <p:nvSpPr>
          <p:cNvPr id="231701271" name="TextBox 1878494391"/>
          <p:cNvSpPr txBox="1"/>
          <p:nvPr/>
        </p:nvSpPr>
        <p:spPr bwMode="auto">
          <a:xfrm>
            <a:off x="3899916" y="17373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D3858"/>
                </a:solidFill>
              </a:defRPr>
            </a:pPr>
            <a:r>
              <a:rPr/>
              <a:t>KASUBAG</a:t>
            </a:r>
            <a:endParaRPr/>
          </a:p>
        </p:txBody>
      </p:sp>
      <p:sp>
        <p:nvSpPr>
          <p:cNvPr id="12804493" name="TextBox 1878494392"/>
          <p:cNvSpPr txBox="1"/>
          <p:nvPr/>
        </p:nvSpPr>
        <p:spPr bwMode="auto">
          <a:xfrm>
            <a:off x="3899916" y="201168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9A45"/>
                </a:solidFill>
              </a:defRPr>
            </a:pPr>
            <a:r>
              <a:rPr/>
              <a:t>Review Awal</a:t>
            </a:r>
            <a:endParaRPr/>
          </a:p>
        </p:txBody>
      </p:sp>
      <p:sp>
        <p:nvSpPr>
          <p:cNvPr id="2109634771" name="TextBox 1878494393"/>
          <p:cNvSpPr txBox="1"/>
          <p:nvPr/>
        </p:nvSpPr>
        <p:spPr bwMode="auto">
          <a:xfrm>
            <a:off x="3305556" y="23774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rPr/>
              <a:t>Verifikasi awal, cek kelengkapan, review data analis.</a:t>
            </a:r>
            <a:endParaRPr/>
          </a:p>
        </p:txBody>
      </p:sp>
      <p:sp>
        <p:nvSpPr>
          <p:cNvPr id="1375986491" name="Rounded Rectangle 1878494394"/>
          <p:cNvSpPr/>
          <p:nvPr/>
        </p:nvSpPr>
        <p:spPr bwMode="auto">
          <a:xfrm>
            <a:off x="6185916" y="1645920"/>
            <a:ext cx="2834640" cy="1645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28388527" name="Picture 1878494395" descr="icon_KP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323076" y="1783080"/>
            <a:ext cx="548640" cy="548640"/>
          </a:xfrm>
          <a:prstGeom prst="rect">
            <a:avLst/>
          </a:prstGeom>
        </p:spPr>
      </p:pic>
      <p:sp>
        <p:nvSpPr>
          <p:cNvPr id="855209988" name="TextBox 1878494396"/>
          <p:cNvSpPr txBox="1"/>
          <p:nvPr/>
        </p:nvSpPr>
        <p:spPr bwMode="auto">
          <a:xfrm>
            <a:off x="6917436" y="17373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D3858"/>
                </a:solidFill>
              </a:defRPr>
            </a:pPr>
            <a:r>
              <a:rPr/>
              <a:t>KEPATUHAN</a:t>
            </a:r>
            <a:endParaRPr/>
          </a:p>
        </p:txBody>
      </p:sp>
      <p:sp>
        <p:nvSpPr>
          <p:cNvPr id="1240081489" name="TextBox 1878494397"/>
          <p:cNvSpPr txBox="1"/>
          <p:nvPr/>
        </p:nvSpPr>
        <p:spPr bwMode="auto">
          <a:xfrm>
            <a:off x="6917436" y="201168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9A45"/>
                </a:solidFill>
              </a:defRPr>
            </a:pPr>
            <a:r>
              <a:rPr/>
              <a:t>Assessment Kepatuhan</a:t>
            </a:r>
            <a:endParaRPr/>
          </a:p>
        </p:txBody>
      </p:sp>
      <p:sp>
        <p:nvSpPr>
          <p:cNvPr id="138600458" name="TextBox 1878494398"/>
          <p:cNvSpPr txBox="1"/>
          <p:nvPr/>
        </p:nvSpPr>
        <p:spPr bwMode="auto">
          <a:xfrm>
            <a:off x="6323076" y="23774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rPr/>
              <a:t>Cek legalitas dokumen, validasi syarat SOP BI &amp; OJK.</a:t>
            </a:r>
            <a:endParaRPr/>
          </a:p>
        </p:txBody>
      </p:sp>
      <p:sp>
        <p:nvSpPr>
          <p:cNvPr id="1774206552" name="Rounded Rectangle 1878494399"/>
          <p:cNvSpPr/>
          <p:nvPr/>
        </p:nvSpPr>
        <p:spPr bwMode="auto">
          <a:xfrm>
            <a:off x="9203436" y="1645920"/>
            <a:ext cx="2834640" cy="1645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05528194" name="Picture 1878494400" descr="icon_KB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340596" y="1783080"/>
            <a:ext cx="548640" cy="548640"/>
          </a:xfrm>
          <a:prstGeom prst="rect">
            <a:avLst/>
          </a:prstGeom>
        </p:spPr>
      </p:pic>
      <p:sp>
        <p:nvSpPr>
          <p:cNvPr id="2124379457" name="TextBox 1878494401"/>
          <p:cNvSpPr txBox="1"/>
          <p:nvPr/>
        </p:nvSpPr>
        <p:spPr bwMode="auto">
          <a:xfrm>
            <a:off x="9934956" y="17373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D3858"/>
                </a:solidFill>
              </a:defRPr>
            </a:pPr>
            <a:r>
              <a:rPr/>
              <a:t>KABAG ANALIS</a:t>
            </a:r>
            <a:endParaRPr/>
          </a:p>
        </p:txBody>
      </p:sp>
      <p:sp>
        <p:nvSpPr>
          <p:cNvPr id="1552245536" name="TextBox 1878494402"/>
          <p:cNvSpPr txBox="1"/>
          <p:nvPr/>
        </p:nvSpPr>
        <p:spPr bwMode="auto">
          <a:xfrm>
            <a:off x="9934956" y="201168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9A45"/>
                </a:solidFill>
              </a:defRPr>
            </a:pPr>
            <a:r>
              <a:rPr/>
              <a:t>Evaluasi Risiko</a:t>
            </a:r>
            <a:endParaRPr/>
          </a:p>
        </p:txBody>
      </p:sp>
      <p:sp>
        <p:nvSpPr>
          <p:cNvPr id="792803831" name="TextBox 1878494403"/>
          <p:cNvSpPr txBox="1"/>
          <p:nvPr/>
        </p:nvSpPr>
        <p:spPr bwMode="auto">
          <a:xfrm>
            <a:off x="9340596" y="23774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rPr/>
              <a:t>Evaluasi risiko kredit, penilaian agunan, analisis keuangan.</a:t>
            </a:r>
            <a:endParaRPr/>
          </a:p>
        </p:txBody>
      </p:sp>
      <p:sp>
        <p:nvSpPr>
          <p:cNvPr id="892060932" name="Rounded Rectangle 1878494404"/>
          <p:cNvSpPr/>
          <p:nvPr/>
        </p:nvSpPr>
        <p:spPr bwMode="auto">
          <a:xfrm>
            <a:off x="1659635" y="3566160"/>
            <a:ext cx="2834640" cy="1645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65326043" name="Picture 1878494405" descr="icon_K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1796795" y="3703320"/>
            <a:ext cx="548640" cy="548640"/>
          </a:xfrm>
          <a:prstGeom prst="rect">
            <a:avLst/>
          </a:prstGeom>
        </p:spPr>
      </p:pic>
      <p:sp>
        <p:nvSpPr>
          <p:cNvPr id="1586468289" name="TextBox 1878494406"/>
          <p:cNvSpPr txBox="1"/>
          <p:nvPr/>
        </p:nvSpPr>
        <p:spPr bwMode="auto">
          <a:xfrm>
            <a:off x="2391155" y="365760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D3858"/>
                </a:solidFill>
              </a:defRPr>
            </a:pPr>
            <a:r>
              <a:rPr/>
              <a:t>KADIV</a:t>
            </a:r>
            <a:endParaRPr/>
          </a:p>
        </p:txBody>
      </p:sp>
      <p:sp>
        <p:nvSpPr>
          <p:cNvPr id="1377557294" name="TextBox 1878494407"/>
          <p:cNvSpPr txBox="1"/>
          <p:nvPr/>
        </p:nvSpPr>
        <p:spPr bwMode="auto">
          <a:xfrm>
            <a:off x="2391155" y="393192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9A45"/>
                </a:solidFill>
              </a:defRPr>
            </a:pPr>
            <a:r>
              <a:rPr/>
              <a:t>Approval Divisi</a:t>
            </a:r>
            <a:endParaRPr/>
          </a:p>
        </p:txBody>
      </p:sp>
      <p:sp>
        <p:nvSpPr>
          <p:cNvPr id="981436504" name="TextBox 1878494408"/>
          <p:cNvSpPr txBox="1"/>
          <p:nvPr/>
        </p:nvSpPr>
        <p:spPr bwMode="auto">
          <a:xfrm>
            <a:off x="1796795" y="42976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rPr/>
              <a:t>Approval divisi, final untuk &lt;500Jt, eskalasi untuk ≥500Jt.</a:t>
            </a:r>
            <a:endParaRPr/>
          </a:p>
        </p:txBody>
      </p:sp>
      <p:sp>
        <p:nvSpPr>
          <p:cNvPr id="1968804703" name="Rounded Rectangle 1878494409"/>
          <p:cNvSpPr/>
          <p:nvPr/>
        </p:nvSpPr>
        <p:spPr bwMode="auto">
          <a:xfrm>
            <a:off x="4677155" y="3566160"/>
            <a:ext cx="2834640" cy="1645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13806287" name="Picture 1878494410" descr="icon_DR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814315" y="3703320"/>
            <a:ext cx="548640" cy="548640"/>
          </a:xfrm>
          <a:prstGeom prst="rect">
            <a:avLst/>
          </a:prstGeom>
        </p:spPr>
      </p:pic>
      <p:sp>
        <p:nvSpPr>
          <p:cNvPr id="312257536" name="TextBox 1878494411"/>
          <p:cNvSpPr txBox="1"/>
          <p:nvPr/>
        </p:nvSpPr>
        <p:spPr bwMode="auto">
          <a:xfrm>
            <a:off x="5408675" y="365760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D3858"/>
                </a:solidFill>
              </a:defRPr>
            </a:pPr>
            <a:r>
              <a:rPr/>
              <a:t>DIREKSI</a:t>
            </a:r>
            <a:endParaRPr/>
          </a:p>
        </p:txBody>
      </p:sp>
      <p:sp>
        <p:nvSpPr>
          <p:cNvPr id="1978105456" name="TextBox 1878494412"/>
          <p:cNvSpPr txBox="1"/>
          <p:nvPr/>
        </p:nvSpPr>
        <p:spPr bwMode="auto">
          <a:xfrm>
            <a:off x="5408675" y="393192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9A45"/>
                </a:solidFill>
              </a:defRPr>
            </a:pPr>
            <a:r>
              <a:rPr/>
              <a:t>Final Approval</a:t>
            </a:r>
            <a:endParaRPr/>
          </a:p>
        </p:txBody>
      </p:sp>
      <p:sp>
        <p:nvSpPr>
          <p:cNvPr id="783103732" name="TextBox 1878494413"/>
          <p:cNvSpPr txBox="1"/>
          <p:nvPr/>
        </p:nvSpPr>
        <p:spPr bwMode="auto">
          <a:xfrm>
            <a:off x="4814315" y="42976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rPr/>
              <a:t>Keputusan final untuk kredit ≥500Jt, hanya Setuju atau Tolak.</a:t>
            </a:r>
            <a:endParaRPr/>
          </a:p>
        </p:txBody>
      </p:sp>
      <p:sp>
        <p:nvSpPr>
          <p:cNvPr id="774938710" name="Rounded Rectangle 1878494414"/>
          <p:cNvSpPr/>
          <p:nvPr/>
        </p:nvSpPr>
        <p:spPr bwMode="auto">
          <a:xfrm>
            <a:off x="7694675" y="3566160"/>
            <a:ext cx="2834640" cy="1645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47030522" name="Picture 1878494415" descr="icon_A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831835" y="3703320"/>
            <a:ext cx="548640" cy="548640"/>
          </a:xfrm>
          <a:prstGeom prst="rect">
            <a:avLst/>
          </a:prstGeom>
        </p:spPr>
      </p:pic>
      <p:sp>
        <p:nvSpPr>
          <p:cNvPr id="148193071" name="TextBox 1878494416"/>
          <p:cNvSpPr txBox="1"/>
          <p:nvPr/>
        </p:nvSpPr>
        <p:spPr bwMode="auto">
          <a:xfrm>
            <a:off x="8426195" y="365760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D3858"/>
                </a:solidFill>
              </a:defRPr>
            </a:pPr>
            <a:r>
              <a:rPr/>
              <a:t>ADMIN</a:t>
            </a:r>
            <a:endParaRPr/>
          </a:p>
        </p:txBody>
      </p:sp>
      <p:sp>
        <p:nvSpPr>
          <p:cNvPr id="500787051" name="TextBox 1878494417"/>
          <p:cNvSpPr txBox="1"/>
          <p:nvPr/>
        </p:nvSpPr>
        <p:spPr bwMode="auto">
          <a:xfrm>
            <a:off x="8426195" y="393192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49A45"/>
                </a:solidFill>
              </a:defRPr>
            </a:pPr>
            <a:r>
              <a:rPr/>
              <a:t>Sistem Admin</a:t>
            </a:r>
            <a:endParaRPr/>
          </a:p>
        </p:txBody>
      </p:sp>
      <p:sp>
        <p:nvSpPr>
          <p:cNvPr id="2137363816" name="TextBox 1878494418"/>
          <p:cNvSpPr txBox="1"/>
          <p:nvPr/>
        </p:nvSpPr>
        <p:spPr bwMode="auto">
          <a:xfrm>
            <a:off x="7831835" y="42976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rPr/>
              <a:t>Manajemen user, parameter, backup, audit &amp; monitoring.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B1D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658774" name="Rectangle 1"/>
          <p:cNvSpPr/>
          <p:nvPr/>
        </p:nvSpPr>
        <p:spPr bwMode="auto"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09860496" name="Rectangle 2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6639781" name="Rectangle 3"/>
          <p:cNvSpPr/>
          <p:nvPr/>
        </p:nvSpPr>
        <p:spPr bwMode="auto">
          <a:xfrm>
            <a:off x="0" y="6803136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3316792" name="TextBox 4"/>
          <p:cNvSpPr txBox="1"/>
          <p:nvPr/>
        </p:nvSpPr>
        <p:spPr bwMode="auto"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/>
              <a:t>TERIMA KASIH</a:t>
            </a:r>
            <a:endParaRPr/>
          </a:p>
        </p:txBody>
      </p:sp>
      <p:sp>
        <p:nvSpPr>
          <p:cNvPr id="1467668754" name="Rectangle 5"/>
          <p:cNvSpPr/>
          <p:nvPr/>
        </p:nvSpPr>
        <p:spPr bwMode="auto">
          <a:xfrm>
            <a:off x="4114800" y="2926080"/>
            <a:ext cx="39319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17738452" name="TextBox 6"/>
          <p:cNvSpPr txBox="1"/>
          <p:nvPr/>
        </p:nvSpPr>
        <p:spPr bwMode="auto">
          <a:xfrm>
            <a:off x="1371600" y="3291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9E0B"/>
                </a:solidFill>
                <a:latin typeface="Calibri"/>
              </a:defRPr>
            </a:pPr>
            <a:r>
              <a:rPr/>
              <a:t>Sistem Aplikasi Kredit — PT BPR Bank Wonosobo</a:t>
            </a:r>
            <a:endParaRPr/>
          </a:p>
        </p:txBody>
      </p:sp>
      <p:sp>
        <p:nvSpPr>
          <p:cNvPr id="1725977944" name="TextBox 7"/>
          <p:cNvSpPr txBox="1"/>
          <p:nvPr/>
        </p:nvSpPr>
        <p:spPr bwMode="auto"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rPr/>
              <a:t>Presentasi Demo Sistem untuk Manajemen</a:t>
            </a:r>
            <a:endParaRPr/>
          </a:p>
        </p:txBody>
      </p:sp>
      <p:sp>
        <p:nvSpPr>
          <p:cNvPr id="458201415" name="TextBox 8"/>
          <p:cNvSpPr txBox="1"/>
          <p:nvPr/>
        </p:nvSpPr>
        <p:spPr bwMode="auto"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rPr/>
              <a:t>Siap untuk sesi tanya jawab &amp; demo live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20</Slides>
  <Notes>20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2026-07-23T14:46:00Z</dcterms:modified>
  <cp:category/>
</cp:coreProperties>
</file>