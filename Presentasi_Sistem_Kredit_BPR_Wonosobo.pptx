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111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674345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790612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67833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411951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541510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632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523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464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A159D-654A-E59A-5414-678E149C9F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051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863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778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7D354B-1CC2-E6CB-30B9-1CA558F584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144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304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028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D421B9-CFB5-B7C2-BC45-25FC56D434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350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5616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8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55840C-B8E7-3880-883E-F3756C7AA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890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037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B01889-AC78-8CB8-6D43-5A464C914C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336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261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644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3479B6-F359-3103-E0C6-156F665A0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409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322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8134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7D8D24-EC07-3D5A-ABE7-80789E8F13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9610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6804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195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FE1A8-CBA0-04B3-F64B-7AAE654E99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138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3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99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6428C-5F1E-5EF8-2C17-F700A53076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614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3134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01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8D8C5D-4434-C5FD-B4E4-68A68FC0A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00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244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03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8AD178-0D59-7843-7D65-001301DFE7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419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566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2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08A10D-0EBE-84E3-6D43-AFD69D8AE8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648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274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465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B9AACC-6E2E-1A71-1937-7BE93FFDBD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085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345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145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D36E14-BFEE-64D9-683F-01A84426DE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006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87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856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FAF3E6-9543-F34A-21A3-A6D85A21F4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867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9666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871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E8BF82-8D32-52F9-152A-0DD3AECCE9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16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2020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087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4464F6-C6FE-40BD-9C39-F18E3393A4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36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70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972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76B74D-9D5E-6B71-136C-D24F2F3755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956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873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456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56D3DE-FB32-068F-7BD0-7F35C6AD2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05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758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784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3D3C1-1AFD-247F-133F-81A0BFCAB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2114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318836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21064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11218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86308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1384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42158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03480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1701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05187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72858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38946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5938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32080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80082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2783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7943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67095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81084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38070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48993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17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094519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78527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31599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87813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91750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33718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04302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790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373834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354304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9631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8603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20794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649666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0700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371504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62327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085340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875980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134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208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574631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15830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53886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1643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3658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6207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71221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57363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018582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0994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6302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11524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15870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465252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27541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32460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59953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236961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4249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7387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078297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1597237" name="Rectangle 2"/>
          <p:cNvSpPr/>
          <p:nvPr/>
        </p:nvSpPr>
        <p:spPr bwMode="auto"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8446123" name="Rectangle 3"/>
          <p:cNvSpPr/>
          <p:nvPr/>
        </p:nvSpPr>
        <p:spPr bwMode="auto"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803618" name="TextBox 4"/>
          <p:cNvSpPr txBox="1"/>
          <p:nvPr/>
        </p:nvSpPr>
        <p:spPr bwMode="auto"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/>
              <a:t>SISTEM APLIKASI KREDIT</a:t>
            </a:r>
            <a:endParaRPr/>
          </a:p>
        </p:txBody>
      </p:sp>
      <p:sp>
        <p:nvSpPr>
          <p:cNvPr id="2105932229" name="TextBox 5"/>
          <p:cNvSpPr txBox="1"/>
          <p:nvPr/>
        </p:nvSpPr>
        <p:spPr bwMode="auto">
          <a:xfrm>
            <a:off x="137160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rPr/>
              <a:t>PT BPR BANK WONOSOBO</a:t>
            </a:r>
            <a:endParaRPr/>
          </a:p>
        </p:txBody>
      </p:sp>
      <p:sp>
        <p:nvSpPr>
          <p:cNvPr id="32265004" name="Rectangle 6"/>
          <p:cNvSpPr/>
          <p:nvPr/>
        </p:nvSpPr>
        <p:spPr bwMode="auto">
          <a:xfrm>
            <a:off x="4114800" y="3108960"/>
            <a:ext cx="3931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8421557" name="TextBox 7"/>
          <p:cNvSpPr txBox="1"/>
          <p:nvPr/>
        </p:nvSpPr>
        <p:spPr bwMode="auto"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5F9"/>
                </a:solidFill>
                <a:latin typeface="Calibri"/>
              </a:defRPr>
            </a:pPr>
            <a:r>
              <a:rPr/>
              <a:t>Panduan Lengkap Alur Sistem &amp; Cara Kerja Setiap Role</a:t>
            </a:r>
            <a:endParaRPr/>
          </a:p>
        </p:txBody>
      </p:sp>
      <p:sp>
        <p:nvSpPr>
          <p:cNvPr id="276577018" name="TextBox 8"/>
          <p:cNvSpPr txBox="1"/>
          <p:nvPr/>
        </p:nvSpPr>
        <p:spPr bwMode="auto"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/>
              <a:t>Presentasi Demo Sistem — Juli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255206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422224" name="TextBox 2"/>
          <p:cNvSpPr txBox="1"/>
          <p:nvPr/>
        </p:nvSpPr>
        <p:spPr bwMode="auto"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/>
              <a:t>DAFTAR ISI PRESENTASI</a:t>
            </a:r>
            <a:endParaRPr/>
          </a:p>
        </p:txBody>
      </p:sp>
      <p:sp>
        <p:nvSpPr>
          <p:cNvPr id="1869195924" name="Rectangle 3"/>
          <p:cNvSpPr/>
          <p:nvPr/>
        </p:nvSpPr>
        <p:spPr bwMode="auto">
          <a:xfrm>
            <a:off x="731520" y="10058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3670468" name="Oval 4"/>
          <p:cNvSpPr/>
          <p:nvPr/>
        </p:nvSpPr>
        <p:spPr bwMode="auto">
          <a:xfrm>
            <a:off x="914400" y="1280160"/>
            <a:ext cx="457200" cy="4572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1520314091" name="TextBox 5"/>
          <p:cNvSpPr txBox="1"/>
          <p:nvPr/>
        </p:nvSpPr>
        <p:spPr bwMode="auto">
          <a:xfrm>
            <a:off x="1554480" y="12984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Alur Sistem</a:t>
            </a:r>
            <a:endParaRPr/>
          </a:p>
        </p:txBody>
      </p:sp>
      <p:sp>
        <p:nvSpPr>
          <p:cNvPr id="481124689" name="TextBox 6"/>
          <p:cNvSpPr txBox="1"/>
          <p:nvPr/>
        </p:nvSpPr>
        <p:spPr bwMode="auto">
          <a:xfrm>
            <a:off x="1554480" y="1572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Overview lengkap alur pengajuan hingga persetujuan</a:t>
            </a:r>
            <a:endParaRPr/>
          </a:p>
        </p:txBody>
      </p:sp>
      <p:sp>
        <p:nvSpPr>
          <p:cNvPr id="891058932" name="Oval 7"/>
          <p:cNvSpPr/>
          <p:nvPr/>
        </p:nvSpPr>
        <p:spPr bwMode="auto">
          <a:xfrm>
            <a:off x="914400" y="19202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1081277538" name="TextBox 8"/>
          <p:cNvSpPr txBox="1"/>
          <p:nvPr/>
        </p:nvSpPr>
        <p:spPr bwMode="auto">
          <a:xfrm>
            <a:off x="1554480" y="1938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Analis</a:t>
            </a:r>
            <a:endParaRPr/>
          </a:p>
        </p:txBody>
      </p:sp>
      <p:sp>
        <p:nvSpPr>
          <p:cNvPr id="490095913" name="TextBox 9"/>
          <p:cNvSpPr txBox="1"/>
          <p:nvPr/>
        </p:nvSpPr>
        <p:spPr bwMode="auto">
          <a:xfrm>
            <a:off x="1554480" y="22128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Proses input data kredit oleh analis</a:t>
            </a:r>
            <a:endParaRPr/>
          </a:p>
        </p:txBody>
      </p:sp>
      <p:sp>
        <p:nvSpPr>
          <p:cNvPr id="1900020161" name="Oval 10"/>
          <p:cNvSpPr/>
          <p:nvPr/>
        </p:nvSpPr>
        <p:spPr bwMode="auto">
          <a:xfrm>
            <a:off x="914400" y="2560320"/>
            <a:ext cx="457200" cy="45720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791762416" name="TextBox 11"/>
          <p:cNvSpPr txBox="1"/>
          <p:nvPr/>
        </p:nvSpPr>
        <p:spPr bwMode="auto">
          <a:xfrm>
            <a:off x="1554480" y="2578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Kepatuhan (TEMP)</a:t>
            </a:r>
            <a:endParaRPr/>
          </a:p>
        </p:txBody>
      </p:sp>
      <p:sp>
        <p:nvSpPr>
          <p:cNvPr id="1144613538" name="TextBox 12"/>
          <p:cNvSpPr txBox="1"/>
          <p:nvPr/>
        </p:nvSpPr>
        <p:spPr bwMode="auto">
          <a:xfrm>
            <a:off x="1554480" y="2852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Review &amp; verifikasi awal oleh Kasubag</a:t>
            </a:r>
            <a:endParaRPr/>
          </a:p>
        </p:txBody>
      </p:sp>
      <p:sp>
        <p:nvSpPr>
          <p:cNvPr id="1232400576" name="Oval 13"/>
          <p:cNvSpPr/>
          <p:nvPr/>
        </p:nvSpPr>
        <p:spPr bwMode="auto">
          <a:xfrm>
            <a:off x="914400" y="3200399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2122271950" name="TextBox 14"/>
          <p:cNvSpPr txBox="1"/>
          <p:nvPr/>
        </p:nvSpPr>
        <p:spPr bwMode="auto">
          <a:xfrm>
            <a:off x="1554480" y="32186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Kepatuhan</a:t>
            </a:r>
            <a:endParaRPr/>
          </a:p>
        </p:txBody>
      </p:sp>
      <p:sp>
        <p:nvSpPr>
          <p:cNvPr id="1792135681" name="TextBox 15"/>
          <p:cNvSpPr txBox="1"/>
          <p:nvPr/>
        </p:nvSpPr>
        <p:spPr bwMode="auto">
          <a:xfrm>
            <a:off x="1554480" y="349300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Penilaian kepatuhan, SOP, &amp; kelengkapan dokumen</a:t>
            </a:r>
            <a:endParaRPr/>
          </a:p>
        </p:txBody>
      </p:sp>
      <p:sp>
        <p:nvSpPr>
          <p:cNvPr id="1503272447" name="Oval 16"/>
          <p:cNvSpPr/>
          <p:nvPr/>
        </p:nvSpPr>
        <p:spPr bwMode="auto">
          <a:xfrm>
            <a:off x="914400" y="384048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5</a:t>
            </a:r>
            <a:endParaRPr/>
          </a:p>
        </p:txBody>
      </p:sp>
      <p:sp>
        <p:nvSpPr>
          <p:cNvPr id="2007189942" name="TextBox 17"/>
          <p:cNvSpPr txBox="1"/>
          <p:nvPr/>
        </p:nvSpPr>
        <p:spPr bwMode="auto">
          <a:xfrm>
            <a:off x="1554480" y="3858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Kabag Analis</a:t>
            </a:r>
            <a:endParaRPr/>
          </a:p>
        </p:txBody>
      </p:sp>
      <p:sp>
        <p:nvSpPr>
          <p:cNvPr id="1402854445" name="TextBox 18"/>
          <p:cNvSpPr txBox="1"/>
          <p:nvPr/>
        </p:nvSpPr>
        <p:spPr bwMode="auto">
          <a:xfrm>
            <a:off x="1554480" y="4133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Evaluasi risiko kredit secara mendalam oleh Kabag Analis</a:t>
            </a:r>
            <a:endParaRPr/>
          </a:p>
        </p:txBody>
      </p:sp>
      <p:sp>
        <p:nvSpPr>
          <p:cNvPr id="1879389442" name="Oval 19"/>
          <p:cNvSpPr/>
          <p:nvPr/>
        </p:nvSpPr>
        <p:spPr bwMode="auto">
          <a:xfrm>
            <a:off x="914400" y="4480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6</a:t>
            </a:r>
            <a:endParaRPr/>
          </a:p>
        </p:txBody>
      </p:sp>
      <p:sp>
        <p:nvSpPr>
          <p:cNvPr id="1373111212" name="TextBox 20"/>
          <p:cNvSpPr txBox="1"/>
          <p:nvPr/>
        </p:nvSpPr>
        <p:spPr bwMode="auto">
          <a:xfrm>
            <a:off x="1554480" y="4498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Kadiv</a:t>
            </a:r>
            <a:endParaRPr/>
          </a:p>
        </p:txBody>
      </p:sp>
      <p:sp>
        <p:nvSpPr>
          <p:cNvPr id="55766369" name="TextBox 21"/>
          <p:cNvSpPr txBox="1"/>
          <p:nvPr/>
        </p:nvSpPr>
        <p:spPr bwMode="auto">
          <a:xfrm>
            <a:off x="1554480" y="4773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Approval divisi &amp; threshold keputusan</a:t>
            </a:r>
            <a:endParaRPr/>
          </a:p>
        </p:txBody>
      </p:sp>
      <p:sp>
        <p:nvSpPr>
          <p:cNvPr id="1173829702" name="Oval 22"/>
          <p:cNvSpPr/>
          <p:nvPr/>
        </p:nvSpPr>
        <p:spPr bwMode="auto">
          <a:xfrm>
            <a:off x="914400" y="5120639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7</a:t>
            </a:r>
            <a:endParaRPr/>
          </a:p>
        </p:txBody>
      </p:sp>
      <p:sp>
        <p:nvSpPr>
          <p:cNvPr id="1951304089" name="TextBox 23"/>
          <p:cNvSpPr txBox="1"/>
          <p:nvPr/>
        </p:nvSpPr>
        <p:spPr bwMode="auto">
          <a:xfrm>
            <a:off x="1554480" y="513892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Direksi</a:t>
            </a:r>
            <a:endParaRPr/>
          </a:p>
        </p:txBody>
      </p:sp>
      <p:sp>
        <p:nvSpPr>
          <p:cNvPr id="632802079" name="TextBox 24"/>
          <p:cNvSpPr txBox="1"/>
          <p:nvPr/>
        </p:nvSpPr>
        <p:spPr bwMode="auto">
          <a:xfrm>
            <a:off x="1554480" y="541324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Persetujuan final untuk kredit besar</a:t>
            </a:r>
            <a:endParaRPr/>
          </a:p>
        </p:txBody>
      </p:sp>
      <p:sp>
        <p:nvSpPr>
          <p:cNvPr id="903578265" name="Oval 25"/>
          <p:cNvSpPr/>
          <p:nvPr/>
        </p:nvSpPr>
        <p:spPr bwMode="auto">
          <a:xfrm>
            <a:off x="914400" y="576071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8</a:t>
            </a:r>
            <a:endParaRPr/>
          </a:p>
        </p:txBody>
      </p:sp>
      <p:sp>
        <p:nvSpPr>
          <p:cNvPr id="764959505" name="TextBox 26"/>
          <p:cNvSpPr txBox="1"/>
          <p:nvPr/>
        </p:nvSpPr>
        <p:spPr bwMode="auto">
          <a:xfrm>
            <a:off x="1554480" y="577900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Admin</a:t>
            </a:r>
            <a:endParaRPr/>
          </a:p>
        </p:txBody>
      </p:sp>
      <p:sp>
        <p:nvSpPr>
          <p:cNvPr id="1775396441" name="TextBox 27"/>
          <p:cNvSpPr txBox="1"/>
          <p:nvPr/>
        </p:nvSpPr>
        <p:spPr bwMode="auto">
          <a:xfrm>
            <a:off x="1554480" y="605332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rPr/>
              <a:t>Manajemen sistem, user &amp; parameter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328328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1181796125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ALUR SISTEM APLIKASI KREDIT</a:t>
            </a:r>
            <a:endParaRPr/>
          </a:p>
        </p:txBody>
      </p:sp>
      <p:sp>
        <p:nvSpPr>
          <p:cNvPr id="674479827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Overview Proses Pengajuan Hingga Persetujuan</a:t>
            </a:r>
            <a:endParaRPr/>
          </a:p>
        </p:txBody>
      </p:sp>
      <p:sp>
        <p:nvSpPr>
          <p:cNvPr id="1494856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5902138" name="Rounded Rectangle 5"/>
          <p:cNvSpPr/>
          <p:nvPr/>
        </p:nvSpPr>
        <p:spPr bwMode="auto">
          <a:xfrm>
            <a:off x="4572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ANALIS</a:t>
            </a:r>
            <a:br>
              <a:rPr/>
            </a:br>
            <a:r>
              <a:rPr/>
              <a:t>(Input)</a:t>
            </a:r>
            <a:endParaRPr/>
          </a:p>
        </p:txBody>
      </p:sp>
      <p:sp>
        <p:nvSpPr>
          <p:cNvPr id="716658355" name="Right Arrow 6"/>
          <p:cNvSpPr/>
          <p:nvPr/>
        </p:nvSpPr>
        <p:spPr bwMode="auto">
          <a:xfrm>
            <a:off x="1965960" y="2331720"/>
            <a:ext cx="4114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0720692" name="Rounded Rectangle 7"/>
          <p:cNvSpPr/>
          <p:nvPr/>
        </p:nvSpPr>
        <p:spPr bwMode="auto">
          <a:xfrm>
            <a:off x="22860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Kasubag analis</a:t>
            </a:r>
            <a:br>
              <a:rPr/>
            </a:br>
            <a:r>
              <a:rPr/>
              <a:t>(Review approval )</a:t>
            </a:r>
            <a:endParaRPr/>
          </a:p>
        </p:txBody>
      </p:sp>
      <p:sp>
        <p:nvSpPr>
          <p:cNvPr id="846525186" name="Right Arrow 8"/>
          <p:cNvSpPr/>
          <p:nvPr/>
        </p:nvSpPr>
        <p:spPr bwMode="auto">
          <a:xfrm>
            <a:off x="3794760" y="2331720"/>
            <a:ext cx="4114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819868" name="Rounded Rectangle 9"/>
          <p:cNvSpPr/>
          <p:nvPr/>
        </p:nvSpPr>
        <p:spPr bwMode="auto">
          <a:xfrm>
            <a:off x="41148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KEPATUHAN</a:t>
            </a:r>
            <a:br>
              <a:rPr/>
            </a:br>
            <a:r>
              <a:rPr/>
              <a:t>(Review)</a:t>
            </a:r>
            <a:endParaRPr/>
          </a:p>
        </p:txBody>
      </p:sp>
      <p:sp>
        <p:nvSpPr>
          <p:cNvPr id="2131387887" name="Right Arrow 10"/>
          <p:cNvSpPr/>
          <p:nvPr/>
        </p:nvSpPr>
        <p:spPr bwMode="auto">
          <a:xfrm>
            <a:off x="5623560" y="2331720"/>
            <a:ext cx="4114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8666401" name="Rounded Rectangle 11"/>
          <p:cNvSpPr/>
          <p:nvPr/>
        </p:nvSpPr>
        <p:spPr bwMode="auto">
          <a:xfrm>
            <a:off x="59436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KABAG ANALIS</a:t>
            </a:r>
            <a:br>
              <a:rPr/>
            </a:br>
            <a:r>
              <a:rPr/>
              <a:t>(Evaluas dan approval i)</a:t>
            </a:r>
            <a:endParaRPr/>
          </a:p>
        </p:txBody>
      </p:sp>
      <p:sp>
        <p:nvSpPr>
          <p:cNvPr id="2008839845" name="Right Arrow 12"/>
          <p:cNvSpPr/>
          <p:nvPr/>
        </p:nvSpPr>
        <p:spPr bwMode="auto">
          <a:xfrm>
            <a:off x="7452360" y="2331720"/>
            <a:ext cx="4114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1986136" name="Rounded Rectangle 13"/>
          <p:cNvSpPr/>
          <p:nvPr/>
        </p:nvSpPr>
        <p:spPr bwMode="auto">
          <a:xfrm>
            <a:off x="77724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KADIV</a:t>
            </a:r>
            <a:br>
              <a:rPr/>
            </a:br>
            <a:r>
              <a:rPr/>
              <a:t>(Approval)</a:t>
            </a:r>
            <a:endParaRPr/>
          </a:p>
        </p:txBody>
      </p:sp>
      <p:sp>
        <p:nvSpPr>
          <p:cNvPr id="363446670" name="Right Arrow 14"/>
          <p:cNvSpPr/>
          <p:nvPr/>
        </p:nvSpPr>
        <p:spPr bwMode="auto">
          <a:xfrm>
            <a:off x="9281160" y="2331720"/>
            <a:ext cx="4114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9339004" name="Rounded Rectangle 15"/>
          <p:cNvSpPr/>
          <p:nvPr/>
        </p:nvSpPr>
        <p:spPr bwMode="auto">
          <a:xfrm>
            <a:off x="9601200" y="2011680"/>
            <a:ext cx="1463040" cy="9144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DIREKSI</a:t>
            </a:r>
            <a:br>
              <a:rPr/>
            </a:br>
            <a:r>
              <a:rPr/>
              <a:t>(Final)</a:t>
            </a:r>
            <a:endParaRPr/>
          </a:p>
        </p:txBody>
      </p:sp>
      <p:sp>
        <p:nvSpPr>
          <p:cNvPr id="1556624314" name="TextBox 16"/>
          <p:cNvSpPr txBox="1"/>
          <p:nvPr/>
        </p:nvSpPr>
        <p:spPr bwMode="auto"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STATUS PENGAJUAN KREDIT:</a:t>
            </a:r>
            <a:endParaRPr/>
          </a:p>
        </p:txBody>
      </p:sp>
      <p:sp>
        <p:nvSpPr>
          <p:cNvPr id="1294412036" name="Rounded Rectangle 17"/>
          <p:cNvSpPr/>
          <p:nvPr/>
        </p:nvSpPr>
        <p:spPr bwMode="auto">
          <a:xfrm>
            <a:off x="731520" y="374903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DRAFT</a:t>
            </a:r>
            <a:endParaRPr/>
          </a:p>
        </p:txBody>
      </p:sp>
      <p:sp>
        <p:nvSpPr>
          <p:cNvPr id="328164621" name="TextBox 18"/>
          <p:cNvSpPr txBox="1"/>
          <p:nvPr/>
        </p:nvSpPr>
        <p:spPr bwMode="auto">
          <a:xfrm>
            <a:off x="196596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Analis input pengajuan kredit baru</a:t>
            </a:r>
            <a:endParaRPr/>
          </a:p>
        </p:txBody>
      </p:sp>
      <p:sp>
        <p:nvSpPr>
          <p:cNvPr id="1962028747" name="Rounded Rectangle 19"/>
          <p:cNvSpPr/>
          <p:nvPr/>
        </p:nvSpPr>
        <p:spPr bwMode="auto">
          <a:xfrm>
            <a:off x="4389120" y="374903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DIAJUKAN</a:t>
            </a:r>
            <a:endParaRPr/>
          </a:p>
        </p:txBody>
      </p:sp>
      <p:sp>
        <p:nvSpPr>
          <p:cNvPr id="1735293010" name="TextBox 20"/>
          <p:cNvSpPr txBox="1"/>
          <p:nvPr/>
        </p:nvSpPr>
        <p:spPr bwMode="auto">
          <a:xfrm>
            <a:off x="562356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Pengajuan dikirim ke rantai approval</a:t>
            </a:r>
            <a:endParaRPr/>
          </a:p>
        </p:txBody>
      </p:sp>
      <p:sp>
        <p:nvSpPr>
          <p:cNvPr id="1654444923" name="Rounded Rectangle 21"/>
          <p:cNvSpPr/>
          <p:nvPr/>
        </p:nvSpPr>
        <p:spPr bwMode="auto">
          <a:xfrm>
            <a:off x="8046720" y="374903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PROSES</a:t>
            </a:r>
            <a:endParaRPr/>
          </a:p>
        </p:txBody>
      </p:sp>
      <p:sp>
        <p:nvSpPr>
          <p:cNvPr id="448514624" name="TextBox 22"/>
          <p:cNvSpPr txBox="1"/>
          <p:nvPr/>
        </p:nvSpPr>
        <p:spPr bwMode="auto">
          <a:xfrm>
            <a:off x="9281160" y="3794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Sedang ditinjau oleh pejabat berwenang</a:t>
            </a:r>
            <a:endParaRPr/>
          </a:p>
        </p:txBody>
      </p:sp>
      <p:sp>
        <p:nvSpPr>
          <p:cNvPr id="1423227580" name="Rounded Rectangle 23"/>
          <p:cNvSpPr/>
          <p:nvPr/>
        </p:nvSpPr>
        <p:spPr bwMode="auto">
          <a:xfrm>
            <a:off x="731520" y="438911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DISETUJUI</a:t>
            </a:r>
            <a:endParaRPr/>
          </a:p>
        </p:txBody>
      </p:sp>
      <p:sp>
        <p:nvSpPr>
          <p:cNvPr id="289294020" name="TextBox 24"/>
          <p:cNvSpPr txBox="1"/>
          <p:nvPr/>
        </p:nvSpPr>
        <p:spPr bwMode="auto">
          <a:xfrm>
            <a:off x="1965960" y="4434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Kredit disetujui oleh pejabat terakhir</a:t>
            </a:r>
            <a:endParaRPr/>
          </a:p>
        </p:txBody>
      </p:sp>
      <p:sp>
        <p:nvSpPr>
          <p:cNvPr id="833209986" name="Rounded Rectangle 25"/>
          <p:cNvSpPr/>
          <p:nvPr/>
        </p:nvSpPr>
        <p:spPr bwMode="auto">
          <a:xfrm>
            <a:off x="4389120" y="438911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DITOLAK</a:t>
            </a:r>
            <a:endParaRPr/>
          </a:p>
        </p:txBody>
      </p:sp>
      <p:sp>
        <p:nvSpPr>
          <p:cNvPr id="96120296" name="TextBox 26"/>
          <p:cNvSpPr txBox="1"/>
          <p:nvPr/>
        </p:nvSpPr>
        <p:spPr bwMode="auto">
          <a:xfrm>
            <a:off x="5623560" y="4434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Kredit ditolak, dikembalikan ke analis</a:t>
            </a:r>
            <a:endParaRPr/>
          </a:p>
        </p:txBody>
      </p:sp>
      <p:sp>
        <p:nvSpPr>
          <p:cNvPr id="1312086341" name="Rounded Rectangle 27"/>
          <p:cNvSpPr/>
          <p:nvPr/>
        </p:nvSpPr>
        <p:spPr bwMode="auto">
          <a:xfrm>
            <a:off x="8046720" y="4389119"/>
            <a:ext cx="1097280" cy="36576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/>
              <a:t>REVISI</a:t>
            </a:r>
            <a:endParaRPr/>
          </a:p>
        </p:txBody>
      </p:sp>
      <p:sp>
        <p:nvSpPr>
          <p:cNvPr id="49715250" name="TextBox 28"/>
          <p:cNvSpPr txBox="1"/>
          <p:nvPr/>
        </p:nvSpPr>
        <p:spPr bwMode="auto">
          <a:xfrm>
            <a:off x="9281160" y="4434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Perlu perbaikan data oleh analis</a:t>
            </a:r>
            <a:endParaRPr/>
          </a:p>
        </p:txBody>
      </p:sp>
      <p:sp>
        <p:nvSpPr>
          <p:cNvPr id="385347031" name="Rounded Rectangle 29"/>
          <p:cNvSpPr/>
          <p:nvPr/>
        </p:nvSpPr>
        <p:spPr bwMode="auto">
          <a:xfrm>
            <a:off x="731520" y="5120640"/>
            <a:ext cx="10698480" cy="109728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760719" name="TextBox 30"/>
          <p:cNvSpPr txBox="1"/>
          <p:nvPr/>
        </p:nvSpPr>
        <p:spPr bwMode="auto">
          <a:xfrm>
            <a:off x="91440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rPr/>
              <a:t>⚡ FITUR AUTO-SKIP &amp; THRESHOLD AMOUNT</a:t>
            </a:r>
            <a:endParaRPr/>
          </a:p>
        </p:txBody>
      </p:sp>
      <p:sp>
        <p:nvSpPr>
          <p:cNvPr id="793357946" name="TextBox 31"/>
          <p:cNvSpPr txBox="1"/>
          <p:nvPr/>
        </p:nvSpPr>
        <p:spPr bwMode="auto">
          <a:xfrm>
            <a:off x="91440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rPr/>
              <a:t>• Jika pejabat sedang cuti/sakit/berhalangan, sistem otomatis melompati ke pejabat aktif berikutnya</a:t>
            </a:r>
            <a:br>
              <a:rPr/>
            </a:br>
            <a:r>
              <a:rPr/>
              <a:t>• Kredit &lt; Rp 500 Juta: Approval final di level KADIV (tidak perlu ke Direksi)</a:t>
            </a:r>
            <a:br>
              <a:rPr/>
            </a:br>
            <a:r>
              <a:rPr/>
              <a:t>• Kredit ≥ Rp 500 Juta: Harus mendapat persetujuan DIREKSI sebagai level tertinggi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583939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964739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0919673" name="TextBox 478974201"/>
          <p:cNvSpPr txBox="1"/>
          <p:nvPr/>
        </p:nvSpPr>
        <p:spPr bwMode="auto"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D3858"/>
                </a:solidFill>
              </a:defRPr>
            </a:pPr>
            <a:r>
              <a:rPr/>
              <a:t>BANK CREDIT APPLICATION SYSTEM WORKFLOW</a:t>
            </a:r>
            <a:endParaRPr/>
          </a:p>
        </p:txBody>
      </p:sp>
      <p:sp>
        <p:nvSpPr>
          <p:cNvPr id="599060903" name="TextBox 478974202"/>
          <p:cNvSpPr txBox="1"/>
          <p:nvPr/>
        </p:nvSpPr>
        <p:spPr bwMode="auto">
          <a:xfrm>
            <a:off x="457200" y="640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1D3858"/>
                </a:solidFill>
              </a:defRPr>
            </a:pPr>
            <a:r>
              <a:rPr/>
              <a:t>Corporate Banking Process</a:t>
            </a:r>
            <a:endParaRPr/>
          </a:p>
        </p:txBody>
      </p:sp>
      <p:sp>
        <p:nvSpPr>
          <p:cNvPr id="1389992829" name="Rounded Rectangle 478974203"/>
          <p:cNvSpPr/>
          <p:nvPr/>
        </p:nvSpPr>
        <p:spPr bwMode="auto">
          <a:xfrm>
            <a:off x="3429000" y="11887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ANALIS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(INPUT DATA)</a:t>
            </a:r>
            <a:endParaRPr/>
          </a:p>
        </p:txBody>
      </p:sp>
      <p:sp>
        <p:nvSpPr>
          <p:cNvPr id="1863120364" name="Rounded Rectangle 478974204"/>
          <p:cNvSpPr/>
          <p:nvPr/>
        </p:nvSpPr>
        <p:spPr bwMode="auto">
          <a:xfrm>
            <a:off x="3429000" y="19202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KASUBAG ANALIS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(REVIEW)</a:t>
            </a:r>
            <a:endParaRPr/>
          </a:p>
        </p:txBody>
      </p:sp>
      <p:sp>
        <p:nvSpPr>
          <p:cNvPr id="339513038" name="Down Arrow 478974205"/>
          <p:cNvSpPr/>
          <p:nvPr/>
        </p:nvSpPr>
        <p:spPr bwMode="auto">
          <a:xfrm>
            <a:off x="4480560" y="173736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0500958" name="Rounded Rectangle 478974206"/>
          <p:cNvSpPr/>
          <p:nvPr/>
        </p:nvSpPr>
        <p:spPr bwMode="auto">
          <a:xfrm>
            <a:off x="3429000" y="26517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KEPATUHAN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(ASSESSMENT)</a:t>
            </a:r>
            <a:endParaRPr/>
          </a:p>
        </p:txBody>
      </p:sp>
      <p:sp>
        <p:nvSpPr>
          <p:cNvPr id="322707410" name="Down Arrow 478974207"/>
          <p:cNvSpPr/>
          <p:nvPr/>
        </p:nvSpPr>
        <p:spPr bwMode="auto">
          <a:xfrm>
            <a:off x="4480560" y="246888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1451417" name="Rounded Rectangle 478974208"/>
          <p:cNvSpPr/>
          <p:nvPr/>
        </p:nvSpPr>
        <p:spPr bwMode="auto">
          <a:xfrm>
            <a:off x="3429000" y="338328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KABAG ANALIS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(REVIEW)</a:t>
            </a:r>
            <a:endParaRPr/>
          </a:p>
        </p:txBody>
      </p:sp>
      <p:sp>
        <p:nvSpPr>
          <p:cNvPr id="190505869" name="Down Arrow 478974209"/>
          <p:cNvSpPr/>
          <p:nvPr/>
        </p:nvSpPr>
        <p:spPr bwMode="auto">
          <a:xfrm>
            <a:off x="4480560" y="320040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132912" name="Rounded Rectangle 478974210"/>
          <p:cNvSpPr/>
          <p:nvPr/>
        </p:nvSpPr>
        <p:spPr bwMode="auto">
          <a:xfrm>
            <a:off x="3429000" y="411480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KADIV BISNIS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(REVIEW)</a:t>
            </a:r>
            <a:endParaRPr/>
          </a:p>
        </p:txBody>
      </p:sp>
      <p:sp>
        <p:nvSpPr>
          <p:cNvPr id="1563517341" name="Down Arrow 478974211"/>
          <p:cNvSpPr/>
          <p:nvPr/>
        </p:nvSpPr>
        <p:spPr bwMode="auto">
          <a:xfrm>
            <a:off x="4480560" y="393192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102659" name="Diamond 478974212"/>
          <p:cNvSpPr/>
          <p:nvPr/>
        </p:nvSpPr>
        <p:spPr bwMode="auto">
          <a:xfrm>
            <a:off x="3429000" y="4846320"/>
            <a:ext cx="2286000" cy="731520"/>
          </a:xfrm>
          <a:prstGeom prst="diamond">
            <a:avLst/>
          </a:prstGeom>
          <a:solidFill>
            <a:srgbClr val="C49A45"/>
          </a:solidFill>
          <a:ln>
            <a:solidFill>
              <a:srgbClr val="C4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NILAI KREDIT</a:t>
            </a:r>
            <a:endParaRPr/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(LOAN AMOUNT)</a:t>
            </a:r>
            <a:endParaRPr/>
          </a:p>
        </p:txBody>
      </p:sp>
      <p:sp>
        <p:nvSpPr>
          <p:cNvPr id="889551466" name="Down Arrow 478974213"/>
          <p:cNvSpPr/>
          <p:nvPr/>
        </p:nvSpPr>
        <p:spPr bwMode="auto">
          <a:xfrm>
            <a:off x="4480560" y="466344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4061526" name="TextBox 478974214"/>
          <p:cNvSpPr txBox="1"/>
          <p:nvPr/>
        </p:nvSpPr>
        <p:spPr bwMode="auto">
          <a:xfrm>
            <a:off x="2057400" y="4663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C49A45"/>
                </a:solidFill>
              </a:defRPr>
            </a:pPr>
            <a:r>
              <a:rPr/>
              <a:t>&lt; 500 Juta</a:t>
            </a:r>
            <a:endParaRPr/>
          </a:p>
        </p:txBody>
      </p:sp>
      <p:cxnSp>
        <p:nvCxnSpPr>
          <p:cNvPr id="1110235659" name="Connector 478974215"/>
          <p:cNvCxnSpPr/>
          <p:nvPr/>
        </p:nvCxnSpPr>
        <p:spPr bwMode="auto">
          <a:xfrm flipH="1">
            <a:off x="2514600" y="5212080"/>
            <a:ext cx="914400" cy="0"/>
          </a:xfrm>
          <a:prstGeom prst="line">
            <a:avLst/>
          </a:prstGeom>
          <a:ln>
            <a:solidFill>
              <a:srgbClr val="1D3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214839" name="Rounded Rectangle 478974216"/>
          <p:cNvSpPr/>
          <p:nvPr/>
        </p:nvSpPr>
        <p:spPr bwMode="auto">
          <a:xfrm>
            <a:off x="1143000" y="49377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STOP AT</a:t>
            </a:r>
            <a:endParaRPr/>
          </a:p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KADIV BISNIS</a:t>
            </a:r>
            <a:endParaRPr/>
          </a:p>
        </p:txBody>
      </p:sp>
      <p:sp>
        <p:nvSpPr>
          <p:cNvPr id="1101210814" name="TextBox 478974217"/>
          <p:cNvSpPr txBox="1"/>
          <p:nvPr/>
        </p:nvSpPr>
        <p:spPr bwMode="auto">
          <a:xfrm>
            <a:off x="5715000" y="4663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C49A45"/>
                </a:solidFill>
              </a:defRPr>
            </a:pPr>
            <a:r>
              <a:rPr/>
              <a:t>&gt;= 500 Juta</a:t>
            </a:r>
            <a:endParaRPr/>
          </a:p>
        </p:txBody>
      </p:sp>
      <p:cxnSp>
        <p:nvCxnSpPr>
          <p:cNvPr id="1452373555" name="Connector 478974218"/>
          <p:cNvCxnSpPr/>
          <p:nvPr/>
        </p:nvCxnSpPr>
        <p:spPr bwMode="auto">
          <a:xfrm>
            <a:off x="5715000" y="5212080"/>
            <a:ext cx="457200" cy="0"/>
          </a:xfrm>
          <a:prstGeom prst="line">
            <a:avLst/>
          </a:prstGeom>
          <a:ln>
            <a:solidFill>
              <a:srgbClr val="1D3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3282230" name="Rounded Rectangle 478974219"/>
          <p:cNvSpPr/>
          <p:nvPr/>
        </p:nvSpPr>
        <p:spPr bwMode="auto">
          <a:xfrm>
            <a:off x="6172200" y="4846320"/>
            <a:ext cx="2286000" cy="73152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DIREKSI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(FINAL APPROVAL)</a:t>
            </a:r>
            <a:endParaRPr/>
          </a:p>
        </p:txBody>
      </p:sp>
      <p:sp>
        <p:nvSpPr>
          <p:cNvPr id="1122578001" name="Rounded Rectangle 478974220"/>
          <p:cNvSpPr/>
          <p:nvPr/>
        </p:nvSpPr>
        <p:spPr bwMode="auto">
          <a:xfrm>
            <a:off x="914400" y="585216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DISETUJUI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(APPROVED)</a:t>
            </a:r>
            <a:endParaRPr/>
          </a:p>
        </p:txBody>
      </p:sp>
      <p:sp>
        <p:nvSpPr>
          <p:cNvPr id="1414259249" name="Rounded Rectangle 478974221"/>
          <p:cNvSpPr/>
          <p:nvPr/>
        </p:nvSpPr>
        <p:spPr bwMode="auto">
          <a:xfrm>
            <a:off x="6400800" y="585216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DITOLAK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(REJECTED)</a:t>
            </a:r>
            <a:endParaRPr/>
          </a:p>
        </p:txBody>
      </p:sp>
      <p:sp>
        <p:nvSpPr>
          <p:cNvPr id="1606686144" name="Down Arrow 478974222"/>
          <p:cNvSpPr/>
          <p:nvPr/>
        </p:nvSpPr>
        <p:spPr bwMode="auto">
          <a:xfrm>
            <a:off x="1737360" y="5486400"/>
            <a:ext cx="182880" cy="3657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478641121" name="Connector 478974223"/>
          <p:cNvCxnSpPr/>
          <p:nvPr/>
        </p:nvCxnSpPr>
        <p:spPr bwMode="auto">
          <a:xfrm>
            <a:off x="7315200" y="5577840"/>
            <a:ext cx="0" cy="91440"/>
          </a:xfrm>
          <a:prstGeom prst="line">
            <a:avLst/>
          </a:prstGeom>
          <a:ln>
            <a:solidFill>
              <a:srgbClr val="1D3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6135950" name="Connector 478974224"/>
          <p:cNvCxnSpPr/>
          <p:nvPr/>
        </p:nvCxnSpPr>
        <p:spPr bwMode="auto">
          <a:xfrm flipH="1">
            <a:off x="2743200" y="5669280"/>
            <a:ext cx="4572000" cy="0"/>
          </a:xfrm>
          <a:prstGeom prst="line">
            <a:avLst/>
          </a:prstGeom>
          <a:ln>
            <a:solidFill>
              <a:srgbClr val="1D3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5324505" name="Down Arrow 478974225"/>
          <p:cNvSpPr/>
          <p:nvPr/>
        </p:nvSpPr>
        <p:spPr bwMode="auto">
          <a:xfrm>
            <a:off x="2651760" y="566928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02117031" name="Connector 478974226"/>
          <p:cNvCxnSpPr/>
          <p:nvPr/>
        </p:nvCxnSpPr>
        <p:spPr bwMode="auto">
          <a:xfrm>
            <a:off x="7315200" y="5669280"/>
            <a:ext cx="0" cy="0"/>
          </a:xfrm>
          <a:prstGeom prst="line">
            <a:avLst/>
          </a:prstGeom>
          <a:ln>
            <a:solidFill>
              <a:srgbClr val="1D3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059924" name="Down Arrow 478974227"/>
          <p:cNvSpPr/>
          <p:nvPr/>
        </p:nvSpPr>
        <p:spPr bwMode="auto">
          <a:xfrm>
            <a:off x="7223760" y="566928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642224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7171390" name="Oval 2"/>
          <p:cNvSpPr/>
          <p:nvPr/>
        </p:nvSpPr>
        <p:spPr bwMode="auto">
          <a:xfrm>
            <a:off x="457200" y="274320"/>
            <a:ext cx="548640" cy="548640"/>
          </a:xfrm>
          <a:prstGeom prst="ellipse">
            <a:avLst/>
          </a:prstGeom>
          <a:solidFill>
            <a:srgbClr val="C49A45"/>
          </a:solidFill>
          <a:ln>
            <a:solidFill>
              <a:srgbClr val="C4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234859694" name="TextBox 3"/>
          <p:cNvSpPr txBox="1"/>
          <p:nvPr/>
        </p:nvSpPr>
        <p:spPr bwMode="auto">
          <a:xfrm>
            <a:off x="1143000" y="2286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D3858"/>
                </a:solidFill>
              </a:defRPr>
            </a:pPr>
            <a:r>
              <a:rPr/>
              <a:t>CARA KERJA ANALIS (INPUT KREDIT)</a:t>
            </a:r>
            <a:endParaRPr/>
          </a:p>
        </p:txBody>
      </p:sp>
      <p:sp>
        <p:nvSpPr>
          <p:cNvPr id="537735372" name="TextBox 4"/>
          <p:cNvSpPr txBox="1"/>
          <p:nvPr/>
        </p:nvSpPr>
        <p:spPr bwMode="auto">
          <a:xfrm>
            <a:off x="1143000" y="6400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rPr/>
              <a:t>Proses Input Data Pengajuan Kredit oleh Analis</a:t>
            </a:r>
            <a:endParaRPr/>
          </a:p>
        </p:txBody>
      </p:sp>
      <p:sp>
        <p:nvSpPr>
          <p:cNvPr id="1373579521" name="Rectangle 5"/>
          <p:cNvSpPr/>
          <p:nvPr/>
        </p:nvSpPr>
        <p:spPr bwMode="auto">
          <a:xfrm>
            <a:off x="457200" y="960120"/>
            <a:ext cx="11277295" cy="27432"/>
          </a:xfrm>
          <a:prstGeom prst="rect">
            <a:avLst/>
          </a:prstGeom>
          <a:solidFill>
            <a:srgbClr val="C49A45"/>
          </a:solidFill>
          <a:ln>
            <a:solidFill>
              <a:srgbClr val="C49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1263050" name="TextBox 6"/>
          <p:cNvSpPr txBox="1"/>
          <p:nvPr/>
        </p:nvSpPr>
        <p:spPr bwMode="auto">
          <a:xfrm>
            <a:off x="457200" y="10515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D3858"/>
                </a:solidFill>
              </a:defRPr>
            </a:pPr>
            <a:r>
              <a:rPr/>
              <a:t>JENIS KREDIT YANG TERSEDIA:</a:t>
            </a:r>
            <a:endParaRPr/>
          </a:p>
        </p:txBody>
      </p:sp>
      <p:sp>
        <p:nvSpPr>
          <p:cNvPr id="1680840616" name="Rounded Rectangle 7"/>
          <p:cNvSpPr/>
          <p:nvPr/>
        </p:nvSpPr>
        <p:spPr bwMode="auto">
          <a:xfrm>
            <a:off x="45720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Umum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umum untuk</a:t>
            </a:r>
            <a:br>
              <a:rPr/>
            </a:br>
            <a:r>
              <a:rPr/>
              <a:t>nasabah perorangan</a:t>
            </a:r>
            <a:endParaRPr/>
          </a:p>
        </p:txBody>
      </p:sp>
      <p:sp>
        <p:nvSpPr>
          <p:cNvPr id="988090886" name="Rounded Rectangle 8"/>
          <p:cNvSpPr/>
          <p:nvPr/>
        </p:nvSpPr>
        <p:spPr bwMode="auto">
          <a:xfrm>
            <a:off x="233172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PPPK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untuk Pegawai</a:t>
            </a:r>
            <a:br>
              <a:rPr/>
            </a:br>
            <a:r>
              <a:rPr/>
              <a:t>Pemerintah (PPPK)</a:t>
            </a:r>
            <a:endParaRPr/>
          </a:p>
        </p:txBody>
      </p:sp>
      <p:sp>
        <p:nvSpPr>
          <p:cNvPr id="1054682716" name="Rounded Rectangle 9"/>
          <p:cNvSpPr/>
          <p:nvPr/>
        </p:nvSpPr>
        <p:spPr bwMode="auto">
          <a:xfrm>
            <a:off x="420624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Perangkat Desa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khusus</a:t>
            </a:r>
            <a:br>
              <a:rPr/>
            </a:br>
            <a:r>
              <a:rPr/>
              <a:t>Perangkat Desa</a:t>
            </a:r>
            <a:endParaRPr/>
          </a:p>
        </p:txBody>
      </p:sp>
      <p:sp>
        <p:nvSpPr>
          <p:cNvPr id="1961761228" name="Rounded Rectangle 10"/>
          <p:cNvSpPr/>
          <p:nvPr/>
        </p:nvSpPr>
        <p:spPr bwMode="auto">
          <a:xfrm>
            <a:off x="608076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KPR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Pemilikan</a:t>
            </a:r>
            <a:br>
              <a:rPr/>
            </a:br>
            <a:r>
              <a:rPr/>
              <a:t>Rumah</a:t>
            </a:r>
            <a:endParaRPr/>
          </a:p>
        </p:txBody>
      </p:sp>
      <p:sp>
        <p:nvSpPr>
          <p:cNvPr id="1064583026" name="Rounded Rectangle 11"/>
          <p:cNvSpPr/>
          <p:nvPr/>
        </p:nvSpPr>
        <p:spPr bwMode="auto">
          <a:xfrm>
            <a:off x="795528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Kretamas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Emas</a:t>
            </a:r>
            <a:br>
              <a:rPr/>
            </a:br>
            <a:r>
              <a:rPr/>
              <a:t>(Gold Loan)</a:t>
            </a:r>
            <a:endParaRPr/>
          </a:p>
        </p:txBody>
      </p:sp>
      <p:sp>
        <p:nvSpPr>
          <p:cNvPr id="1568033353" name="Rounded Rectangle 12"/>
          <p:cNvSpPr/>
          <p:nvPr/>
        </p:nvSpPr>
        <p:spPr bwMode="auto">
          <a:xfrm>
            <a:off x="9829800" y="1371600"/>
            <a:ext cx="1783080" cy="640080"/>
          </a:xfrm>
          <a:prstGeom prst="roundRect">
            <a:avLst>
              <a:gd name="adj" fmla="val 16667"/>
            </a:avLst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Cash Collateral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dengan</a:t>
            </a:r>
            <a:br>
              <a:rPr/>
            </a:br>
            <a:r>
              <a:rPr/>
              <a:t>jaminan deposito</a:t>
            </a:r>
            <a:endParaRPr/>
          </a:p>
        </p:txBody>
      </p:sp>
      <p:sp>
        <p:nvSpPr>
          <p:cNvPr id="1424883366" name="Rounded Rectangle 13"/>
          <p:cNvSpPr/>
          <p:nvPr/>
        </p:nvSpPr>
        <p:spPr bwMode="auto">
          <a:xfrm>
            <a:off x="457200" y="2103120"/>
            <a:ext cx="11277295" cy="32004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rPr/>
              <a:t>⚠️  PENTING: Jenis kredit di atas terbatas untuk maksimal plafond kredit Rp 50.000.000 (lima puluh juta rupiah)</a:t>
            </a:r>
            <a:endParaRPr/>
          </a:p>
        </p:txBody>
      </p:sp>
      <p:sp>
        <p:nvSpPr>
          <p:cNvPr id="1683246439" name="TextBox 14"/>
          <p:cNvSpPr txBox="1"/>
          <p:nvPr/>
        </p:nvSpPr>
        <p:spPr bwMode="auto">
          <a:xfrm>
            <a:off x="457200" y="25146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D3858"/>
                </a:solidFill>
              </a:defRPr>
            </a:pPr>
            <a:r>
              <a:rPr/>
              <a:t>6 TAHAP INPUT DATA KREDIT:</a:t>
            </a:r>
            <a:endParaRPr/>
          </a:p>
        </p:txBody>
      </p:sp>
      <p:sp>
        <p:nvSpPr>
          <p:cNvPr id="2094233578" name="Rounded Rectangle 15"/>
          <p:cNvSpPr/>
          <p:nvPr/>
        </p:nvSpPr>
        <p:spPr bwMode="auto">
          <a:xfrm>
            <a:off x="457200" y="283464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9132116" name="Oval 16"/>
          <p:cNvSpPr/>
          <p:nvPr/>
        </p:nvSpPr>
        <p:spPr bwMode="auto">
          <a:xfrm>
            <a:off x="530352" y="290779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1989351772" name="TextBox 17"/>
          <p:cNvSpPr txBox="1"/>
          <p:nvPr/>
        </p:nvSpPr>
        <p:spPr bwMode="auto">
          <a:xfrm>
            <a:off x="841248" y="290779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Data Pemohon</a:t>
            </a:r>
            <a:endParaRPr/>
          </a:p>
        </p:txBody>
      </p:sp>
      <p:sp>
        <p:nvSpPr>
          <p:cNvPr id="1181499248" name="TextBox 18"/>
          <p:cNvSpPr txBox="1"/>
          <p:nvPr/>
        </p:nvSpPr>
        <p:spPr bwMode="auto">
          <a:xfrm>
            <a:off x="530352" y="316382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NIK, Nama, Alamat, Pekerjaan, Tanggal Lahir, Status Perkawinan</a:t>
            </a:r>
            <a:endParaRPr/>
          </a:p>
        </p:txBody>
      </p:sp>
      <p:sp>
        <p:nvSpPr>
          <p:cNvPr id="890283611" name="Rounded Rectangle 19"/>
          <p:cNvSpPr/>
          <p:nvPr/>
        </p:nvSpPr>
        <p:spPr bwMode="auto">
          <a:xfrm>
            <a:off x="4206240" y="283464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2809865" name="Oval 20"/>
          <p:cNvSpPr/>
          <p:nvPr/>
        </p:nvSpPr>
        <p:spPr bwMode="auto">
          <a:xfrm>
            <a:off x="4279392" y="290779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621707483" name="TextBox 21"/>
          <p:cNvSpPr txBox="1"/>
          <p:nvPr/>
        </p:nvSpPr>
        <p:spPr bwMode="auto">
          <a:xfrm>
            <a:off x="4590288" y="290779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Penghasilan</a:t>
            </a:r>
            <a:endParaRPr/>
          </a:p>
        </p:txBody>
      </p:sp>
      <p:sp>
        <p:nvSpPr>
          <p:cNvPr id="1960270855" name="TextBox 22"/>
          <p:cNvSpPr txBox="1"/>
          <p:nvPr/>
        </p:nvSpPr>
        <p:spPr bwMode="auto">
          <a:xfrm>
            <a:off x="4279392" y="316382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Gaji pokok, tunjangan, penghasilan lain, analisa repayment capacity</a:t>
            </a:r>
            <a:endParaRPr/>
          </a:p>
        </p:txBody>
      </p:sp>
      <p:sp>
        <p:nvSpPr>
          <p:cNvPr id="734176114" name="Rounded Rectangle 23"/>
          <p:cNvSpPr/>
          <p:nvPr/>
        </p:nvSpPr>
        <p:spPr bwMode="auto">
          <a:xfrm>
            <a:off x="7955280" y="283464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5851640" name="Oval 24"/>
          <p:cNvSpPr/>
          <p:nvPr/>
        </p:nvSpPr>
        <p:spPr bwMode="auto">
          <a:xfrm>
            <a:off x="8028432" y="290779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337125361" name="TextBox 25"/>
          <p:cNvSpPr txBox="1"/>
          <p:nvPr/>
        </p:nvSpPr>
        <p:spPr bwMode="auto">
          <a:xfrm>
            <a:off x="8339328" y="290779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Agunan / Jaminan</a:t>
            </a:r>
            <a:endParaRPr/>
          </a:p>
        </p:txBody>
      </p:sp>
      <p:sp>
        <p:nvSpPr>
          <p:cNvPr id="1579324658" name="TextBox 26"/>
          <p:cNvSpPr txBox="1"/>
          <p:nvPr/>
        </p:nvSpPr>
        <p:spPr bwMode="auto">
          <a:xfrm>
            <a:off x="8028432" y="316382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Data kendaraan/tanah/bangunan, foto agunan, taksasi nilai</a:t>
            </a:r>
            <a:endParaRPr/>
          </a:p>
        </p:txBody>
      </p:sp>
      <p:sp>
        <p:nvSpPr>
          <p:cNvPr id="1100361719" name="Rounded Rectangle 27"/>
          <p:cNvSpPr/>
          <p:nvPr/>
        </p:nvSpPr>
        <p:spPr bwMode="auto">
          <a:xfrm>
            <a:off x="457200" y="361188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27068" name="Oval 28"/>
          <p:cNvSpPr/>
          <p:nvPr/>
        </p:nvSpPr>
        <p:spPr bwMode="auto">
          <a:xfrm>
            <a:off x="530352" y="368503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626116668" name="TextBox 29"/>
          <p:cNvSpPr txBox="1"/>
          <p:nvPr/>
        </p:nvSpPr>
        <p:spPr bwMode="auto">
          <a:xfrm>
            <a:off x="841248" y="368503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Struktur Kredit</a:t>
            </a:r>
            <a:endParaRPr/>
          </a:p>
        </p:txBody>
      </p:sp>
      <p:sp>
        <p:nvSpPr>
          <p:cNvPr id="1480943527" name="TextBox 30"/>
          <p:cNvSpPr txBox="1"/>
          <p:nvPr/>
        </p:nvSpPr>
        <p:spPr bwMode="auto">
          <a:xfrm>
            <a:off x="530352" y="394106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Plafond, jangka waktu, suku bunga, tujuan penggunaan kredit</a:t>
            </a:r>
            <a:endParaRPr/>
          </a:p>
        </p:txBody>
      </p:sp>
      <p:sp>
        <p:nvSpPr>
          <p:cNvPr id="1715812580" name="Rounded Rectangle 31"/>
          <p:cNvSpPr/>
          <p:nvPr/>
        </p:nvSpPr>
        <p:spPr bwMode="auto">
          <a:xfrm>
            <a:off x="4206240" y="361188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2624743" name="Oval 32"/>
          <p:cNvSpPr/>
          <p:nvPr/>
        </p:nvSpPr>
        <p:spPr bwMode="auto">
          <a:xfrm>
            <a:off x="4279392" y="368503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5</a:t>
            </a:r>
            <a:endParaRPr/>
          </a:p>
        </p:txBody>
      </p:sp>
      <p:sp>
        <p:nvSpPr>
          <p:cNvPr id="1020004210" name="TextBox 33"/>
          <p:cNvSpPr txBox="1"/>
          <p:nvPr/>
        </p:nvSpPr>
        <p:spPr bwMode="auto">
          <a:xfrm>
            <a:off x="4590288" y="368503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Neraca Keuangan</a:t>
            </a:r>
            <a:endParaRPr/>
          </a:p>
        </p:txBody>
      </p:sp>
      <p:sp>
        <p:nvSpPr>
          <p:cNvPr id="800950090" name="TextBox 34"/>
          <p:cNvSpPr txBox="1"/>
          <p:nvPr/>
        </p:nvSpPr>
        <p:spPr bwMode="auto">
          <a:xfrm>
            <a:off x="4279392" y="394106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Aset, kewajiban, modal bersih (untuk kredit usaha/umum)</a:t>
            </a:r>
            <a:endParaRPr/>
          </a:p>
        </p:txBody>
      </p:sp>
      <p:sp>
        <p:nvSpPr>
          <p:cNvPr id="940640097" name="Rounded Rectangle 35"/>
          <p:cNvSpPr/>
          <p:nvPr/>
        </p:nvSpPr>
        <p:spPr bwMode="auto">
          <a:xfrm>
            <a:off x="7955280" y="3611880"/>
            <a:ext cx="3566160" cy="64008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1885203" name="Oval 36"/>
          <p:cNvSpPr/>
          <p:nvPr/>
        </p:nvSpPr>
        <p:spPr bwMode="auto">
          <a:xfrm>
            <a:off x="8028432" y="3685032"/>
            <a:ext cx="274320" cy="274320"/>
          </a:xfrm>
          <a:prstGeom prst="ellipse">
            <a:avLst/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6</a:t>
            </a:r>
            <a:endParaRPr/>
          </a:p>
        </p:txBody>
      </p:sp>
      <p:sp>
        <p:nvSpPr>
          <p:cNvPr id="1320205306" name="TextBox 37"/>
          <p:cNvSpPr txBox="1"/>
          <p:nvPr/>
        </p:nvSpPr>
        <p:spPr bwMode="auto">
          <a:xfrm>
            <a:off x="8339328" y="3685032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D3858"/>
                </a:solidFill>
              </a:defRPr>
            </a:pPr>
            <a:r>
              <a:rPr/>
              <a:t>Analisa 6C</a:t>
            </a:r>
            <a:endParaRPr/>
          </a:p>
        </p:txBody>
      </p:sp>
      <p:sp>
        <p:nvSpPr>
          <p:cNvPr id="880737611" name="TextBox 38"/>
          <p:cNvSpPr txBox="1"/>
          <p:nvPr/>
        </p:nvSpPr>
        <p:spPr bwMode="auto">
          <a:xfrm>
            <a:off x="8028432" y="3941064"/>
            <a:ext cx="3419856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rPr/>
              <a:t>Character, Capacity, Capital, Collateral, Condition, Constraint</a:t>
            </a:r>
            <a:endParaRPr/>
          </a:p>
        </p:txBody>
      </p:sp>
      <p:sp>
        <p:nvSpPr>
          <p:cNvPr id="1587386526" name="TextBox 39"/>
          <p:cNvSpPr txBox="1"/>
          <p:nvPr/>
        </p:nvSpPr>
        <p:spPr bwMode="auto">
          <a:xfrm>
            <a:off x="457200" y="44805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D3858"/>
                </a:solidFill>
              </a:defRPr>
            </a:pPr>
            <a:r>
              <a:rPr/>
              <a:t>STATUS PENGAJUAN KREDIT (TERMASUK KEPATUHAN):</a:t>
            </a:r>
            <a:endParaRPr/>
          </a:p>
        </p:txBody>
      </p:sp>
      <p:sp>
        <p:nvSpPr>
          <p:cNvPr id="1295558611" name="Rounded Rectangle 40"/>
          <p:cNvSpPr/>
          <p:nvPr/>
        </p:nvSpPr>
        <p:spPr bwMode="auto">
          <a:xfrm>
            <a:off x="45720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95A5A6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DRAFT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Analis buat</a:t>
            </a:r>
            <a:br>
              <a:rPr/>
            </a:br>
            <a:r>
              <a:rPr/>
              <a:t>pengajuan baru</a:t>
            </a:r>
            <a:endParaRPr/>
          </a:p>
        </p:txBody>
      </p:sp>
      <p:sp>
        <p:nvSpPr>
          <p:cNvPr id="1687831542" name="Rounded Rectangle 41"/>
          <p:cNvSpPr/>
          <p:nvPr/>
        </p:nvSpPr>
        <p:spPr bwMode="auto">
          <a:xfrm>
            <a:off x="233172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DIAJUKAN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Dikirim ke rantai</a:t>
            </a:r>
            <a:br>
              <a:rPr/>
            </a:br>
            <a:r>
              <a:rPr/>
              <a:t>approval</a:t>
            </a:r>
            <a:endParaRPr/>
          </a:p>
        </p:txBody>
      </p:sp>
      <p:sp>
        <p:nvSpPr>
          <p:cNvPr id="1683693600" name="Rounded Rectangle 42"/>
          <p:cNvSpPr/>
          <p:nvPr/>
        </p:nvSpPr>
        <p:spPr bwMode="auto">
          <a:xfrm>
            <a:off x="420624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KEPATUHAN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Review kepatuhan</a:t>
            </a:r>
            <a:br>
              <a:rPr/>
            </a:br>
            <a:r>
              <a:rPr/>
              <a:t>&amp; SOP</a:t>
            </a:r>
            <a:endParaRPr/>
          </a:p>
        </p:txBody>
      </p:sp>
      <p:sp>
        <p:nvSpPr>
          <p:cNvPr id="1967191725" name="Rounded Rectangle 43"/>
          <p:cNvSpPr/>
          <p:nvPr/>
        </p:nvSpPr>
        <p:spPr bwMode="auto">
          <a:xfrm>
            <a:off x="608076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PROSES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Ditinjau pejabat</a:t>
            </a:r>
            <a:br>
              <a:rPr/>
            </a:br>
            <a:r>
              <a:rPr/>
              <a:t>berwenang</a:t>
            </a:r>
            <a:endParaRPr/>
          </a:p>
        </p:txBody>
      </p:sp>
      <p:sp>
        <p:nvSpPr>
          <p:cNvPr id="168148374" name="Rounded Rectangle 44"/>
          <p:cNvSpPr/>
          <p:nvPr/>
        </p:nvSpPr>
        <p:spPr bwMode="auto">
          <a:xfrm>
            <a:off x="795528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DISETUJUI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disetujui</a:t>
            </a:r>
            <a:br>
              <a:rPr/>
            </a:br>
            <a:r>
              <a:rPr/>
              <a:t>oleh pejabat</a:t>
            </a:r>
            <a:endParaRPr/>
          </a:p>
        </p:txBody>
      </p:sp>
      <p:sp>
        <p:nvSpPr>
          <p:cNvPr id="410605094" name="Rounded Rectangle 45"/>
          <p:cNvSpPr/>
          <p:nvPr/>
        </p:nvSpPr>
        <p:spPr bwMode="auto">
          <a:xfrm>
            <a:off x="9829800" y="4800600"/>
            <a:ext cx="1783080" cy="5486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DITOLAK</a:t>
            </a:r>
            <a:endParaRPr/>
          </a:p>
          <a:p>
            <a:pPr algn="ctr">
              <a:defRPr sz="900" b="0">
                <a:solidFill>
                  <a:srgbClr val="DCDCDC"/>
                </a:solidFill>
              </a:defRPr>
            </a:pPr>
            <a:r>
              <a:rPr/>
              <a:t>Kredit ditolak,</a:t>
            </a:r>
            <a:br>
              <a:rPr/>
            </a:br>
            <a:r>
              <a:rPr/>
              <a:t>kembali ke analis</a:t>
            </a:r>
            <a:endParaRPr/>
          </a:p>
        </p:txBody>
      </p:sp>
      <p:sp>
        <p:nvSpPr>
          <p:cNvPr id="1385907400" name="TextBox 46"/>
          <p:cNvSpPr txBox="1"/>
          <p:nvPr/>
        </p:nvSpPr>
        <p:spPr bwMode="auto">
          <a:xfrm>
            <a:off x="2286000" y="5020056"/>
            <a:ext cx="91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49A45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352127131" name="TextBox 47"/>
          <p:cNvSpPr txBox="1"/>
          <p:nvPr/>
        </p:nvSpPr>
        <p:spPr bwMode="auto">
          <a:xfrm>
            <a:off x="4160519" y="5020056"/>
            <a:ext cx="91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49A45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62603923" name="TextBox 48"/>
          <p:cNvSpPr txBox="1"/>
          <p:nvPr/>
        </p:nvSpPr>
        <p:spPr bwMode="auto">
          <a:xfrm>
            <a:off x="6035039" y="5020056"/>
            <a:ext cx="91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49A45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672236758" name="TextBox 49"/>
          <p:cNvSpPr txBox="1"/>
          <p:nvPr/>
        </p:nvSpPr>
        <p:spPr bwMode="auto">
          <a:xfrm>
            <a:off x="7909560" y="5020056"/>
            <a:ext cx="91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49A45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378970390" name="TextBox 50"/>
          <p:cNvSpPr txBox="1"/>
          <p:nvPr/>
        </p:nvSpPr>
        <p:spPr bwMode="auto">
          <a:xfrm>
            <a:off x="9784079" y="5020056"/>
            <a:ext cx="91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C49A45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660009908" name="Rounded Rectangle 51"/>
          <p:cNvSpPr/>
          <p:nvPr/>
        </p:nvSpPr>
        <p:spPr bwMode="auto">
          <a:xfrm>
            <a:off x="457200" y="5486400"/>
            <a:ext cx="11277295" cy="4114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ALUR APPROVAL:  ANALIS (Input)  →  KASUBAG (Review)  →  KEPATUHAN (Assessment)  →  KABAG ANALIS (Evaluasi)  →  KADIV (Approval)  →  DIREKSI (Final)</a:t>
            </a:r>
            <a:endParaRPr/>
          </a:p>
        </p:txBody>
      </p:sp>
      <p:sp>
        <p:nvSpPr>
          <p:cNvPr id="111186557" name="Rounded Rectangle 52"/>
          <p:cNvSpPr/>
          <p:nvPr/>
        </p:nvSpPr>
        <p:spPr bwMode="auto">
          <a:xfrm>
            <a:off x="457200" y="5989320"/>
            <a:ext cx="11277295" cy="73152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D3858"/>
                </a:solidFill>
              </a:defRPr>
            </a:pPr>
            <a:r>
              <a:rPr/>
              <a:t>✅ Kalkulasi Otomatis: Repayment capacity &amp; taksasi agunan dihitung otomatis oleh sistem</a:t>
            </a:r>
            <a:endParaRPr/>
          </a:p>
          <a:p>
            <a:pPr>
              <a:defRPr sz="1000">
                <a:solidFill>
                  <a:srgbClr val="1D3858"/>
                </a:solidFill>
              </a:defRPr>
            </a:pPr>
            <a:r>
              <a:rPr/>
              <a:t>✅ Fitur Revisi: Pengajuan yang dikembalikan dapat diedit &amp; dikirim ulang langsung ke level yang mengembalikan</a:t>
            </a:r>
            <a:endParaRPr/>
          </a:p>
          <a:p>
            <a:pPr>
              <a:defRPr sz="1000">
                <a:solidFill>
                  <a:srgbClr val="1D3858"/>
                </a:solidFill>
              </a:defRPr>
            </a:pPr>
            <a:r>
              <a:rPr/>
              <a:t>✅ Fitur Resubmit: Pengajuan ditolak dapat diperbaiki &amp; diajukan kembali sebagai pengajuan baru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996789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957516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/>
              <a:t>WORKFLOW INPUT DATA ANALIS</a:t>
            </a:r>
            <a:endParaRPr/>
          </a:p>
        </p:txBody>
      </p:sp>
      <p:sp>
        <p:nvSpPr>
          <p:cNvPr id="711911131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1406359" name="Picture 4" descr="analis_workflow_1784769106740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673912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0828732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/>
              <a:t>DETAIL PROSES KERJA ANALIS</a:t>
            </a:r>
            <a:endParaRPr/>
          </a:p>
        </p:txBody>
      </p:sp>
      <p:sp>
        <p:nvSpPr>
          <p:cNvPr id="1103703745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2454" name="Rounded Rectangle 4"/>
          <p:cNvSpPr/>
          <p:nvPr/>
        </p:nvSpPr>
        <p:spPr bwMode="auto">
          <a:xfrm>
            <a:off x="457200" y="118872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6758911" name="Oval 5"/>
          <p:cNvSpPr/>
          <p:nvPr/>
        </p:nvSpPr>
        <p:spPr bwMode="auto">
          <a:xfrm>
            <a:off x="594360" y="13258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516941259" name="TextBox 6"/>
          <p:cNvSpPr txBox="1"/>
          <p:nvPr/>
        </p:nvSpPr>
        <p:spPr bwMode="auto">
          <a:xfrm>
            <a:off x="1051560" y="13258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Login ke Sistem</a:t>
            </a:r>
            <a:endParaRPr/>
          </a:p>
        </p:txBody>
      </p:sp>
      <p:sp>
        <p:nvSpPr>
          <p:cNvPr id="38266561" name="TextBox 7"/>
          <p:cNvSpPr txBox="1"/>
          <p:nvPr/>
        </p:nvSpPr>
        <p:spPr bwMode="auto">
          <a:xfrm flipH="0" flipV="0">
            <a:off x="594360" y="1691640"/>
            <a:ext cx="5446689" cy="44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Analis login menggunakan akun yang terdaftar</a:t>
            </a:r>
            <a:br>
              <a:rPr/>
            </a:br>
            <a:r>
              <a:rPr sz="1100"/>
              <a:t>dengan role '</a:t>
            </a:r>
            <a:r>
              <a:rPr sz="1200"/>
              <a:t>analis</a:t>
            </a:r>
            <a:r>
              <a:rPr sz="1100"/>
              <a:t>'</a:t>
            </a:r>
            <a:endParaRPr/>
          </a:p>
        </p:txBody>
      </p:sp>
      <p:sp>
        <p:nvSpPr>
          <p:cNvPr id="1434840187" name="Rounded Rectangle 8"/>
          <p:cNvSpPr/>
          <p:nvPr/>
        </p:nvSpPr>
        <p:spPr bwMode="auto">
          <a:xfrm>
            <a:off x="457200" y="205740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6447896" name="Oval 9"/>
          <p:cNvSpPr/>
          <p:nvPr/>
        </p:nvSpPr>
        <p:spPr bwMode="auto">
          <a:xfrm>
            <a:off x="594360" y="219456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1105785996" name="TextBox 10"/>
          <p:cNvSpPr txBox="1"/>
          <p:nvPr/>
        </p:nvSpPr>
        <p:spPr bwMode="auto">
          <a:xfrm>
            <a:off x="1051560" y="2194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Pilih Jenis Kredit</a:t>
            </a:r>
            <a:endParaRPr/>
          </a:p>
        </p:txBody>
      </p:sp>
      <p:sp>
        <p:nvSpPr>
          <p:cNvPr id="1129213446" name="TextBox 11"/>
          <p:cNvSpPr txBox="1"/>
          <p:nvPr/>
        </p:nvSpPr>
        <p:spPr bwMode="auto">
          <a:xfrm>
            <a:off x="59436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Memilih jenis produk kredit sesuai kebutuhan</a:t>
            </a:r>
            <a:br>
              <a:rPr/>
            </a:br>
            <a:r>
              <a:rPr sz="1100"/>
              <a:t>nasabah (Umum/PPPK/Desa/dll)</a:t>
            </a:r>
            <a:endParaRPr/>
          </a:p>
        </p:txBody>
      </p:sp>
      <p:sp>
        <p:nvSpPr>
          <p:cNvPr id="1028235083" name="Rounded Rectangle 12"/>
          <p:cNvSpPr/>
          <p:nvPr/>
        </p:nvSpPr>
        <p:spPr bwMode="auto">
          <a:xfrm>
            <a:off x="457200" y="292608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813626" name="Oval 13"/>
          <p:cNvSpPr/>
          <p:nvPr/>
        </p:nvSpPr>
        <p:spPr bwMode="auto">
          <a:xfrm>
            <a:off x="594360" y="306324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732891431" name="TextBox 14"/>
          <p:cNvSpPr txBox="1"/>
          <p:nvPr/>
        </p:nvSpPr>
        <p:spPr bwMode="auto">
          <a:xfrm>
            <a:off x="1051560" y="306324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Input Data Lengkap</a:t>
            </a:r>
            <a:endParaRPr/>
          </a:p>
        </p:txBody>
      </p:sp>
      <p:sp>
        <p:nvSpPr>
          <p:cNvPr id="1517814015" name="TextBox 15"/>
          <p:cNvSpPr txBox="1"/>
          <p:nvPr/>
        </p:nvSpPr>
        <p:spPr bwMode="auto">
          <a:xfrm>
            <a:off x="59436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Mengisi form data pemohon, penghasilan,</a:t>
            </a:r>
            <a:br>
              <a:rPr/>
            </a:br>
            <a:r>
              <a:rPr sz="1100"/>
              <a:t>agunan, struktur kredit, neraca, &amp; analisa 6C</a:t>
            </a:r>
            <a:endParaRPr/>
          </a:p>
        </p:txBody>
      </p:sp>
      <p:sp>
        <p:nvSpPr>
          <p:cNvPr id="744199051" name="Rounded Rectangle 16"/>
          <p:cNvSpPr/>
          <p:nvPr/>
        </p:nvSpPr>
        <p:spPr bwMode="auto">
          <a:xfrm>
            <a:off x="457200" y="379476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795856" name="Oval 17"/>
          <p:cNvSpPr/>
          <p:nvPr/>
        </p:nvSpPr>
        <p:spPr bwMode="auto">
          <a:xfrm>
            <a:off x="594360" y="393192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602167558" name="TextBox 18"/>
          <p:cNvSpPr txBox="1"/>
          <p:nvPr/>
        </p:nvSpPr>
        <p:spPr bwMode="auto">
          <a:xfrm>
            <a:off x="1051560" y="393192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Upload Dokumen</a:t>
            </a:r>
            <a:endParaRPr/>
          </a:p>
        </p:txBody>
      </p:sp>
      <p:sp>
        <p:nvSpPr>
          <p:cNvPr id="870031337" name="TextBox 19"/>
          <p:cNvSpPr txBox="1"/>
          <p:nvPr/>
        </p:nvSpPr>
        <p:spPr bwMode="auto">
          <a:xfrm>
            <a:off x="59436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Upload foto agunan, dokumen pendukung,</a:t>
            </a:r>
            <a:br>
              <a:rPr/>
            </a:br>
            <a:r>
              <a:rPr sz="1100"/>
              <a:t>dan kelengkapan administrasi</a:t>
            </a:r>
            <a:endParaRPr/>
          </a:p>
        </p:txBody>
      </p:sp>
      <p:sp>
        <p:nvSpPr>
          <p:cNvPr id="1145044412" name="Rounded Rectangle 20"/>
          <p:cNvSpPr/>
          <p:nvPr/>
        </p:nvSpPr>
        <p:spPr bwMode="auto">
          <a:xfrm>
            <a:off x="457200" y="466344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0484814" name="Oval 21"/>
          <p:cNvSpPr/>
          <p:nvPr/>
        </p:nvSpPr>
        <p:spPr bwMode="auto">
          <a:xfrm>
            <a:off x="594360" y="480060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5</a:t>
            </a:r>
            <a:endParaRPr/>
          </a:p>
        </p:txBody>
      </p:sp>
      <p:sp>
        <p:nvSpPr>
          <p:cNvPr id="257656417" name="TextBox 22"/>
          <p:cNvSpPr txBox="1"/>
          <p:nvPr/>
        </p:nvSpPr>
        <p:spPr bwMode="auto">
          <a:xfrm>
            <a:off x="1051560" y="480060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Simpan Draft</a:t>
            </a:r>
            <a:endParaRPr/>
          </a:p>
        </p:txBody>
      </p:sp>
      <p:sp>
        <p:nvSpPr>
          <p:cNvPr id="615947785" name="TextBox 23"/>
          <p:cNvSpPr txBox="1"/>
          <p:nvPr/>
        </p:nvSpPr>
        <p:spPr bwMode="auto">
          <a:xfrm>
            <a:off x="59436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Data dapat disimpan sebagai draft untuk</a:t>
            </a:r>
            <a:br>
              <a:rPr/>
            </a:br>
            <a:r>
              <a:rPr sz="1100"/>
              <a:t>dilengkapi kemudian</a:t>
            </a:r>
            <a:endParaRPr/>
          </a:p>
        </p:txBody>
      </p:sp>
      <p:sp>
        <p:nvSpPr>
          <p:cNvPr id="537382063" name="Rounded Rectangle 24"/>
          <p:cNvSpPr/>
          <p:nvPr/>
        </p:nvSpPr>
        <p:spPr bwMode="auto">
          <a:xfrm>
            <a:off x="457200" y="5532120"/>
            <a:ext cx="5303520" cy="9144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5083270" name="Oval 25"/>
          <p:cNvSpPr/>
          <p:nvPr/>
        </p:nvSpPr>
        <p:spPr bwMode="auto">
          <a:xfrm>
            <a:off x="594360" y="56692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6</a:t>
            </a:r>
            <a:endParaRPr/>
          </a:p>
        </p:txBody>
      </p:sp>
      <p:sp>
        <p:nvSpPr>
          <p:cNvPr id="290123285" name="TextBox 26"/>
          <p:cNvSpPr txBox="1"/>
          <p:nvPr/>
        </p:nvSpPr>
        <p:spPr bwMode="auto">
          <a:xfrm>
            <a:off x="1051560" y="5669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sz="1400" b="1"/>
              <a:t>Submit Pengajuan</a:t>
            </a:r>
            <a:endParaRPr/>
          </a:p>
        </p:txBody>
      </p:sp>
      <p:sp>
        <p:nvSpPr>
          <p:cNvPr id="567219676" name="TextBox 27"/>
          <p:cNvSpPr txBox="1"/>
          <p:nvPr/>
        </p:nvSpPr>
        <p:spPr bwMode="auto">
          <a:xfrm>
            <a:off x="594360" y="6035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 sz="1100"/>
              <a:t>Kirim pengajuan ke rantai approval.</a:t>
            </a:r>
            <a:br>
              <a:rPr/>
            </a:br>
            <a:r>
              <a:rPr sz="1100"/>
              <a:t>Status berubah menjadi 'Diajukan'</a:t>
            </a:r>
            <a:endParaRPr/>
          </a:p>
        </p:txBody>
      </p:sp>
      <p:sp>
        <p:nvSpPr>
          <p:cNvPr id="409816606" name="TextBox 28"/>
          <p:cNvSpPr txBox="1"/>
          <p:nvPr/>
        </p:nvSpPr>
        <p:spPr bwMode="auto"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FITUR KHUSUS ANALIS:</a:t>
            </a:r>
            <a:endParaRPr/>
          </a:p>
        </p:txBody>
      </p:sp>
      <p:sp>
        <p:nvSpPr>
          <p:cNvPr id="342268117" name="Rounded Rectangle 29"/>
          <p:cNvSpPr/>
          <p:nvPr/>
        </p:nvSpPr>
        <p:spPr bwMode="auto">
          <a:xfrm>
            <a:off x="6217920" y="1645920"/>
            <a:ext cx="5303520" cy="105156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7206562" name="TextBox 30"/>
          <p:cNvSpPr txBox="1"/>
          <p:nvPr/>
        </p:nvSpPr>
        <p:spPr bwMode="auto">
          <a:xfrm>
            <a:off x="640080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rPr/>
              <a:t>📝 Revisi</a:t>
            </a:r>
            <a:endParaRPr/>
          </a:p>
        </p:txBody>
      </p:sp>
      <p:sp>
        <p:nvSpPr>
          <p:cNvPr id="1720220731" name="TextBox 31"/>
          <p:cNvSpPr txBox="1"/>
          <p:nvPr/>
        </p:nvSpPr>
        <p:spPr bwMode="auto">
          <a:xfrm>
            <a:off x="6400800" y="20116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Jika pengajuan dikembalikan untuk revisi,</a:t>
            </a:r>
            <a:br>
              <a:rPr/>
            </a:br>
            <a:r>
              <a:rPr/>
              <a:t>analis dapat mengedit data dan mengirim ulang.</a:t>
            </a:r>
            <a:br>
              <a:rPr/>
            </a:br>
            <a:r>
              <a:rPr/>
              <a:t>Sistem langsung mengirim ke level yang</a:t>
            </a:r>
            <a:br>
              <a:rPr/>
            </a:br>
            <a:r>
              <a:rPr/>
              <a:t>mengembalikan (skip level sebelumnya).</a:t>
            </a:r>
            <a:endParaRPr/>
          </a:p>
        </p:txBody>
      </p:sp>
      <p:sp>
        <p:nvSpPr>
          <p:cNvPr id="1542598980" name="Rounded Rectangle 32"/>
          <p:cNvSpPr/>
          <p:nvPr/>
        </p:nvSpPr>
        <p:spPr bwMode="auto">
          <a:xfrm>
            <a:off x="6217920" y="2834640"/>
            <a:ext cx="5303520" cy="105156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4169201" name="TextBox 33"/>
          <p:cNvSpPr txBox="1"/>
          <p:nvPr/>
        </p:nvSpPr>
        <p:spPr bwMode="auto">
          <a:xfrm>
            <a:off x="6400800" y="2926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5AA8"/>
                </a:solidFill>
                <a:latin typeface="Calibri"/>
              </a:defRPr>
            </a:pPr>
            <a:r>
              <a:rPr/>
              <a:t>📊 Kalkulasi Otomatis</a:t>
            </a:r>
            <a:endParaRPr/>
          </a:p>
        </p:txBody>
      </p:sp>
      <p:sp>
        <p:nvSpPr>
          <p:cNvPr id="178681776" name="TextBox 34"/>
          <p:cNvSpPr txBox="1"/>
          <p:nvPr/>
        </p:nvSpPr>
        <p:spPr bwMode="auto">
          <a:xfrm>
            <a:off x="6400800" y="3200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Repayment capacity, taksasi agunan,</a:t>
            </a:r>
            <a:br>
              <a:rPr/>
            </a:br>
            <a:r>
              <a:rPr/>
              <a:t>dan rasio plafond dihitung otomatis</a:t>
            </a:r>
            <a:br>
              <a:rPr/>
            </a:br>
            <a:r>
              <a:rPr/>
              <a:t>berdasarkan parameter yang dikonfigurasi.</a:t>
            </a:r>
            <a:endParaRPr/>
          </a:p>
        </p:txBody>
      </p:sp>
      <p:sp>
        <p:nvSpPr>
          <p:cNvPr id="1471206501" name="Rounded Rectangle 35"/>
          <p:cNvSpPr/>
          <p:nvPr/>
        </p:nvSpPr>
        <p:spPr bwMode="auto">
          <a:xfrm>
            <a:off x="6217920" y="4023360"/>
            <a:ext cx="5303520" cy="105156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4336401" name="TextBox 36"/>
          <p:cNvSpPr txBox="1"/>
          <p:nvPr/>
        </p:nvSpPr>
        <p:spPr bwMode="auto">
          <a:xfrm>
            <a:off x="640080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rPr/>
              <a:t>📋 Riwayat</a:t>
            </a:r>
            <a:endParaRPr/>
          </a:p>
        </p:txBody>
      </p:sp>
      <p:sp>
        <p:nvSpPr>
          <p:cNvPr id="2089693063" name="TextBox 37"/>
          <p:cNvSpPr txBox="1"/>
          <p:nvPr/>
        </p:nvSpPr>
        <p:spPr bwMode="auto">
          <a:xfrm>
            <a:off x="6400800" y="4389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Melihat seluruh riwayat pengajuan yang</a:t>
            </a:r>
            <a:br>
              <a:rPr/>
            </a:br>
            <a:r>
              <a:rPr/>
              <a:t>pernah dibuat beserta status terkini.</a:t>
            </a:r>
            <a:endParaRPr/>
          </a:p>
        </p:txBody>
      </p:sp>
      <p:sp>
        <p:nvSpPr>
          <p:cNvPr id="1599118566" name="Rounded Rectangle 38"/>
          <p:cNvSpPr/>
          <p:nvPr/>
        </p:nvSpPr>
        <p:spPr bwMode="auto">
          <a:xfrm>
            <a:off x="6217920" y="5212080"/>
            <a:ext cx="5303520" cy="105156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2881502" name="TextBox 39"/>
          <p:cNvSpPr txBox="1"/>
          <p:nvPr/>
        </p:nvSpPr>
        <p:spPr bwMode="auto">
          <a:xfrm>
            <a:off x="6400800" y="5303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rPr/>
              <a:t>🔄 Resubmit</a:t>
            </a:r>
            <a:endParaRPr/>
          </a:p>
        </p:txBody>
      </p:sp>
      <p:sp>
        <p:nvSpPr>
          <p:cNvPr id="902201982" name="TextBox 40"/>
          <p:cNvSpPr txBox="1"/>
          <p:nvPr/>
        </p:nvSpPr>
        <p:spPr bwMode="auto">
          <a:xfrm>
            <a:off x="640080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Pengajuan yang ditolak dapat diperbaiki</a:t>
            </a:r>
            <a:br>
              <a:rPr/>
            </a:br>
            <a:r>
              <a:rPr/>
              <a:t>dan diajukan kembali sebagai pengajuan baru.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027065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1975138537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KASUBAG ANALIS</a:t>
            </a:r>
            <a:endParaRPr/>
          </a:p>
        </p:txBody>
      </p:sp>
      <p:sp>
        <p:nvSpPr>
          <p:cNvPr id="502450910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Review &amp; Verifikasi Awal Pengajuan Kredit</a:t>
            </a:r>
            <a:endParaRPr/>
          </a:p>
        </p:txBody>
      </p:sp>
      <p:sp>
        <p:nvSpPr>
          <p:cNvPr id="855372714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6721846" name="TextBox 5"/>
          <p:cNvSpPr txBox="1"/>
          <p:nvPr/>
        </p:nvSpPr>
        <p:spPr bwMode="auto"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ALUR KERJA KASUBAG ANALIS:</a:t>
            </a:r>
            <a:endParaRPr/>
          </a:p>
        </p:txBody>
      </p:sp>
      <p:sp>
        <p:nvSpPr>
          <p:cNvPr id="1962217207" name="Rounded Rectangle 6"/>
          <p:cNvSpPr/>
          <p:nvPr/>
        </p:nvSpPr>
        <p:spPr bwMode="auto">
          <a:xfrm>
            <a:off x="73152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9110451" name="Oval 7"/>
          <p:cNvSpPr/>
          <p:nvPr/>
        </p:nvSpPr>
        <p:spPr bwMode="auto">
          <a:xfrm>
            <a:off x="868680" y="24231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1386755490" name="TextBox 8"/>
          <p:cNvSpPr txBox="1"/>
          <p:nvPr/>
        </p:nvSpPr>
        <p:spPr bwMode="auto">
          <a:xfrm>
            <a:off x="132588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Buka Dashboard</a:t>
            </a:r>
            <a:endParaRPr/>
          </a:p>
        </p:txBody>
      </p:sp>
      <p:sp>
        <p:nvSpPr>
          <p:cNvPr id="204986360" name="TextBox 9"/>
          <p:cNvSpPr txBox="1"/>
          <p:nvPr/>
        </p:nvSpPr>
        <p:spPr bwMode="auto">
          <a:xfrm>
            <a:off x="86868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Login dan lihat daftar pengajuan</a:t>
            </a:r>
            <a:br>
              <a:rPr/>
            </a:br>
            <a:r>
              <a:rPr/>
              <a:t>yang menunggu review di inbox</a:t>
            </a:r>
            <a:endParaRPr/>
          </a:p>
        </p:txBody>
      </p:sp>
      <p:sp>
        <p:nvSpPr>
          <p:cNvPr id="1992282927" name="Right Arrow 10"/>
          <p:cNvSpPr/>
          <p:nvPr/>
        </p:nvSpPr>
        <p:spPr bwMode="auto">
          <a:xfrm>
            <a:off x="342900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32918" name="Rounded Rectangle 11"/>
          <p:cNvSpPr/>
          <p:nvPr/>
        </p:nvSpPr>
        <p:spPr bwMode="auto">
          <a:xfrm>
            <a:off x="356616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468381" name="Oval 12"/>
          <p:cNvSpPr/>
          <p:nvPr/>
        </p:nvSpPr>
        <p:spPr bwMode="auto">
          <a:xfrm>
            <a:off x="3703320" y="242316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971539996" name="TextBox 13"/>
          <p:cNvSpPr txBox="1"/>
          <p:nvPr/>
        </p:nvSpPr>
        <p:spPr bwMode="auto">
          <a:xfrm>
            <a:off x="4160519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Review Detail</a:t>
            </a:r>
            <a:endParaRPr/>
          </a:p>
        </p:txBody>
      </p:sp>
      <p:sp>
        <p:nvSpPr>
          <p:cNvPr id="789548400" name="TextBox 14"/>
          <p:cNvSpPr txBox="1"/>
          <p:nvPr/>
        </p:nvSpPr>
        <p:spPr bwMode="auto">
          <a:xfrm>
            <a:off x="370332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Klik pengajuan untuk melihat</a:t>
            </a:r>
            <a:br>
              <a:rPr/>
            </a:br>
            <a:r>
              <a:rPr/>
              <a:t>seluruh data yang diinput analis</a:t>
            </a:r>
            <a:endParaRPr/>
          </a:p>
        </p:txBody>
      </p:sp>
      <p:sp>
        <p:nvSpPr>
          <p:cNvPr id="889513221" name="Right Arrow 15"/>
          <p:cNvSpPr/>
          <p:nvPr/>
        </p:nvSpPr>
        <p:spPr bwMode="auto">
          <a:xfrm>
            <a:off x="626364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7851139" name="Rounded Rectangle 16"/>
          <p:cNvSpPr/>
          <p:nvPr/>
        </p:nvSpPr>
        <p:spPr bwMode="auto">
          <a:xfrm>
            <a:off x="640080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2203758" name="Oval 17"/>
          <p:cNvSpPr/>
          <p:nvPr/>
        </p:nvSpPr>
        <p:spPr bwMode="auto">
          <a:xfrm>
            <a:off x="6537960" y="2423160"/>
            <a:ext cx="365760" cy="36576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1407921998" name="TextBox 18"/>
          <p:cNvSpPr txBox="1"/>
          <p:nvPr/>
        </p:nvSpPr>
        <p:spPr bwMode="auto">
          <a:xfrm>
            <a:off x="699516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Verifikasi Dokumen</a:t>
            </a:r>
            <a:endParaRPr/>
          </a:p>
        </p:txBody>
      </p:sp>
      <p:sp>
        <p:nvSpPr>
          <p:cNvPr id="470801147" name="TextBox 19"/>
          <p:cNvSpPr txBox="1"/>
          <p:nvPr/>
        </p:nvSpPr>
        <p:spPr bwMode="auto">
          <a:xfrm>
            <a:off x="653796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Periksa kelengkapan data pemohon,</a:t>
            </a:r>
            <a:br>
              <a:rPr/>
            </a:br>
            <a:r>
              <a:rPr/>
              <a:t>kesesuaian dokumen pendukung</a:t>
            </a:r>
            <a:endParaRPr/>
          </a:p>
        </p:txBody>
      </p:sp>
      <p:sp>
        <p:nvSpPr>
          <p:cNvPr id="710646863" name="Right Arrow 20"/>
          <p:cNvSpPr/>
          <p:nvPr/>
        </p:nvSpPr>
        <p:spPr bwMode="auto">
          <a:xfrm>
            <a:off x="909828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6017588" name="Rounded Rectangle 21"/>
          <p:cNvSpPr/>
          <p:nvPr/>
        </p:nvSpPr>
        <p:spPr bwMode="auto">
          <a:xfrm>
            <a:off x="923544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3092051" name="Oval 22"/>
          <p:cNvSpPr/>
          <p:nvPr/>
        </p:nvSpPr>
        <p:spPr bwMode="auto">
          <a:xfrm>
            <a:off x="9372600" y="24231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216128319" name="TextBox 23"/>
          <p:cNvSpPr txBox="1"/>
          <p:nvPr/>
        </p:nvSpPr>
        <p:spPr bwMode="auto">
          <a:xfrm>
            <a:off x="982980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Cek Perhitungan</a:t>
            </a:r>
            <a:endParaRPr/>
          </a:p>
        </p:txBody>
      </p:sp>
      <p:sp>
        <p:nvSpPr>
          <p:cNvPr id="978761669" name="TextBox 24"/>
          <p:cNvSpPr txBox="1"/>
          <p:nvPr/>
        </p:nvSpPr>
        <p:spPr bwMode="auto">
          <a:xfrm>
            <a:off x="937260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Verifikasi kalkulasi repayment</a:t>
            </a:r>
            <a:br>
              <a:rPr/>
            </a:br>
            <a:r>
              <a:rPr/>
              <a:t>capacity dan taksasi agunan</a:t>
            </a:r>
            <a:endParaRPr/>
          </a:p>
        </p:txBody>
      </p:sp>
      <p:sp>
        <p:nvSpPr>
          <p:cNvPr id="567659079" name="TextBox 25"/>
          <p:cNvSpPr txBox="1"/>
          <p:nvPr/>
        </p:nvSpPr>
        <p:spPr bwMode="auto"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KEPUTUSAN YANG DAPAT DIAMBIL:</a:t>
            </a:r>
            <a:endParaRPr/>
          </a:p>
        </p:txBody>
      </p:sp>
      <p:sp>
        <p:nvSpPr>
          <p:cNvPr id="366560845" name="Rounded Rectangle 26"/>
          <p:cNvSpPr/>
          <p:nvPr/>
        </p:nvSpPr>
        <p:spPr bwMode="auto">
          <a:xfrm>
            <a:off x="731520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380491" name="Rounded Rectangle 27"/>
          <p:cNvSpPr/>
          <p:nvPr/>
        </p:nvSpPr>
        <p:spPr bwMode="auto">
          <a:xfrm>
            <a:off x="1463040" y="4389120"/>
            <a:ext cx="2011680" cy="4572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✅ SETUJU</a:t>
            </a:r>
            <a:endParaRPr/>
          </a:p>
        </p:txBody>
      </p:sp>
      <p:sp>
        <p:nvSpPr>
          <p:cNvPr id="418627805" name="TextBox 28"/>
          <p:cNvSpPr txBox="1"/>
          <p:nvPr/>
        </p:nvSpPr>
        <p:spPr bwMode="auto">
          <a:xfrm>
            <a:off x="914400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Pengajuan diteruskan ke</a:t>
            </a:r>
            <a:br>
              <a:rPr/>
            </a:br>
            <a:r>
              <a:rPr/>
              <a:t>KABAG KREDIT</a:t>
            </a:r>
            <a:br>
              <a:rPr/>
            </a:br>
            <a:r>
              <a:rPr/>
              <a:t>untuk evaluasi lebih lanjut</a:t>
            </a:r>
            <a:endParaRPr/>
          </a:p>
        </p:txBody>
      </p:sp>
      <p:sp>
        <p:nvSpPr>
          <p:cNvPr id="499927525" name="TextBox 29"/>
          <p:cNvSpPr txBox="1"/>
          <p:nvPr/>
        </p:nvSpPr>
        <p:spPr bwMode="auto">
          <a:xfrm>
            <a:off x="914400" y="5760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rPr/>
              <a:t>Status: posisi_saat_ini → 'kabag_kredit'</a:t>
            </a:r>
            <a:endParaRPr/>
          </a:p>
        </p:txBody>
      </p:sp>
      <p:sp>
        <p:nvSpPr>
          <p:cNvPr id="68529653" name="Rounded Rectangle 30"/>
          <p:cNvSpPr/>
          <p:nvPr/>
        </p:nvSpPr>
        <p:spPr bwMode="auto">
          <a:xfrm>
            <a:off x="4480559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1654485" name="Rounded Rectangle 31"/>
          <p:cNvSpPr/>
          <p:nvPr/>
        </p:nvSpPr>
        <p:spPr bwMode="auto">
          <a:xfrm>
            <a:off x="5212079" y="4389120"/>
            <a:ext cx="2011680" cy="45720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🔄 REVISI</a:t>
            </a:r>
            <a:endParaRPr/>
          </a:p>
        </p:txBody>
      </p:sp>
      <p:sp>
        <p:nvSpPr>
          <p:cNvPr id="85100266" name="TextBox 32"/>
          <p:cNvSpPr txBox="1"/>
          <p:nvPr/>
        </p:nvSpPr>
        <p:spPr bwMode="auto">
          <a:xfrm>
            <a:off x="4663439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Pengajuan dikembalikan ke</a:t>
            </a:r>
            <a:br>
              <a:rPr/>
            </a:br>
            <a:r>
              <a:rPr/>
              <a:t>ANALIS</a:t>
            </a:r>
            <a:br>
              <a:rPr/>
            </a:br>
            <a:r>
              <a:rPr/>
              <a:t>untuk perbaikan data/dokumen</a:t>
            </a:r>
            <a:endParaRPr/>
          </a:p>
        </p:txBody>
      </p:sp>
      <p:sp>
        <p:nvSpPr>
          <p:cNvPr id="499400333" name="TextBox 33"/>
          <p:cNvSpPr txBox="1"/>
          <p:nvPr/>
        </p:nvSpPr>
        <p:spPr bwMode="auto">
          <a:xfrm>
            <a:off x="4663439" y="5760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rPr/>
              <a:t>Status: posisi_saat_ini → 'analis' | status → 'revisi'</a:t>
            </a:r>
            <a:endParaRPr/>
          </a:p>
        </p:txBody>
      </p:sp>
      <p:sp>
        <p:nvSpPr>
          <p:cNvPr id="858110823" name="Rounded Rectangle 34"/>
          <p:cNvSpPr/>
          <p:nvPr/>
        </p:nvSpPr>
        <p:spPr bwMode="auto">
          <a:xfrm>
            <a:off x="8229598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424952" name="Rounded Rectangle 35"/>
          <p:cNvSpPr/>
          <p:nvPr/>
        </p:nvSpPr>
        <p:spPr bwMode="auto">
          <a:xfrm>
            <a:off x="8961118" y="4389120"/>
            <a:ext cx="2011680" cy="4572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❌ TOLAK</a:t>
            </a:r>
            <a:endParaRPr/>
          </a:p>
        </p:txBody>
      </p:sp>
      <p:sp>
        <p:nvSpPr>
          <p:cNvPr id="2137777732" name="TextBox 36"/>
          <p:cNvSpPr txBox="1"/>
          <p:nvPr/>
        </p:nvSpPr>
        <p:spPr bwMode="auto">
          <a:xfrm>
            <a:off x="8412478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rPr/>
              <a:t>Pengajuan DITOLAK dan</a:t>
            </a:r>
            <a:br>
              <a:rPr/>
            </a:br>
            <a:r>
              <a:rPr/>
              <a:t>dikembalikan ke ANALIS</a:t>
            </a:r>
            <a:br>
              <a:rPr/>
            </a:br>
            <a:r>
              <a:rPr/>
              <a:t>dengan alasan penolakan</a:t>
            </a:r>
            <a:endParaRPr/>
          </a:p>
        </p:txBody>
      </p:sp>
      <p:sp>
        <p:nvSpPr>
          <p:cNvPr id="1198686228" name="TextBox 37"/>
          <p:cNvSpPr txBox="1"/>
          <p:nvPr/>
        </p:nvSpPr>
        <p:spPr bwMode="auto">
          <a:xfrm>
            <a:off x="8412478" y="5760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rPr/>
              <a:t>Status: posisi_saat_ini → 'analis' | status → 'ditolak'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403540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1649165912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KEPATUHAN</a:t>
            </a:r>
            <a:endParaRPr/>
          </a:p>
        </p:txBody>
      </p:sp>
      <p:sp>
        <p:nvSpPr>
          <p:cNvPr id="270481426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Singkronisasi &amp; Penilaian Dokumen Kepatuhan</a:t>
            </a:r>
            <a:endParaRPr/>
          </a:p>
        </p:txBody>
      </p:sp>
      <p:sp>
        <p:nvSpPr>
          <p:cNvPr id="1089057236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5439905" name="TextBox 5"/>
          <p:cNvSpPr txBox="1"/>
          <p:nvPr/>
        </p:nvSpPr>
        <p:spPr bwMode="auto"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ALUR KERJA KEPATUHAN:</a:t>
            </a:r>
            <a:endParaRPr/>
          </a:p>
        </p:txBody>
      </p:sp>
      <p:sp>
        <p:nvSpPr>
          <p:cNvPr id="1079443688" name="Rounded Rectangle 6"/>
          <p:cNvSpPr/>
          <p:nvPr/>
        </p:nvSpPr>
        <p:spPr bwMode="auto">
          <a:xfrm>
            <a:off x="73152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7201921" name="Oval 7"/>
          <p:cNvSpPr/>
          <p:nvPr/>
        </p:nvSpPr>
        <p:spPr bwMode="auto">
          <a:xfrm>
            <a:off x="868680" y="2423160"/>
            <a:ext cx="365760" cy="36576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2144378836" name="TextBox 8"/>
          <p:cNvSpPr txBox="1"/>
          <p:nvPr/>
        </p:nvSpPr>
        <p:spPr bwMode="auto">
          <a:xfrm>
            <a:off x="132588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Terima Data Kasubag</a:t>
            </a:r>
            <a:endParaRPr/>
          </a:p>
        </p:txBody>
      </p:sp>
      <p:sp>
        <p:nvSpPr>
          <p:cNvPr id="1092685801" name="TextBox 9"/>
          <p:cNvSpPr txBox="1"/>
          <p:nvPr/>
        </p:nvSpPr>
        <p:spPr bwMode="auto">
          <a:xfrm>
            <a:off x="86868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Sistem auto-populate form dari</a:t>
            </a:r>
            <a:br>
              <a:rPr/>
            </a:br>
            <a:r>
              <a:rPr/>
              <a:t>data diverifikasi Kasubag</a:t>
            </a:r>
            <a:endParaRPr/>
          </a:p>
        </p:txBody>
      </p:sp>
      <p:sp>
        <p:nvSpPr>
          <p:cNvPr id="1186070086" name="Right Arrow 10"/>
          <p:cNvSpPr/>
          <p:nvPr/>
        </p:nvSpPr>
        <p:spPr bwMode="auto">
          <a:xfrm>
            <a:off x="342900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294088" name="Rounded Rectangle 11"/>
          <p:cNvSpPr/>
          <p:nvPr/>
        </p:nvSpPr>
        <p:spPr bwMode="auto">
          <a:xfrm>
            <a:off x="356616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5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0650207" name="Oval 12"/>
          <p:cNvSpPr/>
          <p:nvPr/>
        </p:nvSpPr>
        <p:spPr bwMode="auto">
          <a:xfrm>
            <a:off x="3703320" y="2423160"/>
            <a:ext cx="365760" cy="365760"/>
          </a:xfrm>
          <a:prstGeom prst="ellipse">
            <a:avLst/>
          </a:prstGeom>
          <a:solidFill>
            <a:srgbClr val="05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1255223157" name="TextBox 13"/>
          <p:cNvSpPr txBox="1"/>
          <p:nvPr/>
        </p:nvSpPr>
        <p:spPr bwMode="auto">
          <a:xfrm>
            <a:off x="4160519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Review Kepatuhan</a:t>
            </a:r>
            <a:endParaRPr/>
          </a:p>
        </p:txBody>
      </p:sp>
      <p:sp>
        <p:nvSpPr>
          <p:cNvPr id="1851748527" name="TextBox 14"/>
          <p:cNvSpPr txBox="1"/>
          <p:nvPr/>
        </p:nvSpPr>
        <p:spPr bwMode="auto">
          <a:xfrm>
            <a:off x="370332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Periksa dokumen, checklist SOP,</a:t>
            </a:r>
            <a:br>
              <a:rPr/>
            </a:br>
            <a:r>
              <a:rPr/>
              <a:t>dan validasi syarat kredit</a:t>
            </a:r>
            <a:endParaRPr/>
          </a:p>
        </p:txBody>
      </p:sp>
      <p:sp>
        <p:nvSpPr>
          <p:cNvPr id="1691280467" name="Right Arrow 15"/>
          <p:cNvSpPr/>
          <p:nvPr/>
        </p:nvSpPr>
        <p:spPr bwMode="auto">
          <a:xfrm>
            <a:off x="626364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3588426" name="Rounded Rectangle 16"/>
          <p:cNvSpPr/>
          <p:nvPr/>
        </p:nvSpPr>
        <p:spPr bwMode="auto">
          <a:xfrm>
            <a:off x="640080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7567718" name="Oval 17"/>
          <p:cNvSpPr/>
          <p:nvPr/>
        </p:nvSpPr>
        <p:spPr bwMode="auto">
          <a:xfrm>
            <a:off x="6537960" y="242316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1230374974" name="TextBox 18"/>
          <p:cNvSpPr txBox="1"/>
          <p:nvPr/>
        </p:nvSpPr>
        <p:spPr bwMode="auto">
          <a:xfrm>
            <a:off x="699516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Singkronisasi Data</a:t>
            </a:r>
            <a:endParaRPr/>
          </a:p>
        </p:txBody>
      </p:sp>
      <p:sp>
        <p:nvSpPr>
          <p:cNvPr id="1686283884" name="TextBox 19"/>
          <p:cNvSpPr txBox="1"/>
          <p:nvPr/>
        </p:nvSpPr>
        <p:spPr bwMode="auto">
          <a:xfrm>
            <a:off x="653796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Melengkapi fasilitas kredit,</a:t>
            </a:r>
            <a:br>
              <a:rPr/>
            </a:br>
            <a:r>
              <a:rPr/>
              <a:t>catatan, &amp; kesimpulan final</a:t>
            </a:r>
            <a:endParaRPr/>
          </a:p>
        </p:txBody>
      </p:sp>
      <p:sp>
        <p:nvSpPr>
          <p:cNvPr id="842793533" name="Right Arrow 20"/>
          <p:cNvSpPr/>
          <p:nvPr/>
        </p:nvSpPr>
        <p:spPr bwMode="auto">
          <a:xfrm>
            <a:off x="909828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624718" name="Rounded Rectangle 21"/>
          <p:cNvSpPr/>
          <p:nvPr/>
        </p:nvSpPr>
        <p:spPr bwMode="auto">
          <a:xfrm>
            <a:off x="923544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2035776" name="Oval 22"/>
          <p:cNvSpPr/>
          <p:nvPr/>
        </p:nvSpPr>
        <p:spPr bwMode="auto">
          <a:xfrm>
            <a:off x="9372600" y="242316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1334759726" name="TextBox 23"/>
          <p:cNvSpPr txBox="1"/>
          <p:nvPr/>
        </p:nvSpPr>
        <p:spPr bwMode="auto">
          <a:xfrm>
            <a:off x="982980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Simpan Assessment</a:t>
            </a:r>
            <a:endParaRPr/>
          </a:p>
        </p:txBody>
      </p:sp>
      <p:sp>
        <p:nvSpPr>
          <p:cNvPr id="2076166781" name="TextBox 24"/>
          <p:cNvSpPr txBox="1"/>
          <p:nvPr/>
        </p:nvSpPr>
        <p:spPr bwMode="auto">
          <a:xfrm>
            <a:off x="937260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Data tersimpan di database,</a:t>
            </a:r>
            <a:br>
              <a:rPr/>
            </a:br>
            <a:r>
              <a:rPr/>
              <a:t>siap direview oleh Komite</a:t>
            </a:r>
            <a:endParaRPr/>
          </a:p>
        </p:txBody>
      </p:sp>
      <p:sp>
        <p:nvSpPr>
          <p:cNvPr id="120852005" name="TextBox 25"/>
          <p:cNvSpPr txBox="1"/>
          <p:nvPr/>
        </p:nvSpPr>
        <p:spPr bwMode="auto"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FITUR UTAMA PENILAIAN KEPATUHAN:</a:t>
            </a:r>
            <a:endParaRPr/>
          </a:p>
        </p:txBody>
      </p:sp>
      <p:sp>
        <p:nvSpPr>
          <p:cNvPr id="2083456561" name="Rounded Rectangle 26"/>
          <p:cNvSpPr/>
          <p:nvPr/>
        </p:nvSpPr>
        <p:spPr bwMode="auto">
          <a:xfrm>
            <a:off x="73152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4342980" name="TextBox 27"/>
          <p:cNvSpPr txBox="1"/>
          <p:nvPr/>
        </p:nvSpPr>
        <p:spPr bwMode="auto">
          <a:xfrm>
            <a:off x="9144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📝</a:t>
            </a:r>
            <a:endParaRPr/>
          </a:p>
        </p:txBody>
      </p:sp>
      <p:sp>
        <p:nvSpPr>
          <p:cNvPr id="838852660" name="TextBox 28"/>
          <p:cNvSpPr txBox="1"/>
          <p:nvPr/>
        </p:nvSpPr>
        <p:spPr bwMode="auto">
          <a:xfrm>
            <a:off x="91440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rPr/>
              <a:t>Auto-Populate Data</a:t>
            </a:r>
            <a:endParaRPr/>
          </a:p>
        </p:txBody>
      </p:sp>
      <p:sp>
        <p:nvSpPr>
          <p:cNvPr id="700269833" name="TextBox 29"/>
          <p:cNvSpPr txBox="1"/>
          <p:nvPr/>
        </p:nvSpPr>
        <p:spPr bwMode="auto">
          <a:xfrm>
            <a:off x="91440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Data dari Analis langsung muncul</a:t>
            </a:r>
            <a:br>
              <a:rPr/>
            </a:br>
            <a:r>
              <a:rPr/>
              <a:t>di form Kepatuhan (tidak perlu</a:t>
            </a:r>
            <a:br>
              <a:rPr/>
            </a:br>
            <a:r>
              <a:rPr/>
              <a:t>input ulang).</a:t>
            </a:r>
            <a:endParaRPr/>
          </a:p>
        </p:txBody>
      </p:sp>
      <p:sp>
        <p:nvSpPr>
          <p:cNvPr id="357027446" name="Rounded Rectangle 30"/>
          <p:cNvSpPr/>
          <p:nvPr/>
        </p:nvSpPr>
        <p:spPr bwMode="auto">
          <a:xfrm>
            <a:off x="356616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05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1191861" name="TextBox 31"/>
          <p:cNvSpPr txBox="1"/>
          <p:nvPr/>
        </p:nvSpPr>
        <p:spPr bwMode="auto">
          <a:xfrm>
            <a:off x="374904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🔄</a:t>
            </a:r>
            <a:endParaRPr/>
          </a:p>
        </p:txBody>
      </p:sp>
      <p:sp>
        <p:nvSpPr>
          <p:cNvPr id="1268477141" name="TextBox 32"/>
          <p:cNvSpPr txBox="1"/>
          <p:nvPr/>
        </p:nvSpPr>
        <p:spPr bwMode="auto">
          <a:xfrm>
            <a:off x="374904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E6F"/>
                </a:solidFill>
                <a:latin typeface="Calibri"/>
              </a:defRPr>
            </a:pPr>
            <a:r>
              <a:rPr/>
              <a:t>AJAX Submission</a:t>
            </a:r>
            <a:endParaRPr/>
          </a:p>
        </p:txBody>
      </p:sp>
      <p:sp>
        <p:nvSpPr>
          <p:cNvPr id="1906845412" name="TextBox 33"/>
          <p:cNvSpPr txBox="1"/>
          <p:nvPr/>
        </p:nvSpPr>
        <p:spPr bwMode="auto">
          <a:xfrm>
            <a:off x="374904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Penyimpanan data real-time</a:t>
            </a:r>
            <a:br>
              <a:rPr/>
            </a:br>
            <a:r>
              <a:rPr/>
              <a:t>tanpa loading ulang halaman.</a:t>
            </a:r>
            <a:endParaRPr/>
          </a:p>
        </p:txBody>
      </p:sp>
      <p:sp>
        <p:nvSpPr>
          <p:cNvPr id="919089181" name="Rounded Rectangle 34"/>
          <p:cNvSpPr/>
          <p:nvPr/>
        </p:nvSpPr>
        <p:spPr bwMode="auto">
          <a:xfrm>
            <a:off x="640080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7488099" name="TextBox 35"/>
          <p:cNvSpPr txBox="1"/>
          <p:nvPr/>
        </p:nvSpPr>
        <p:spPr bwMode="auto">
          <a:xfrm>
            <a:off x="658368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🔍</a:t>
            </a:r>
            <a:endParaRPr/>
          </a:p>
        </p:txBody>
      </p:sp>
      <p:sp>
        <p:nvSpPr>
          <p:cNvPr id="1888222426" name="TextBox 36"/>
          <p:cNvSpPr txBox="1"/>
          <p:nvPr/>
        </p:nvSpPr>
        <p:spPr bwMode="auto">
          <a:xfrm>
            <a:off x="65836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rPr/>
              <a:t>Validasi Dokumen</a:t>
            </a:r>
            <a:endParaRPr/>
          </a:p>
        </p:txBody>
      </p:sp>
      <p:sp>
        <p:nvSpPr>
          <p:cNvPr id="106566673" name="TextBox 37"/>
          <p:cNvSpPr txBox="1"/>
          <p:nvPr/>
        </p:nvSpPr>
        <p:spPr bwMode="auto">
          <a:xfrm>
            <a:off x="658368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Memastikan semua syarat legal,</a:t>
            </a:r>
            <a:br>
              <a:rPr/>
            </a:br>
            <a:r>
              <a:rPr/>
              <a:t>agunan, dan administrasi telah</a:t>
            </a:r>
            <a:br>
              <a:rPr/>
            </a:br>
            <a:r>
              <a:rPr/>
              <a:t>sesuai SOP Bank.</a:t>
            </a:r>
            <a:endParaRPr/>
          </a:p>
        </p:txBody>
      </p:sp>
      <p:sp>
        <p:nvSpPr>
          <p:cNvPr id="1914069017" name="Rounded Rectangle 38"/>
          <p:cNvSpPr/>
          <p:nvPr/>
        </p:nvSpPr>
        <p:spPr bwMode="auto">
          <a:xfrm>
            <a:off x="923544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30631" name="TextBox 39"/>
          <p:cNvSpPr txBox="1"/>
          <p:nvPr/>
        </p:nvSpPr>
        <p:spPr bwMode="auto">
          <a:xfrm>
            <a:off x="941832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📊</a:t>
            </a:r>
            <a:endParaRPr/>
          </a:p>
        </p:txBody>
      </p:sp>
      <p:sp>
        <p:nvSpPr>
          <p:cNvPr id="666818670" name="TextBox 40"/>
          <p:cNvSpPr txBox="1"/>
          <p:nvPr/>
        </p:nvSpPr>
        <p:spPr bwMode="auto">
          <a:xfrm>
            <a:off x="941832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5AA8"/>
                </a:solidFill>
                <a:latin typeface="Calibri"/>
              </a:defRPr>
            </a:pPr>
            <a:r>
              <a:rPr/>
              <a:t>Tersentralisasi</a:t>
            </a:r>
            <a:endParaRPr/>
          </a:p>
        </p:txBody>
      </p:sp>
      <p:sp>
        <p:nvSpPr>
          <p:cNvPr id="1517760963" name="TextBox 41"/>
          <p:cNvSpPr txBox="1"/>
          <p:nvPr/>
        </p:nvSpPr>
        <p:spPr bwMode="auto">
          <a:xfrm>
            <a:off x="941832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Hasil assessment langsung</a:t>
            </a:r>
            <a:br>
              <a:rPr/>
            </a:br>
            <a:r>
              <a:rPr/>
              <a:t>terhubung ke pengajuan kredit</a:t>
            </a:r>
            <a:br>
              <a:rPr/>
            </a:br>
            <a:r>
              <a:rPr/>
              <a:t>dan bisa dilihat Kasubag/Kabag.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90832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5</a:t>
            </a:r>
            <a:endParaRPr/>
          </a:p>
        </p:txBody>
      </p:sp>
      <p:sp>
        <p:nvSpPr>
          <p:cNvPr id="302418747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KABAG ANALIS</a:t>
            </a:r>
            <a:endParaRPr/>
          </a:p>
        </p:txBody>
      </p:sp>
      <p:sp>
        <p:nvSpPr>
          <p:cNvPr id="478655645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Evaluasi Risiko Kredit &amp; Penilaian Agunan</a:t>
            </a:r>
            <a:endParaRPr/>
          </a:p>
        </p:txBody>
      </p:sp>
      <p:sp>
        <p:nvSpPr>
          <p:cNvPr id="1155152081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6466012" name="TextBox 5"/>
          <p:cNvSpPr txBox="1"/>
          <p:nvPr/>
        </p:nvSpPr>
        <p:spPr bwMode="auto"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ALUR KERJA KABAG ANALIS:</a:t>
            </a:r>
            <a:endParaRPr/>
          </a:p>
        </p:txBody>
      </p:sp>
      <p:sp>
        <p:nvSpPr>
          <p:cNvPr id="1270233416" name="Rounded Rectangle 6"/>
          <p:cNvSpPr/>
          <p:nvPr/>
        </p:nvSpPr>
        <p:spPr bwMode="auto">
          <a:xfrm>
            <a:off x="73152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8171793" name="Oval 7"/>
          <p:cNvSpPr/>
          <p:nvPr/>
        </p:nvSpPr>
        <p:spPr bwMode="auto">
          <a:xfrm>
            <a:off x="868680" y="242316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944977140" name="TextBox 8"/>
          <p:cNvSpPr txBox="1"/>
          <p:nvPr/>
        </p:nvSpPr>
        <p:spPr bwMode="auto">
          <a:xfrm>
            <a:off x="132588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Dashboard Inbox</a:t>
            </a:r>
            <a:endParaRPr/>
          </a:p>
        </p:txBody>
      </p:sp>
      <p:sp>
        <p:nvSpPr>
          <p:cNvPr id="1277655136" name="TextBox 9"/>
          <p:cNvSpPr txBox="1"/>
          <p:nvPr/>
        </p:nvSpPr>
        <p:spPr bwMode="auto">
          <a:xfrm>
            <a:off x="86868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Menerima pengajuan yang sudah</a:t>
            </a:r>
            <a:br>
              <a:rPr/>
            </a:br>
            <a:r>
              <a:rPr/>
              <a:t>disetujui oleh Kepatuhan</a:t>
            </a:r>
            <a:endParaRPr/>
          </a:p>
        </p:txBody>
      </p:sp>
      <p:sp>
        <p:nvSpPr>
          <p:cNvPr id="2068371077" name="Right Arrow 10"/>
          <p:cNvSpPr/>
          <p:nvPr/>
        </p:nvSpPr>
        <p:spPr bwMode="auto">
          <a:xfrm>
            <a:off x="342900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3038490" name="Rounded Rectangle 11"/>
          <p:cNvSpPr/>
          <p:nvPr/>
        </p:nvSpPr>
        <p:spPr bwMode="auto">
          <a:xfrm>
            <a:off x="356616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7821174" name="Oval 12"/>
          <p:cNvSpPr/>
          <p:nvPr/>
        </p:nvSpPr>
        <p:spPr bwMode="auto">
          <a:xfrm>
            <a:off x="3703320" y="242316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965129811" name="TextBox 13"/>
          <p:cNvSpPr txBox="1"/>
          <p:nvPr/>
        </p:nvSpPr>
        <p:spPr bwMode="auto">
          <a:xfrm>
            <a:off x="4160519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Evaluasi Risiko</a:t>
            </a:r>
            <a:endParaRPr/>
          </a:p>
        </p:txBody>
      </p:sp>
      <p:sp>
        <p:nvSpPr>
          <p:cNvPr id="1743053173" name="TextBox 14"/>
          <p:cNvSpPr txBox="1"/>
          <p:nvPr/>
        </p:nvSpPr>
        <p:spPr bwMode="auto">
          <a:xfrm>
            <a:off x="370332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Analisis mendalam terhadap risiko</a:t>
            </a:r>
            <a:br>
              <a:rPr/>
            </a:br>
            <a:r>
              <a:rPr/>
              <a:t>kredit, kelayakan usaha nasabah</a:t>
            </a:r>
            <a:endParaRPr/>
          </a:p>
        </p:txBody>
      </p:sp>
      <p:sp>
        <p:nvSpPr>
          <p:cNvPr id="1072155662" name="Right Arrow 15"/>
          <p:cNvSpPr/>
          <p:nvPr/>
        </p:nvSpPr>
        <p:spPr bwMode="auto">
          <a:xfrm>
            <a:off x="626364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4595234" name="Rounded Rectangle 16"/>
          <p:cNvSpPr/>
          <p:nvPr/>
        </p:nvSpPr>
        <p:spPr bwMode="auto">
          <a:xfrm>
            <a:off x="640080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8037154" name="Oval 17"/>
          <p:cNvSpPr/>
          <p:nvPr/>
        </p:nvSpPr>
        <p:spPr bwMode="auto">
          <a:xfrm>
            <a:off x="6537960" y="24231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934784575" name="TextBox 18"/>
          <p:cNvSpPr txBox="1"/>
          <p:nvPr/>
        </p:nvSpPr>
        <p:spPr bwMode="auto">
          <a:xfrm>
            <a:off x="699516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Review Agunan</a:t>
            </a:r>
            <a:endParaRPr/>
          </a:p>
        </p:txBody>
      </p:sp>
      <p:sp>
        <p:nvSpPr>
          <p:cNvPr id="765758991" name="TextBox 19"/>
          <p:cNvSpPr txBox="1"/>
          <p:nvPr/>
        </p:nvSpPr>
        <p:spPr bwMode="auto">
          <a:xfrm>
            <a:off x="653796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Verifikasi nilai taksasi agunan</a:t>
            </a:r>
            <a:br>
              <a:rPr/>
            </a:br>
            <a:r>
              <a:rPr/>
              <a:t>dan kecukupan jaminan</a:t>
            </a:r>
            <a:endParaRPr/>
          </a:p>
        </p:txBody>
      </p:sp>
      <p:sp>
        <p:nvSpPr>
          <p:cNvPr id="1128387699" name="Right Arrow 20"/>
          <p:cNvSpPr/>
          <p:nvPr/>
        </p:nvSpPr>
        <p:spPr bwMode="auto">
          <a:xfrm>
            <a:off x="9098280" y="269748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636785" name="Rounded Rectangle 21"/>
          <p:cNvSpPr/>
          <p:nvPr/>
        </p:nvSpPr>
        <p:spPr bwMode="auto">
          <a:xfrm>
            <a:off x="9235440" y="2286000"/>
            <a:ext cx="2651760" cy="10972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3611935" name="Oval 22"/>
          <p:cNvSpPr/>
          <p:nvPr/>
        </p:nvSpPr>
        <p:spPr bwMode="auto">
          <a:xfrm>
            <a:off x="9372600" y="24231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1618429984" name="TextBox 23"/>
          <p:cNvSpPr txBox="1"/>
          <p:nvPr/>
        </p:nvSpPr>
        <p:spPr bwMode="auto">
          <a:xfrm>
            <a:off x="9829800" y="24231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Keputusan</a:t>
            </a:r>
            <a:endParaRPr/>
          </a:p>
        </p:txBody>
      </p:sp>
      <p:sp>
        <p:nvSpPr>
          <p:cNvPr id="1663821187" name="TextBox 24"/>
          <p:cNvSpPr txBox="1"/>
          <p:nvPr/>
        </p:nvSpPr>
        <p:spPr bwMode="auto">
          <a:xfrm>
            <a:off x="937260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Memberikan keputusan: Setuju,</a:t>
            </a:r>
            <a:br>
              <a:rPr/>
            </a:br>
            <a:r>
              <a:rPr/>
              <a:t>Revisi, atau Tolak</a:t>
            </a:r>
            <a:endParaRPr/>
          </a:p>
        </p:txBody>
      </p:sp>
      <p:sp>
        <p:nvSpPr>
          <p:cNvPr id="1699487973" name="TextBox 25"/>
          <p:cNvSpPr txBox="1"/>
          <p:nvPr/>
        </p:nvSpPr>
        <p:spPr bwMode="auto"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FOKUS EVALUASI KABAG ANALIS:</a:t>
            </a:r>
            <a:endParaRPr/>
          </a:p>
        </p:txBody>
      </p:sp>
      <p:sp>
        <p:nvSpPr>
          <p:cNvPr id="1878734820" name="Rounded Rectangle 26"/>
          <p:cNvSpPr/>
          <p:nvPr/>
        </p:nvSpPr>
        <p:spPr bwMode="auto">
          <a:xfrm>
            <a:off x="73152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7484701" name="TextBox 27"/>
          <p:cNvSpPr txBox="1"/>
          <p:nvPr/>
        </p:nvSpPr>
        <p:spPr bwMode="auto">
          <a:xfrm>
            <a:off x="91440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💰</a:t>
            </a:r>
            <a:endParaRPr/>
          </a:p>
        </p:txBody>
      </p:sp>
      <p:sp>
        <p:nvSpPr>
          <p:cNvPr id="410608029" name="TextBox 28"/>
          <p:cNvSpPr txBox="1"/>
          <p:nvPr/>
        </p:nvSpPr>
        <p:spPr bwMode="auto">
          <a:xfrm>
            <a:off x="91440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5AA8"/>
                </a:solidFill>
                <a:latin typeface="Calibri"/>
              </a:defRPr>
            </a:pPr>
            <a:r>
              <a:rPr/>
              <a:t>Analisis Keuangan</a:t>
            </a:r>
            <a:endParaRPr/>
          </a:p>
        </p:txBody>
      </p:sp>
      <p:sp>
        <p:nvSpPr>
          <p:cNvPr id="190377997" name="TextBox 29"/>
          <p:cNvSpPr txBox="1"/>
          <p:nvPr/>
        </p:nvSpPr>
        <p:spPr bwMode="auto">
          <a:xfrm>
            <a:off x="91440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Mengevaluasi rasio keuangan nasabah,</a:t>
            </a:r>
            <a:br>
              <a:rPr/>
            </a:br>
            <a:r>
              <a:rPr/>
              <a:t>Debt Service Ratio (DSR), dan</a:t>
            </a:r>
            <a:br>
              <a:rPr/>
            </a:br>
            <a:r>
              <a:rPr/>
              <a:t>Repayment Capacity sesuai standar bank</a:t>
            </a:r>
            <a:endParaRPr/>
          </a:p>
        </p:txBody>
      </p:sp>
      <p:sp>
        <p:nvSpPr>
          <p:cNvPr id="1570910364" name="Rounded Rectangle 30"/>
          <p:cNvSpPr/>
          <p:nvPr/>
        </p:nvSpPr>
        <p:spPr bwMode="auto">
          <a:xfrm>
            <a:off x="356616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4169795" name="TextBox 31"/>
          <p:cNvSpPr txBox="1"/>
          <p:nvPr/>
        </p:nvSpPr>
        <p:spPr bwMode="auto">
          <a:xfrm>
            <a:off x="374904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🏠</a:t>
            </a:r>
            <a:endParaRPr/>
          </a:p>
        </p:txBody>
      </p:sp>
      <p:sp>
        <p:nvSpPr>
          <p:cNvPr id="2139149116" name="TextBox 32"/>
          <p:cNvSpPr txBox="1"/>
          <p:nvPr/>
        </p:nvSpPr>
        <p:spPr bwMode="auto">
          <a:xfrm>
            <a:off x="374904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rPr/>
              <a:t>Penilaian Agunan</a:t>
            </a:r>
            <a:endParaRPr/>
          </a:p>
        </p:txBody>
      </p:sp>
      <p:sp>
        <p:nvSpPr>
          <p:cNvPr id="1852318867" name="TextBox 33"/>
          <p:cNvSpPr txBox="1"/>
          <p:nvPr/>
        </p:nvSpPr>
        <p:spPr bwMode="auto">
          <a:xfrm>
            <a:off x="374904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Memverifikasi nilai taksasi agunan,</a:t>
            </a:r>
            <a:br>
              <a:rPr/>
            </a:br>
            <a:r>
              <a:rPr/>
              <a:t>rasio Loan to Value (LTV),</a:t>
            </a:r>
            <a:br>
              <a:rPr/>
            </a:br>
            <a:r>
              <a:rPr/>
              <a:t>dan kelayakan jaminan yang diajukan</a:t>
            </a:r>
            <a:endParaRPr/>
          </a:p>
        </p:txBody>
      </p:sp>
      <p:sp>
        <p:nvSpPr>
          <p:cNvPr id="515246884" name="Rounded Rectangle 34"/>
          <p:cNvSpPr/>
          <p:nvPr/>
        </p:nvSpPr>
        <p:spPr bwMode="auto">
          <a:xfrm>
            <a:off x="640080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6681768" name="TextBox 35"/>
          <p:cNvSpPr txBox="1"/>
          <p:nvPr/>
        </p:nvSpPr>
        <p:spPr bwMode="auto">
          <a:xfrm>
            <a:off x="658368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📊</a:t>
            </a:r>
            <a:endParaRPr/>
          </a:p>
        </p:txBody>
      </p:sp>
      <p:sp>
        <p:nvSpPr>
          <p:cNvPr id="1144829570" name="TextBox 36"/>
          <p:cNvSpPr txBox="1"/>
          <p:nvPr/>
        </p:nvSpPr>
        <p:spPr bwMode="auto">
          <a:xfrm>
            <a:off x="65836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7316"/>
                </a:solidFill>
                <a:latin typeface="Calibri"/>
              </a:defRPr>
            </a:pPr>
            <a:r>
              <a:rPr/>
              <a:t>Risiko Kredit</a:t>
            </a:r>
            <a:endParaRPr/>
          </a:p>
        </p:txBody>
      </p:sp>
      <p:sp>
        <p:nvSpPr>
          <p:cNvPr id="1557084019" name="TextBox 37"/>
          <p:cNvSpPr txBox="1"/>
          <p:nvPr/>
        </p:nvSpPr>
        <p:spPr bwMode="auto">
          <a:xfrm>
            <a:off x="658368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Menilai risiko kredit berdasarkan</a:t>
            </a:r>
            <a:br>
              <a:rPr/>
            </a:br>
            <a:r>
              <a:rPr/>
              <a:t>analisa 6C yang dilakukan analis,</a:t>
            </a:r>
            <a:br>
              <a:rPr/>
            </a:br>
            <a:r>
              <a:rPr/>
              <a:t>kelayakan struktur kredit</a:t>
            </a:r>
            <a:endParaRPr/>
          </a:p>
        </p:txBody>
      </p:sp>
      <p:sp>
        <p:nvSpPr>
          <p:cNvPr id="1197486502" name="Rounded Rectangle 38"/>
          <p:cNvSpPr/>
          <p:nvPr/>
        </p:nvSpPr>
        <p:spPr bwMode="auto">
          <a:xfrm>
            <a:off x="9235440" y="4206240"/>
            <a:ext cx="265176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2991371" name="TextBox 39"/>
          <p:cNvSpPr txBox="1"/>
          <p:nvPr/>
        </p:nvSpPr>
        <p:spPr bwMode="auto">
          <a:xfrm>
            <a:off x="941832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rPr/>
              <a:t>📋</a:t>
            </a:r>
            <a:endParaRPr/>
          </a:p>
        </p:txBody>
      </p:sp>
      <p:sp>
        <p:nvSpPr>
          <p:cNvPr id="122876709" name="TextBox 40"/>
          <p:cNvSpPr txBox="1"/>
          <p:nvPr/>
        </p:nvSpPr>
        <p:spPr bwMode="auto">
          <a:xfrm>
            <a:off x="941832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rPr/>
              <a:t>Kepatuhan</a:t>
            </a:r>
            <a:endParaRPr/>
          </a:p>
        </p:txBody>
      </p:sp>
      <p:sp>
        <p:nvSpPr>
          <p:cNvPr id="1023351109" name="TextBox 41"/>
          <p:cNvSpPr txBox="1"/>
          <p:nvPr/>
        </p:nvSpPr>
        <p:spPr bwMode="auto">
          <a:xfrm>
            <a:off x="9418320" y="50292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Memastikan kesesuaian dengan</a:t>
            </a:r>
            <a:br>
              <a:rPr/>
            </a:br>
            <a:r>
              <a:rPr/>
              <a:t>kebijakan internal bank dan</a:t>
            </a:r>
            <a:br>
              <a:rPr/>
            </a:br>
            <a:r>
              <a:rPr/>
              <a:t>regulasi OJK yang berlaku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683464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351783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PROSES KEPUTUSAN APPROVAL (Kasubag / Kabag)</a:t>
            </a:r>
            <a:endParaRPr/>
          </a:p>
        </p:txBody>
      </p:sp>
      <p:sp>
        <p:nvSpPr>
          <p:cNvPr id="505952916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120546" name="TextBox 4"/>
          <p:cNvSpPr txBox="1"/>
          <p:nvPr/>
        </p:nvSpPr>
        <p:spPr bwMode="auto"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rPr/>
              <a:t>Tampilan halaman review dan aksi keputusan yang tersedia pada setiap level approval:</a:t>
            </a:r>
            <a:endParaRPr/>
          </a:p>
        </p:txBody>
      </p:sp>
      <p:pic>
        <p:nvPicPr>
          <p:cNvPr id="529770476" name="Picture 5" descr="approval_workflow_1784769114724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463040"/>
            <a:ext cx="11247120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129925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6</a:t>
            </a:r>
            <a:endParaRPr/>
          </a:p>
        </p:txBody>
      </p:sp>
      <p:sp>
        <p:nvSpPr>
          <p:cNvPr id="1241747265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KADIV BISNIS</a:t>
            </a:r>
            <a:endParaRPr/>
          </a:p>
        </p:txBody>
      </p:sp>
      <p:sp>
        <p:nvSpPr>
          <p:cNvPr id="1802277251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Approval Divisi &amp; Threshold Keputusan Kredit</a:t>
            </a:r>
            <a:endParaRPr/>
          </a:p>
        </p:txBody>
      </p:sp>
      <p:sp>
        <p:nvSpPr>
          <p:cNvPr id="789035234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7175577" name="Rounded Rectangle 5"/>
          <p:cNvSpPr/>
          <p:nvPr/>
        </p:nvSpPr>
        <p:spPr bwMode="auto">
          <a:xfrm>
            <a:off x="731520" y="1920240"/>
            <a:ext cx="10698480" cy="137160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8855519" name="TextBox 6"/>
          <p:cNvSpPr txBox="1"/>
          <p:nvPr/>
        </p:nvSpPr>
        <p:spPr bwMode="auto"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rPr/>
              <a:t>⚡ ATURAN THRESHOLD JUMLAH KREDIT:</a:t>
            </a:r>
            <a:endParaRPr/>
          </a:p>
        </p:txBody>
      </p:sp>
      <p:sp>
        <p:nvSpPr>
          <p:cNvPr id="1995514139" name="Rounded Rectangle 7"/>
          <p:cNvSpPr/>
          <p:nvPr/>
        </p:nvSpPr>
        <p:spPr bwMode="auto">
          <a:xfrm>
            <a:off x="1097280" y="2468880"/>
            <a:ext cx="4572000" cy="6400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/>
              <a:t>Kredit &lt; Rp 50 Juta → KADIV = FINAL APPROVAL</a:t>
            </a:r>
            <a:endParaRPr/>
          </a:p>
        </p:txBody>
      </p:sp>
      <p:sp>
        <p:nvSpPr>
          <p:cNvPr id="404268223" name="Rounded Rectangle 8"/>
          <p:cNvSpPr/>
          <p:nvPr/>
        </p:nvSpPr>
        <p:spPr bwMode="auto">
          <a:xfrm>
            <a:off x="5943600" y="2468880"/>
            <a:ext cx="5029200" cy="64008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/>
              <a:t>Kredit ≥ Rp 50Juta → Eskalasi ke DIREKSI</a:t>
            </a:r>
            <a:endParaRPr/>
          </a:p>
        </p:txBody>
      </p:sp>
      <p:sp>
        <p:nvSpPr>
          <p:cNvPr id="1061148042" name="TextBox 9"/>
          <p:cNvSpPr txBox="1"/>
          <p:nvPr/>
        </p:nvSpPr>
        <p:spPr bwMode="auto"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ALUR KERJA KADIV BISNIS:</a:t>
            </a:r>
            <a:endParaRPr/>
          </a:p>
        </p:txBody>
      </p:sp>
      <p:sp>
        <p:nvSpPr>
          <p:cNvPr id="127148342" name="Rounded Rectangle 10"/>
          <p:cNvSpPr/>
          <p:nvPr/>
        </p:nvSpPr>
        <p:spPr bwMode="auto">
          <a:xfrm>
            <a:off x="731520" y="4023360"/>
            <a:ext cx="2651760" cy="1280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3853440" name="Oval 11"/>
          <p:cNvSpPr/>
          <p:nvPr/>
        </p:nvSpPr>
        <p:spPr bwMode="auto">
          <a:xfrm>
            <a:off x="868680" y="4160519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1494434772" name="TextBox 12"/>
          <p:cNvSpPr txBox="1"/>
          <p:nvPr/>
        </p:nvSpPr>
        <p:spPr bwMode="auto">
          <a:xfrm>
            <a:off x="1325880" y="416051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Terima Pengajuan</a:t>
            </a:r>
            <a:endParaRPr/>
          </a:p>
        </p:txBody>
      </p:sp>
      <p:sp>
        <p:nvSpPr>
          <p:cNvPr id="2092427944" name="TextBox 13"/>
          <p:cNvSpPr txBox="1"/>
          <p:nvPr/>
        </p:nvSpPr>
        <p:spPr bwMode="auto">
          <a:xfrm>
            <a:off x="868680" y="4526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Menerima pengajuan dari Kabag Analis</a:t>
            </a:r>
            <a:br>
              <a:rPr/>
            </a:br>
            <a:r>
              <a:rPr/>
              <a:t>Kredit yang sudah disetujui</a:t>
            </a:r>
            <a:endParaRPr/>
          </a:p>
        </p:txBody>
      </p:sp>
      <p:sp>
        <p:nvSpPr>
          <p:cNvPr id="462246975" name="Right Arrow 14"/>
          <p:cNvSpPr/>
          <p:nvPr/>
        </p:nvSpPr>
        <p:spPr bwMode="auto">
          <a:xfrm>
            <a:off x="3429000" y="448056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6676450" name="Rounded Rectangle 15"/>
          <p:cNvSpPr/>
          <p:nvPr/>
        </p:nvSpPr>
        <p:spPr bwMode="auto">
          <a:xfrm>
            <a:off x="3566160" y="4023360"/>
            <a:ext cx="2651760" cy="1280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872518" name="Oval 16"/>
          <p:cNvSpPr/>
          <p:nvPr/>
        </p:nvSpPr>
        <p:spPr bwMode="auto">
          <a:xfrm>
            <a:off x="3703320" y="4160519"/>
            <a:ext cx="365760" cy="36576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1088063040" name="TextBox 17"/>
          <p:cNvSpPr txBox="1"/>
          <p:nvPr/>
        </p:nvSpPr>
        <p:spPr bwMode="auto">
          <a:xfrm>
            <a:off x="4160519" y="416051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Review Menyeluruh</a:t>
            </a:r>
            <a:endParaRPr/>
          </a:p>
        </p:txBody>
      </p:sp>
      <p:sp>
        <p:nvSpPr>
          <p:cNvPr id="2044736703" name="TextBox 18"/>
          <p:cNvSpPr txBox="1"/>
          <p:nvPr/>
        </p:nvSpPr>
        <p:spPr bwMode="auto">
          <a:xfrm>
            <a:off x="3703320" y="4526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Evaluasi kelayakan bisnis, risiko</a:t>
            </a:r>
            <a:br>
              <a:rPr/>
            </a:br>
            <a:r>
              <a:rPr/>
              <a:t>divisi, dan dampak portfolio</a:t>
            </a:r>
            <a:endParaRPr/>
          </a:p>
        </p:txBody>
      </p:sp>
      <p:sp>
        <p:nvSpPr>
          <p:cNvPr id="1697982635" name="Right Arrow 19"/>
          <p:cNvSpPr/>
          <p:nvPr/>
        </p:nvSpPr>
        <p:spPr bwMode="auto">
          <a:xfrm>
            <a:off x="6263640" y="448056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3330162" name="Rounded Rectangle 20"/>
          <p:cNvSpPr/>
          <p:nvPr/>
        </p:nvSpPr>
        <p:spPr bwMode="auto">
          <a:xfrm>
            <a:off x="6400800" y="4023360"/>
            <a:ext cx="2651760" cy="1280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011154" name="Oval 21"/>
          <p:cNvSpPr/>
          <p:nvPr/>
        </p:nvSpPr>
        <p:spPr bwMode="auto">
          <a:xfrm>
            <a:off x="6537960" y="4160519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87123736" name="TextBox 22"/>
          <p:cNvSpPr txBox="1"/>
          <p:nvPr/>
        </p:nvSpPr>
        <p:spPr bwMode="auto">
          <a:xfrm>
            <a:off x="6995160" y="416051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Cek Threshold</a:t>
            </a:r>
            <a:endParaRPr/>
          </a:p>
        </p:txBody>
      </p:sp>
      <p:sp>
        <p:nvSpPr>
          <p:cNvPr id="1947476314" name="TextBox 23"/>
          <p:cNvSpPr txBox="1"/>
          <p:nvPr/>
        </p:nvSpPr>
        <p:spPr bwMode="auto">
          <a:xfrm>
            <a:off x="6537960" y="4526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Periksa jumlah kredit untuk</a:t>
            </a:r>
            <a:br>
              <a:rPr/>
            </a:br>
            <a:r>
              <a:rPr/>
              <a:t>menentukan apakah Kadiv</a:t>
            </a:r>
            <a:br>
              <a:rPr/>
            </a:br>
            <a:r>
              <a:rPr/>
              <a:t>adalah level approval terakhir</a:t>
            </a:r>
            <a:endParaRPr/>
          </a:p>
        </p:txBody>
      </p:sp>
      <p:sp>
        <p:nvSpPr>
          <p:cNvPr id="1305596198" name="Right Arrow 24"/>
          <p:cNvSpPr/>
          <p:nvPr/>
        </p:nvSpPr>
        <p:spPr bwMode="auto">
          <a:xfrm>
            <a:off x="9098280" y="4480560"/>
            <a:ext cx="9144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5382731" name="Rounded Rectangle 25"/>
          <p:cNvSpPr/>
          <p:nvPr/>
        </p:nvSpPr>
        <p:spPr bwMode="auto">
          <a:xfrm>
            <a:off x="9235440" y="4023360"/>
            <a:ext cx="2651760" cy="128016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397555" name="Oval 26"/>
          <p:cNvSpPr/>
          <p:nvPr/>
        </p:nvSpPr>
        <p:spPr bwMode="auto">
          <a:xfrm>
            <a:off x="9372600" y="4160519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  <a:endParaRPr/>
          </a:p>
        </p:txBody>
      </p:sp>
      <p:sp>
        <p:nvSpPr>
          <p:cNvPr id="1053100357" name="TextBox 27"/>
          <p:cNvSpPr txBox="1"/>
          <p:nvPr/>
        </p:nvSpPr>
        <p:spPr bwMode="auto">
          <a:xfrm>
            <a:off x="9829800" y="4160519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Keputusan</a:t>
            </a:r>
            <a:endParaRPr/>
          </a:p>
        </p:txBody>
      </p:sp>
      <p:sp>
        <p:nvSpPr>
          <p:cNvPr id="51986309" name="TextBox 28"/>
          <p:cNvSpPr txBox="1"/>
          <p:nvPr/>
        </p:nvSpPr>
        <p:spPr bwMode="auto">
          <a:xfrm>
            <a:off x="9372600" y="45262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Setuju (final jika &lt;500Jt),</a:t>
            </a:r>
            <a:br>
              <a:rPr/>
            </a:br>
            <a:r>
              <a:rPr/>
              <a:t>Revisi, atau Tolak.</a:t>
            </a:r>
            <a:br>
              <a:rPr/>
            </a:br>
            <a:r>
              <a:rPr/>
              <a:t>Jika ≥500Jt: eskalasi ke Direksi</a:t>
            </a:r>
            <a:endParaRPr/>
          </a:p>
        </p:txBody>
      </p:sp>
      <p:sp>
        <p:nvSpPr>
          <p:cNvPr id="1229388114" name="TextBox 29"/>
          <p:cNvSpPr txBox="1"/>
          <p:nvPr/>
        </p:nvSpPr>
        <p:spPr bwMode="auto">
          <a:xfrm>
            <a:off x="73152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1F5F9"/>
                </a:solidFill>
                <a:latin typeface="Calibri"/>
              </a:defRPr>
            </a:pPr>
            <a:r>
              <a:rPr/>
              <a:t>OPSI KEPUTUSAN:  ✅ Setuju (lanjut/final)  |  🔄 Revisi (kembali ke Analis)  |  ❌ Tolak (ditolak ke Analis)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499123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3589942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/>
              <a:t>DIAGRAM KEPUTUSAN KADIV BISNIS</a:t>
            </a:r>
            <a:endParaRPr/>
          </a:p>
        </p:txBody>
      </p:sp>
      <p:sp>
        <p:nvSpPr>
          <p:cNvPr id="621605348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0237083" name="Picture 4" descr="kadiv_workflow_1784769151038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572655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7</a:t>
            </a:r>
            <a:endParaRPr/>
          </a:p>
        </p:txBody>
      </p:sp>
      <p:sp>
        <p:nvSpPr>
          <p:cNvPr id="1026380540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DIREKSI</a:t>
            </a:r>
            <a:endParaRPr/>
          </a:p>
        </p:txBody>
      </p:sp>
      <p:sp>
        <p:nvSpPr>
          <p:cNvPr id="154452318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Persetujuan Final untuk Kredit Bernilai Besar (≥ Rp 500 Juta)</a:t>
            </a:r>
            <a:endParaRPr/>
          </a:p>
        </p:txBody>
      </p:sp>
      <p:sp>
        <p:nvSpPr>
          <p:cNvPr id="413067044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9204694" name="Rounded Rectangle 5"/>
          <p:cNvSpPr/>
          <p:nvPr/>
        </p:nvSpPr>
        <p:spPr bwMode="auto">
          <a:xfrm>
            <a:off x="731520" y="1920240"/>
            <a:ext cx="10698480" cy="914400"/>
          </a:xfrm>
          <a:prstGeom prst="roundRect">
            <a:avLst>
              <a:gd name="adj" fmla="val 16667"/>
            </a:avLst>
          </a:prstGeom>
          <a:solidFill>
            <a:srgbClr val="45121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7678294" name="TextBox 6"/>
          <p:cNvSpPr txBox="1"/>
          <p:nvPr/>
        </p:nvSpPr>
        <p:spPr bwMode="auto">
          <a:xfrm>
            <a:off x="914400" y="2011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rPr/>
              <a:t>⚠️  PENTING: Direksi hanya menerima pengajuan kredit dengan nilai ≥ Rp 500.000.000</a:t>
            </a:r>
            <a:endParaRPr/>
          </a:p>
        </p:txBody>
      </p:sp>
      <p:sp>
        <p:nvSpPr>
          <p:cNvPr id="98661256" name="TextBox 7"/>
          <p:cNvSpPr txBox="1"/>
          <p:nvPr/>
        </p:nvSpPr>
        <p:spPr bwMode="auto">
          <a:xfrm>
            <a:off x="91440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A5A5"/>
                </a:solidFill>
                <a:latin typeface="Calibri"/>
              </a:defRPr>
            </a:pPr>
            <a:r>
              <a:rPr/>
              <a:t>Direksi TIDAK memiliki opsi REVISI — hanya dapat MENYETUJUI atau MENOLAK (keputusan bersifat FINAL)</a:t>
            </a:r>
            <a:endParaRPr/>
          </a:p>
        </p:txBody>
      </p:sp>
      <p:sp>
        <p:nvSpPr>
          <p:cNvPr id="1952668957" name="TextBox 8"/>
          <p:cNvSpPr txBox="1"/>
          <p:nvPr/>
        </p:nvSpPr>
        <p:spPr bwMode="auto"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ALUR KERJA DIREKSI:</a:t>
            </a:r>
            <a:endParaRPr/>
          </a:p>
        </p:txBody>
      </p:sp>
      <p:sp>
        <p:nvSpPr>
          <p:cNvPr id="1739653825" name="Rounded Rectangle 9"/>
          <p:cNvSpPr/>
          <p:nvPr/>
        </p:nvSpPr>
        <p:spPr bwMode="auto">
          <a:xfrm>
            <a:off x="731520" y="3566160"/>
            <a:ext cx="3474720" cy="1371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2512854" name="Oval 10"/>
          <p:cNvSpPr/>
          <p:nvPr/>
        </p:nvSpPr>
        <p:spPr bwMode="auto">
          <a:xfrm>
            <a:off x="868680" y="370332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  <a:endParaRPr/>
          </a:p>
        </p:txBody>
      </p:sp>
      <p:sp>
        <p:nvSpPr>
          <p:cNvPr id="290365896" name="TextBox 11"/>
          <p:cNvSpPr txBox="1"/>
          <p:nvPr/>
        </p:nvSpPr>
        <p:spPr bwMode="auto">
          <a:xfrm>
            <a:off x="1325880" y="37033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Dashboard Direksi</a:t>
            </a:r>
            <a:endParaRPr/>
          </a:p>
        </p:txBody>
      </p:sp>
      <p:sp>
        <p:nvSpPr>
          <p:cNvPr id="1544432882" name="TextBox 12"/>
          <p:cNvSpPr txBox="1"/>
          <p:nvPr/>
        </p:nvSpPr>
        <p:spPr bwMode="auto">
          <a:xfrm>
            <a:off x="868680" y="4069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Melihat pengajuan kredit bernilai</a:t>
            </a:r>
            <a:br>
              <a:rPr/>
            </a:br>
            <a:r>
              <a:rPr/>
              <a:t>besar (≥500Jt) yang menunggu</a:t>
            </a:r>
            <a:br>
              <a:rPr/>
            </a:br>
            <a:r>
              <a:rPr/>
              <a:t>keputusan eksekutif</a:t>
            </a:r>
            <a:endParaRPr/>
          </a:p>
        </p:txBody>
      </p:sp>
      <p:sp>
        <p:nvSpPr>
          <p:cNvPr id="824620897" name="Right Arrow 13"/>
          <p:cNvSpPr/>
          <p:nvPr/>
        </p:nvSpPr>
        <p:spPr bwMode="auto">
          <a:xfrm>
            <a:off x="4251960" y="4114800"/>
            <a:ext cx="1828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7860549" name="Rounded Rectangle 14"/>
          <p:cNvSpPr/>
          <p:nvPr/>
        </p:nvSpPr>
        <p:spPr bwMode="auto">
          <a:xfrm>
            <a:off x="4480559" y="3566160"/>
            <a:ext cx="3474720" cy="1371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042128" name="Oval 15"/>
          <p:cNvSpPr/>
          <p:nvPr/>
        </p:nvSpPr>
        <p:spPr bwMode="auto">
          <a:xfrm>
            <a:off x="4617719" y="3703320"/>
            <a:ext cx="365760" cy="36576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  <a:endParaRPr/>
          </a:p>
        </p:txBody>
      </p:sp>
      <p:sp>
        <p:nvSpPr>
          <p:cNvPr id="1640634076" name="TextBox 16"/>
          <p:cNvSpPr txBox="1"/>
          <p:nvPr/>
        </p:nvSpPr>
        <p:spPr bwMode="auto">
          <a:xfrm>
            <a:off x="5074919" y="37033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Review Executive</a:t>
            </a:r>
            <a:endParaRPr/>
          </a:p>
        </p:txBody>
      </p:sp>
      <p:sp>
        <p:nvSpPr>
          <p:cNvPr id="392729986" name="TextBox 17"/>
          <p:cNvSpPr txBox="1"/>
          <p:nvPr/>
        </p:nvSpPr>
        <p:spPr bwMode="auto">
          <a:xfrm>
            <a:off x="4617719" y="4069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Evaluasi final terhadap kelayakan</a:t>
            </a:r>
            <a:br>
              <a:rPr/>
            </a:br>
            <a:r>
              <a:rPr/>
              <a:t>bisnis, risiko bank, dan dampak</a:t>
            </a:r>
            <a:br>
              <a:rPr/>
            </a:br>
            <a:r>
              <a:rPr/>
              <a:t>terhadap portfolio keseluruhan</a:t>
            </a:r>
            <a:endParaRPr/>
          </a:p>
        </p:txBody>
      </p:sp>
      <p:sp>
        <p:nvSpPr>
          <p:cNvPr id="1448396898" name="Right Arrow 18"/>
          <p:cNvSpPr/>
          <p:nvPr/>
        </p:nvSpPr>
        <p:spPr bwMode="auto">
          <a:xfrm>
            <a:off x="8000999" y="4114800"/>
            <a:ext cx="18288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25237212" name="Rounded Rectangle 19"/>
          <p:cNvSpPr/>
          <p:nvPr/>
        </p:nvSpPr>
        <p:spPr bwMode="auto">
          <a:xfrm>
            <a:off x="8229598" y="3566160"/>
            <a:ext cx="3474720" cy="1371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4084009" name="Oval 20"/>
          <p:cNvSpPr/>
          <p:nvPr/>
        </p:nvSpPr>
        <p:spPr bwMode="auto">
          <a:xfrm>
            <a:off x="8366758" y="37033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  <a:endParaRPr/>
          </a:p>
        </p:txBody>
      </p:sp>
      <p:sp>
        <p:nvSpPr>
          <p:cNvPr id="85156111" name="TextBox 21"/>
          <p:cNvSpPr txBox="1"/>
          <p:nvPr/>
        </p:nvSpPr>
        <p:spPr bwMode="auto">
          <a:xfrm>
            <a:off x="8823958" y="37033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/>
              <a:t>Keputusan FINAL</a:t>
            </a:r>
            <a:endParaRPr/>
          </a:p>
        </p:txBody>
      </p:sp>
      <p:sp>
        <p:nvSpPr>
          <p:cNvPr id="1472361704" name="TextBox 22"/>
          <p:cNvSpPr txBox="1"/>
          <p:nvPr/>
        </p:nvSpPr>
        <p:spPr bwMode="auto">
          <a:xfrm>
            <a:off x="8366758" y="4069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rPr/>
              <a:t>Hanya 2 pilihan:</a:t>
            </a:r>
            <a:br>
              <a:rPr/>
            </a:br>
            <a:r>
              <a:rPr/>
              <a:t>✅ SETUJU → Kredit Disetujui</a:t>
            </a:r>
            <a:br>
              <a:rPr/>
            </a:br>
            <a:r>
              <a:rPr/>
              <a:t>❌ TOLAK → Kredit Ditolak</a:t>
            </a:r>
            <a:endParaRPr/>
          </a:p>
        </p:txBody>
      </p:sp>
      <p:sp>
        <p:nvSpPr>
          <p:cNvPr id="1360108136" name="TextBox 23"/>
          <p:cNvSpPr txBox="1"/>
          <p:nvPr/>
        </p:nvSpPr>
        <p:spPr bwMode="auto"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HASIL KEPUTUSAN DIREKSI:</a:t>
            </a:r>
            <a:endParaRPr/>
          </a:p>
        </p:txBody>
      </p:sp>
      <p:sp>
        <p:nvSpPr>
          <p:cNvPr id="1211588684" name="Rounded Rectangle 24"/>
          <p:cNvSpPr/>
          <p:nvPr/>
        </p:nvSpPr>
        <p:spPr bwMode="auto">
          <a:xfrm>
            <a:off x="731520" y="566928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/>
              <a:t>✅ SETUJU — APPROVAL FINAL</a:t>
            </a:r>
            <a:endParaRPr/>
          </a:p>
          <a:p>
            <a:pPr algn="ctr">
              <a:defRPr sz="1000">
                <a:solidFill>
                  <a:srgbClr val="BBF7D0"/>
                </a:solidFill>
              </a:defRPr>
            </a:pPr>
            <a:r>
              <a:rPr/>
              <a:t>status_pengajuan → 'disetujui' | posisi → 'selesai'</a:t>
            </a:r>
            <a:endParaRPr/>
          </a:p>
        </p:txBody>
      </p:sp>
      <p:sp>
        <p:nvSpPr>
          <p:cNvPr id="1713598959" name="Rounded Rectangle 25"/>
          <p:cNvSpPr/>
          <p:nvPr/>
        </p:nvSpPr>
        <p:spPr bwMode="auto">
          <a:xfrm>
            <a:off x="6217920" y="566928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/>
              <a:t>❌ TOLAK — PENOLAKAN FINAL</a:t>
            </a:r>
            <a:endParaRPr/>
          </a:p>
          <a:p>
            <a:pPr algn="ctr">
              <a:defRPr sz="1000">
                <a:solidFill>
                  <a:srgbClr val="FECACA"/>
                </a:solidFill>
              </a:defRPr>
            </a:pPr>
            <a:r>
              <a:rPr/>
              <a:t>status_pengajuan → 'ditolak' | posisi → 'analis'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35968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8232283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/>
              <a:t>DIAGRAM WORKFLOW DIREKSI</a:t>
            </a:r>
            <a:endParaRPr/>
          </a:p>
        </p:txBody>
      </p:sp>
      <p:sp>
        <p:nvSpPr>
          <p:cNvPr id="1049964509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52980668" name="Picture 4" descr="direksi_workflow_1784769143726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914600" name="Oval 1"/>
          <p:cNvSpPr/>
          <p:nvPr/>
        </p:nvSpPr>
        <p:spPr bwMode="auto">
          <a:xfrm>
            <a:off x="731520" y="45720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/>
              <a:t>8</a:t>
            </a:r>
            <a:endParaRPr/>
          </a:p>
        </p:txBody>
      </p:sp>
      <p:sp>
        <p:nvSpPr>
          <p:cNvPr id="911185688" name="TextBox 2"/>
          <p:cNvSpPr txBox="1"/>
          <p:nvPr/>
        </p:nvSpPr>
        <p:spPr bwMode="auto">
          <a:xfrm>
            <a:off x="182880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CARA KERJA ADMIN / SUPERADMIN</a:t>
            </a:r>
            <a:endParaRPr/>
          </a:p>
        </p:txBody>
      </p:sp>
      <p:sp>
        <p:nvSpPr>
          <p:cNvPr id="953342082" name="TextBox 3"/>
          <p:cNvSpPr txBox="1"/>
          <p:nvPr/>
        </p:nvSpPr>
        <p:spPr bwMode="auto">
          <a:xfrm>
            <a:off x="18288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Calibri"/>
              </a:defRPr>
            </a:pPr>
            <a:r>
              <a:rPr/>
              <a:t>Manajemen Sistem, User, Parameter &amp; Monitoring</a:t>
            </a:r>
            <a:endParaRPr/>
          </a:p>
        </p:txBody>
      </p:sp>
      <p:sp>
        <p:nvSpPr>
          <p:cNvPr id="802170188" name="Rectangle 4"/>
          <p:cNvSpPr/>
          <p:nvPr/>
        </p:nvSpPr>
        <p:spPr bwMode="auto">
          <a:xfrm>
            <a:off x="731520" y="1554480"/>
            <a:ext cx="10698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1250365" name="Rounded Rectangle 5"/>
          <p:cNvSpPr/>
          <p:nvPr/>
        </p:nvSpPr>
        <p:spPr bwMode="auto">
          <a:xfrm>
            <a:off x="731520" y="1920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4559998" name="TextBox 6"/>
          <p:cNvSpPr txBox="1"/>
          <p:nvPr/>
        </p:nvSpPr>
        <p:spPr bwMode="auto">
          <a:xfrm>
            <a:off x="91440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👥</a:t>
            </a:r>
            <a:endParaRPr/>
          </a:p>
        </p:txBody>
      </p:sp>
      <p:sp>
        <p:nvSpPr>
          <p:cNvPr id="794498119" name="TextBox 7"/>
          <p:cNvSpPr txBox="1"/>
          <p:nvPr/>
        </p:nvSpPr>
        <p:spPr bwMode="auto">
          <a:xfrm>
            <a:off x="14173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5AA8"/>
                </a:solidFill>
                <a:latin typeface="Calibri"/>
              </a:defRPr>
            </a:pPr>
            <a:r>
              <a:rPr/>
              <a:t>Manajemen User</a:t>
            </a:r>
            <a:endParaRPr/>
          </a:p>
        </p:txBody>
      </p:sp>
      <p:sp>
        <p:nvSpPr>
          <p:cNvPr id="1176098293" name="Rectangle 8"/>
          <p:cNvSpPr/>
          <p:nvPr/>
        </p:nvSpPr>
        <p:spPr bwMode="auto">
          <a:xfrm>
            <a:off x="914400" y="2423160"/>
            <a:ext cx="3108960" cy="27432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347562" name="TextBox 9"/>
          <p:cNvSpPr txBox="1"/>
          <p:nvPr/>
        </p:nvSpPr>
        <p:spPr bwMode="auto">
          <a:xfrm>
            <a:off x="91440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Membuat, mengedit, dan mengatur akun pengguna.</a:t>
            </a:r>
            <a:br>
              <a:rPr/>
            </a:br>
            <a:r>
              <a:rPr/>
              <a:t>Mengatur role (Analis, Kasubag, Kabag, Kadiv, Direksi).</a:t>
            </a:r>
            <a:br>
              <a:rPr/>
            </a:br>
            <a:r>
              <a:rPr/>
              <a:t>Mengatur status jabatan (Aktif, Cuti, Sakit, Izin, Berhalangan).</a:t>
            </a:r>
            <a:endParaRPr/>
          </a:p>
        </p:txBody>
      </p:sp>
      <p:sp>
        <p:nvSpPr>
          <p:cNvPr id="777640608" name="Rounded Rectangle 10"/>
          <p:cNvSpPr/>
          <p:nvPr/>
        </p:nvSpPr>
        <p:spPr bwMode="auto">
          <a:xfrm>
            <a:off x="4480559" y="1920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7228030" name="TextBox 11"/>
          <p:cNvSpPr txBox="1"/>
          <p:nvPr/>
        </p:nvSpPr>
        <p:spPr bwMode="auto">
          <a:xfrm>
            <a:off x="4663439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🏛️</a:t>
            </a:r>
            <a:endParaRPr/>
          </a:p>
        </p:txBody>
      </p:sp>
      <p:sp>
        <p:nvSpPr>
          <p:cNvPr id="1557224782" name="TextBox 12"/>
          <p:cNvSpPr txBox="1"/>
          <p:nvPr/>
        </p:nvSpPr>
        <p:spPr bwMode="auto">
          <a:xfrm>
            <a:off x="5166359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rPr/>
              <a:t>Master Pejabat</a:t>
            </a:r>
            <a:endParaRPr/>
          </a:p>
        </p:txBody>
      </p:sp>
      <p:sp>
        <p:nvSpPr>
          <p:cNvPr id="2079297504" name="Rectangle 13"/>
          <p:cNvSpPr/>
          <p:nvPr/>
        </p:nvSpPr>
        <p:spPr bwMode="auto">
          <a:xfrm>
            <a:off x="4663439" y="2423160"/>
            <a:ext cx="31089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6626701" name="TextBox 14"/>
          <p:cNvSpPr txBox="1"/>
          <p:nvPr/>
        </p:nvSpPr>
        <p:spPr bwMode="auto">
          <a:xfrm>
            <a:off x="4663439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Konfigurasi jabatan dan tanda tangan pejabat</a:t>
            </a:r>
            <a:br>
              <a:rPr/>
            </a:br>
            <a:r>
              <a:rPr/>
              <a:t>yang tampil pada dokumen cetak.</a:t>
            </a:r>
            <a:br>
              <a:rPr/>
            </a:br>
            <a:r>
              <a:rPr/>
              <a:t>Menentukan urutan hierarki approval.</a:t>
            </a:r>
            <a:endParaRPr/>
          </a:p>
        </p:txBody>
      </p:sp>
      <p:sp>
        <p:nvSpPr>
          <p:cNvPr id="959056099" name="Rounded Rectangle 15"/>
          <p:cNvSpPr/>
          <p:nvPr/>
        </p:nvSpPr>
        <p:spPr bwMode="auto">
          <a:xfrm>
            <a:off x="8229598" y="1920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8837678" name="TextBox 16"/>
          <p:cNvSpPr txBox="1"/>
          <p:nvPr/>
        </p:nvSpPr>
        <p:spPr bwMode="auto">
          <a:xfrm>
            <a:off x="8412478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⚙️</a:t>
            </a:r>
            <a:endParaRPr/>
          </a:p>
        </p:txBody>
      </p:sp>
      <p:sp>
        <p:nvSpPr>
          <p:cNvPr id="1010804015" name="TextBox 17"/>
          <p:cNvSpPr txBox="1"/>
          <p:nvPr/>
        </p:nvSpPr>
        <p:spPr bwMode="auto">
          <a:xfrm>
            <a:off x="8915398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rPr/>
              <a:t>Parameter Repayment</a:t>
            </a:r>
            <a:endParaRPr/>
          </a:p>
        </p:txBody>
      </p:sp>
      <p:sp>
        <p:nvSpPr>
          <p:cNvPr id="1661682566" name="Rectangle 18"/>
          <p:cNvSpPr/>
          <p:nvPr/>
        </p:nvSpPr>
        <p:spPr bwMode="auto">
          <a:xfrm>
            <a:off x="8412478" y="2423160"/>
            <a:ext cx="310896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3743227" name="TextBox 19"/>
          <p:cNvSpPr txBox="1"/>
          <p:nvPr/>
        </p:nvSpPr>
        <p:spPr bwMode="auto">
          <a:xfrm>
            <a:off x="8412478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Konfigurasi formula Repayment Capacity.</a:t>
            </a:r>
            <a:br>
              <a:rPr/>
            </a:br>
            <a:r>
              <a:rPr/>
              <a:t>Atur parameter DSR (Debt Service Ratio),</a:t>
            </a:r>
            <a:br>
              <a:rPr/>
            </a:br>
            <a:r>
              <a:rPr/>
              <a:t>biaya hidup, dan threshold perhitungan.</a:t>
            </a:r>
            <a:endParaRPr/>
          </a:p>
        </p:txBody>
      </p:sp>
      <p:sp>
        <p:nvSpPr>
          <p:cNvPr id="295695439" name="Rounded Rectangle 20"/>
          <p:cNvSpPr/>
          <p:nvPr/>
        </p:nvSpPr>
        <p:spPr bwMode="auto">
          <a:xfrm>
            <a:off x="731520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4321538" name="TextBox 21"/>
          <p:cNvSpPr txBox="1"/>
          <p:nvPr/>
        </p:nvSpPr>
        <p:spPr bwMode="auto">
          <a:xfrm>
            <a:off x="914400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💾</a:t>
            </a:r>
            <a:endParaRPr/>
          </a:p>
        </p:txBody>
      </p:sp>
      <p:sp>
        <p:nvSpPr>
          <p:cNvPr id="1973799512" name="TextBox 22"/>
          <p:cNvSpPr txBox="1"/>
          <p:nvPr/>
        </p:nvSpPr>
        <p:spPr bwMode="auto">
          <a:xfrm>
            <a:off x="141732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Calibri"/>
              </a:defRPr>
            </a:pPr>
            <a:r>
              <a:rPr/>
              <a:t>Backup Database</a:t>
            </a:r>
            <a:endParaRPr/>
          </a:p>
        </p:txBody>
      </p:sp>
      <p:sp>
        <p:nvSpPr>
          <p:cNvPr id="931911576" name="Rectangle 23"/>
          <p:cNvSpPr/>
          <p:nvPr/>
        </p:nvSpPr>
        <p:spPr bwMode="auto">
          <a:xfrm>
            <a:off x="914400" y="4709160"/>
            <a:ext cx="3108960" cy="274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5171760" name="TextBox 24"/>
          <p:cNvSpPr txBox="1"/>
          <p:nvPr/>
        </p:nvSpPr>
        <p:spPr bwMode="auto">
          <a:xfrm>
            <a:off x="914400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Backup dan restore database sistem.</a:t>
            </a:r>
            <a:br>
              <a:rPr/>
            </a:br>
            <a:r>
              <a:rPr/>
              <a:t>Menjaga keamanan data dan</a:t>
            </a:r>
            <a:br>
              <a:rPr/>
            </a:br>
            <a:r>
              <a:rPr/>
              <a:t>memastikan ketersediaan data.</a:t>
            </a:r>
            <a:endParaRPr/>
          </a:p>
        </p:txBody>
      </p:sp>
      <p:sp>
        <p:nvSpPr>
          <p:cNvPr id="1590752569" name="Rounded Rectangle 25"/>
          <p:cNvSpPr/>
          <p:nvPr/>
        </p:nvSpPr>
        <p:spPr bwMode="auto">
          <a:xfrm>
            <a:off x="4480559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4615556" name="TextBox 26"/>
          <p:cNvSpPr txBox="1"/>
          <p:nvPr/>
        </p:nvSpPr>
        <p:spPr bwMode="auto">
          <a:xfrm>
            <a:off x="4663439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🔍</a:t>
            </a:r>
            <a:endParaRPr/>
          </a:p>
        </p:txBody>
      </p:sp>
      <p:sp>
        <p:nvSpPr>
          <p:cNvPr id="1443006238" name="TextBox 27"/>
          <p:cNvSpPr txBox="1"/>
          <p:nvPr/>
        </p:nvSpPr>
        <p:spPr bwMode="auto">
          <a:xfrm>
            <a:off x="5166359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rPr/>
              <a:t>Audit Log</a:t>
            </a:r>
            <a:endParaRPr/>
          </a:p>
        </p:txBody>
      </p:sp>
      <p:sp>
        <p:nvSpPr>
          <p:cNvPr id="450305261" name="Rectangle 28"/>
          <p:cNvSpPr/>
          <p:nvPr/>
        </p:nvSpPr>
        <p:spPr bwMode="auto">
          <a:xfrm>
            <a:off x="4663439" y="4709160"/>
            <a:ext cx="310896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3594172" name="TextBox 29"/>
          <p:cNvSpPr txBox="1"/>
          <p:nvPr/>
        </p:nvSpPr>
        <p:spPr bwMode="auto">
          <a:xfrm>
            <a:off x="4663439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Memonitor log aktivitas sistem.</a:t>
            </a:r>
            <a:br>
              <a:rPr/>
            </a:br>
            <a:r>
              <a:rPr/>
              <a:t>Melacak perubahan parameter.</a:t>
            </a:r>
            <a:br>
              <a:rPr/>
            </a:br>
            <a:r>
              <a:rPr/>
              <a:t>Audit trail untuk kepatuhan.</a:t>
            </a:r>
            <a:endParaRPr/>
          </a:p>
        </p:txBody>
      </p:sp>
      <p:sp>
        <p:nvSpPr>
          <p:cNvPr id="171310835" name="Rounded Rectangle 30"/>
          <p:cNvSpPr/>
          <p:nvPr/>
        </p:nvSpPr>
        <p:spPr bwMode="auto">
          <a:xfrm>
            <a:off x="8229598" y="4206240"/>
            <a:ext cx="3474720" cy="210312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0282853" name="TextBox 31"/>
          <p:cNvSpPr txBox="1"/>
          <p:nvPr/>
        </p:nvSpPr>
        <p:spPr bwMode="auto">
          <a:xfrm>
            <a:off x="8412478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rPr/>
              <a:t>📊</a:t>
            </a:r>
            <a:endParaRPr/>
          </a:p>
        </p:txBody>
      </p:sp>
      <p:sp>
        <p:nvSpPr>
          <p:cNvPr id="3202721" name="TextBox 32"/>
          <p:cNvSpPr txBox="1"/>
          <p:nvPr/>
        </p:nvSpPr>
        <p:spPr bwMode="auto">
          <a:xfrm>
            <a:off x="8915398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Calibri"/>
              </a:defRPr>
            </a:pPr>
            <a:r>
              <a:rPr/>
              <a:t>Riwayat &amp; Monitoring</a:t>
            </a:r>
            <a:endParaRPr/>
          </a:p>
        </p:txBody>
      </p:sp>
      <p:sp>
        <p:nvSpPr>
          <p:cNvPr id="726814454" name="Rectangle 33"/>
          <p:cNvSpPr/>
          <p:nvPr/>
        </p:nvSpPr>
        <p:spPr bwMode="auto">
          <a:xfrm>
            <a:off x="8412478" y="4709160"/>
            <a:ext cx="310896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899336" name="TextBox 34"/>
          <p:cNvSpPr txBox="1"/>
          <p:nvPr/>
        </p:nvSpPr>
        <p:spPr bwMode="auto">
          <a:xfrm>
            <a:off x="8412478" y="4846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Melihat seluruh riwayat pengajuan kredit.</a:t>
            </a:r>
            <a:br>
              <a:rPr/>
            </a:br>
            <a:r>
              <a:rPr/>
              <a:t>Monitor status pengajuan secara real-time.</a:t>
            </a:r>
            <a:br>
              <a:rPr/>
            </a:br>
            <a:r>
              <a:rPr/>
              <a:t>Laporan statistik dan aktivitas.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003250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7337276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/>
              <a:t>FITUR ADMIN / SUPERADMIN</a:t>
            </a:r>
            <a:endParaRPr/>
          </a:p>
        </p:txBody>
      </p:sp>
      <p:sp>
        <p:nvSpPr>
          <p:cNvPr id="287996260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58248919" name="Picture 4" descr="admin_workflow_1784769134628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90003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9784819" name="TextBox 2"/>
          <p:cNvSpPr txBox="1"/>
          <p:nvPr/>
        </p:nvSpPr>
        <p:spPr bwMode="auto"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/>
              <a:t>MANAJEMEN STATUS JABATAN &amp; AUTO-SKIP</a:t>
            </a:r>
            <a:endParaRPr/>
          </a:p>
        </p:txBody>
      </p:sp>
      <p:sp>
        <p:nvSpPr>
          <p:cNvPr id="2065784760" name="Rectangle 3"/>
          <p:cNvSpPr/>
          <p:nvPr/>
        </p:nvSpPr>
        <p:spPr bwMode="auto">
          <a:xfrm>
            <a:off x="731520" y="82296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6022163" name="TextBox 4"/>
          <p:cNvSpPr txBox="1"/>
          <p:nvPr/>
        </p:nvSpPr>
        <p:spPr bwMode="auto"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Calibri"/>
              </a:defRPr>
            </a:pPr>
            <a:r>
              <a:rPr/>
              <a:t>Admin mengatur status jabatan setiap pejabat. Sistem secara otomatis melompati pejabat yang tidak aktif</a:t>
            </a:r>
            <a:br>
              <a:rPr/>
            </a:br>
            <a:r>
              <a:rPr/>
              <a:t>dan mengirim pengajuan ke pejabat aktif berikutnya dalam rantai approval.</a:t>
            </a:r>
            <a:endParaRPr/>
          </a:p>
        </p:txBody>
      </p:sp>
      <p:sp>
        <p:nvSpPr>
          <p:cNvPr id="1587508349" name="Rounded Rectangle 5"/>
          <p:cNvSpPr/>
          <p:nvPr/>
        </p:nvSpPr>
        <p:spPr bwMode="auto">
          <a:xfrm>
            <a:off x="731520" y="1920240"/>
            <a:ext cx="2103120" cy="146304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3021586" name="Rounded Rectangle 6"/>
          <p:cNvSpPr/>
          <p:nvPr/>
        </p:nvSpPr>
        <p:spPr bwMode="auto">
          <a:xfrm>
            <a:off x="1005840" y="2103120"/>
            <a:ext cx="1554480" cy="4114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AKTIF</a:t>
            </a:r>
            <a:endParaRPr/>
          </a:p>
        </p:txBody>
      </p:sp>
      <p:sp>
        <p:nvSpPr>
          <p:cNvPr id="1434292983" name="TextBox 7"/>
          <p:cNvSpPr txBox="1"/>
          <p:nvPr/>
        </p:nvSpPr>
        <p:spPr bwMode="auto">
          <a:xfrm>
            <a:off x="86868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Pejabat aktif bertugas dan</a:t>
            </a:r>
            <a:br>
              <a:rPr/>
            </a:br>
            <a:r>
              <a:rPr/>
              <a:t>dapat menerima pengajuan kredit</a:t>
            </a:r>
            <a:endParaRPr/>
          </a:p>
        </p:txBody>
      </p:sp>
      <p:sp>
        <p:nvSpPr>
          <p:cNvPr id="1261212835" name="Rounded Rectangle 8"/>
          <p:cNvSpPr/>
          <p:nvPr/>
        </p:nvSpPr>
        <p:spPr bwMode="auto">
          <a:xfrm>
            <a:off x="2971800" y="1920240"/>
            <a:ext cx="2103120" cy="146304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3586201" name="Rounded Rectangle 9"/>
          <p:cNvSpPr/>
          <p:nvPr/>
        </p:nvSpPr>
        <p:spPr bwMode="auto">
          <a:xfrm>
            <a:off x="3246120" y="2103120"/>
            <a:ext cx="1554480" cy="41148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CUTI</a:t>
            </a:r>
            <a:endParaRPr/>
          </a:p>
        </p:txBody>
      </p:sp>
      <p:sp>
        <p:nvSpPr>
          <p:cNvPr id="1319350163" name="TextBox 10"/>
          <p:cNvSpPr txBox="1"/>
          <p:nvPr/>
        </p:nvSpPr>
        <p:spPr bwMode="auto">
          <a:xfrm>
            <a:off x="310896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Pejabat sedang cuti,</a:t>
            </a:r>
            <a:br>
              <a:rPr/>
            </a:br>
            <a:r>
              <a:rPr/>
              <a:t>pengajuan di-skip otomatis</a:t>
            </a:r>
            <a:endParaRPr/>
          </a:p>
        </p:txBody>
      </p:sp>
      <p:sp>
        <p:nvSpPr>
          <p:cNvPr id="1753890650" name="Rounded Rectangle 11"/>
          <p:cNvSpPr/>
          <p:nvPr/>
        </p:nvSpPr>
        <p:spPr bwMode="auto">
          <a:xfrm>
            <a:off x="5212080" y="1920240"/>
            <a:ext cx="2103120" cy="146304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0741401" name="Rounded Rectangle 12"/>
          <p:cNvSpPr/>
          <p:nvPr/>
        </p:nvSpPr>
        <p:spPr bwMode="auto">
          <a:xfrm>
            <a:off x="5486400" y="2103120"/>
            <a:ext cx="1554480" cy="41148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SAKIT</a:t>
            </a:r>
            <a:endParaRPr/>
          </a:p>
        </p:txBody>
      </p:sp>
      <p:sp>
        <p:nvSpPr>
          <p:cNvPr id="266902147" name="TextBox 13"/>
          <p:cNvSpPr txBox="1"/>
          <p:nvPr/>
        </p:nvSpPr>
        <p:spPr bwMode="auto">
          <a:xfrm>
            <a:off x="534924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Pejabat sedang sakit,</a:t>
            </a:r>
            <a:br>
              <a:rPr/>
            </a:br>
            <a:r>
              <a:rPr/>
              <a:t>pengajuan di-skip otomatis</a:t>
            </a:r>
            <a:endParaRPr/>
          </a:p>
        </p:txBody>
      </p:sp>
      <p:sp>
        <p:nvSpPr>
          <p:cNvPr id="926440953" name="Rounded Rectangle 14"/>
          <p:cNvSpPr/>
          <p:nvPr/>
        </p:nvSpPr>
        <p:spPr bwMode="auto">
          <a:xfrm>
            <a:off x="7452360" y="1920240"/>
            <a:ext cx="2103120" cy="146304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8964243" name="Rounded Rectangle 15"/>
          <p:cNvSpPr/>
          <p:nvPr/>
        </p:nvSpPr>
        <p:spPr bwMode="auto">
          <a:xfrm>
            <a:off x="7726680" y="2103120"/>
            <a:ext cx="1554480" cy="411480"/>
          </a:xfrm>
          <a:prstGeom prst="roundRect">
            <a:avLst>
              <a:gd name="adj" fmla="val 16667"/>
            </a:avLst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IZIN</a:t>
            </a:r>
            <a:endParaRPr/>
          </a:p>
        </p:txBody>
      </p:sp>
      <p:sp>
        <p:nvSpPr>
          <p:cNvPr id="1387698244" name="TextBox 16"/>
          <p:cNvSpPr txBox="1"/>
          <p:nvPr/>
        </p:nvSpPr>
        <p:spPr bwMode="auto">
          <a:xfrm>
            <a:off x="758952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Pejabat sedang izin,</a:t>
            </a:r>
            <a:br>
              <a:rPr/>
            </a:br>
            <a:r>
              <a:rPr/>
              <a:t>pengajuan di-skip otomatis</a:t>
            </a:r>
            <a:endParaRPr/>
          </a:p>
        </p:txBody>
      </p:sp>
      <p:sp>
        <p:nvSpPr>
          <p:cNvPr id="1556864927" name="Rounded Rectangle 17"/>
          <p:cNvSpPr/>
          <p:nvPr/>
        </p:nvSpPr>
        <p:spPr bwMode="auto">
          <a:xfrm>
            <a:off x="9692640" y="1920240"/>
            <a:ext cx="2103120" cy="1463040"/>
          </a:xfrm>
          <a:prstGeom prst="roundRect">
            <a:avLst>
              <a:gd name="adj" fmla="val 16667"/>
            </a:avLst>
          </a:prstGeom>
          <a:solidFill>
            <a:srgbClr val="142B5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0864010" name="Rounded Rectangle 18"/>
          <p:cNvSpPr/>
          <p:nvPr/>
        </p:nvSpPr>
        <p:spPr bwMode="auto">
          <a:xfrm>
            <a:off x="9966960" y="2103120"/>
            <a:ext cx="1554480" cy="4114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BERHALANGAN</a:t>
            </a:r>
            <a:endParaRPr/>
          </a:p>
        </p:txBody>
      </p:sp>
      <p:sp>
        <p:nvSpPr>
          <p:cNvPr id="1617547746" name="TextBox 19"/>
          <p:cNvSpPr txBox="1"/>
          <p:nvPr/>
        </p:nvSpPr>
        <p:spPr bwMode="auto">
          <a:xfrm>
            <a:off x="982980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5F9"/>
                </a:solidFill>
                <a:latin typeface="Calibri"/>
              </a:defRPr>
            </a:pPr>
            <a:r>
              <a:rPr/>
              <a:t>Pejabat berhalangan,</a:t>
            </a:r>
            <a:br>
              <a:rPr/>
            </a:br>
            <a:r>
              <a:rPr/>
              <a:t>pengajuan di-skip otomatis</a:t>
            </a:r>
            <a:endParaRPr/>
          </a:p>
        </p:txBody>
      </p:sp>
      <p:sp>
        <p:nvSpPr>
          <p:cNvPr id="194396238" name="TextBox 20"/>
          <p:cNvSpPr txBox="1"/>
          <p:nvPr/>
        </p:nvSpPr>
        <p:spPr bwMode="auto"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/>
              <a:t>CONTOH SKENARIO AUTO-SKIP:</a:t>
            </a:r>
            <a:endParaRPr/>
          </a:p>
        </p:txBody>
      </p:sp>
      <p:sp>
        <p:nvSpPr>
          <p:cNvPr id="728463684" name="TextBox 30"/>
          <p:cNvSpPr txBox="1"/>
          <p:nvPr/>
        </p:nvSpPr>
        <p:spPr bwMode="auto"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1F5F9"/>
                </a:solidFill>
                <a:latin typeface="Calibri"/>
              </a:defRPr>
            </a:pPr>
            <a:r>
              <a:rPr/>
              <a:t>Pada contoh di atas:</a:t>
            </a:r>
            <a:br>
              <a:rPr/>
            </a:br>
            <a:r>
              <a:rPr/>
              <a:t>Analis submit pengajuan -&gt; Kasubag AKTIF -&gt; Kepatuhan CUTI -&gt; Sistem otomatis SKIP ke Kabag Analis</a:t>
            </a:r>
            <a:br>
              <a:rPr/>
            </a:br>
            <a:r>
              <a:rPr/>
              <a:t>• Kabag AKTIF → Review &amp; Setuju → Kadiv sedang SAKIT → Sistem otomatis SKIP ke Direksi</a:t>
            </a:r>
            <a:br>
              <a:rPr/>
            </a:br>
            <a:r>
              <a:rPr/>
              <a:t>• Direksi AKTIF → Review &amp; memberikan keputusan FINAL</a:t>
            </a:r>
            <a:br>
              <a:rPr/>
            </a:br>
            <a:r>
              <a:rPr/>
              <a:t>• Setiap auto-skip dicatat dalam audit trail untuk transparansi</a:t>
            </a:r>
            <a:endParaRPr/>
          </a:p>
        </p:txBody>
      </p:sp>
      <p:sp>
        <p:nvSpPr>
          <p:cNvPr id="1817212112" name="Rounded Rectangle 2083350031"/>
          <p:cNvSpPr/>
          <p:nvPr/>
        </p:nvSpPr>
        <p:spPr bwMode="auto">
          <a:xfrm>
            <a:off x="45720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ANALIS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✅ Submit</a:t>
            </a:r>
            <a:endParaRPr/>
          </a:p>
        </p:txBody>
      </p:sp>
      <p:sp>
        <p:nvSpPr>
          <p:cNvPr id="1561310890" name="TextBox 2083350032"/>
          <p:cNvSpPr txBox="1"/>
          <p:nvPr/>
        </p:nvSpPr>
        <p:spPr bwMode="auto">
          <a:xfrm>
            <a:off x="1920240" y="4206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805930676" name="Rounded Rectangle 2083350033"/>
          <p:cNvSpPr/>
          <p:nvPr/>
        </p:nvSpPr>
        <p:spPr bwMode="auto">
          <a:xfrm>
            <a:off x="237744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KASUBAG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✅ AKTIF</a:t>
            </a:r>
            <a:endParaRPr/>
          </a:p>
        </p:txBody>
      </p:sp>
      <p:sp>
        <p:nvSpPr>
          <p:cNvPr id="1881999018" name="TextBox 2083350034"/>
          <p:cNvSpPr txBox="1"/>
          <p:nvPr/>
        </p:nvSpPr>
        <p:spPr bwMode="auto">
          <a:xfrm>
            <a:off x="3840480" y="4206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815479344" name="Rounded Rectangle 2083350035"/>
          <p:cNvSpPr/>
          <p:nvPr/>
        </p:nvSpPr>
        <p:spPr bwMode="auto">
          <a:xfrm>
            <a:off x="429768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KEPATUHAN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❌ CUTI</a:t>
            </a:r>
            <a:endParaRPr/>
          </a:p>
        </p:txBody>
      </p:sp>
      <p:sp>
        <p:nvSpPr>
          <p:cNvPr id="1549219538" name="TextBox 2083350036"/>
          <p:cNvSpPr txBox="1"/>
          <p:nvPr/>
        </p:nvSpPr>
        <p:spPr bwMode="auto">
          <a:xfrm>
            <a:off x="5760720" y="4206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SKIP →</a:t>
            </a:r>
            <a:endParaRPr/>
          </a:p>
        </p:txBody>
      </p:sp>
      <p:sp>
        <p:nvSpPr>
          <p:cNvPr id="2095920279" name="Rounded Rectangle 2083350037"/>
          <p:cNvSpPr/>
          <p:nvPr/>
        </p:nvSpPr>
        <p:spPr bwMode="auto">
          <a:xfrm>
            <a:off x="621792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KABAG ANALIS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✅ AKTIF</a:t>
            </a:r>
            <a:endParaRPr/>
          </a:p>
        </p:txBody>
      </p:sp>
      <p:sp>
        <p:nvSpPr>
          <p:cNvPr id="2111139860" name="TextBox 2083350038"/>
          <p:cNvSpPr txBox="1"/>
          <p:nvPr/>
        </p:nvSpPr>
        <p:spPr bwMode="auto">
          <a:xfrm>
            <a:off x="7680960" y="4206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→</a:t>
            </a:r>
            <a:endParaRPr/>
          </a:p>
        </p:txBody>
      </p:sp>
      <p:sp>
        <p:nvSpPr>
          <p:cNvPr id="1336400794" name="Rounded Rectangle 2083350039"/>
          <p:cNvSpPr/>
          <p:nvPr/>
        </p:nvSpPr>
        <p:spPr bwMode="auto">
          <a:xfrm>
            <a:off x="813816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KADIV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❌ SAKIT</a:t>
            </a:r>
            <a:endParaRPr/>
          </a:p>
        </p:txBody>
      </p:sp>
      <p:sp>
        <p:nvSpPr>
          <p:cNvPr id="850766840" name="TextBox 2083350040"/>
          <p:cNvSpPr txBox="1"/>
          <p:nvPr/>
        </p:nvSpPr>
        <p:spPr bwMode="auto">
          <a:xfrm>
            <a:off x="9601200" y="420624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D3858"/>
                </a:solidFill>
              </a:defRPr>
            </a:pPr>
            <a:r>
              <a:rPr/>
              <a:t>SKIP →</a:t>
            </a:r>
            <a:endParaRPr/>
          </a:p>
        </p:txBody>
      </p:sp>
      <p:sp>
        <p:nvSpPr>
          <p:cNvPr id="1656851767" name="Rounded Rectangle 2083350041"/>
          <p:cNvSpPr/>
          <p:nvPr/>
        </p:nvSpPr>
        <p:spPr bwMode="auto">
          <a:xfrm>
            <a:off x="10058400" y="4114800"/>
            <a:ext cx="1463040" cy="640080"/>
          </a:xfrm>
          <a:prstGeom prst="roundRect">
            <a:avLst>
              <a:gd name="adj" fmla="val 16667"/>
            </a:avLst>
          </a:prstGeom>
          <a:solidFill>
            <a:srgbClr val="1D3858"/>
          </a:solidFill>
          <a:ln>
            <a:solidFill>
              <a:srgbClr val="1D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DIREKSI</a:t>
            </a:r>
            <a:endParaRPr/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/>
              <a:t>✅ AKTIF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76248" name="Rectangle 1"/>
          <p:cNvSpPr/>
          <p:nvPr/>
        </p:nvSpPr>
        <p:spPr bwMode="auto"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791344" name="TextBox 2"/>
          <p:cNvSpPr txBox="1"/>
          <p:nvPr/>
        </p:nvSpPr>
        <p:spPr bwMode="auto"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rPr/>
              <a:t>RINGKASAN PERAN &amp; TANGGUNG JAWAB</a:t>
            </a:r>
            <a:endParaRPr/>
          </a:p>
        </p:txBody>
      </p:sp>
      <p:sp>
        <p:nvSpPr>
          <p:cNvPr id="207403870" name="Rectangle 3"/>
          <p:cNvSpPr/>
          <p:nvPr/>
        </p:nvSpPr>
        <p:spPr bwMode="auto">
          <a:xfrm>
            <a:off x="731520" y="822960"/>
            <a:ext cx="3657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7295234" name="Rounded Rectangle 1878494384"/>
          <p:cNvSpPr/>
          <p:nvPr/>
        </p:nvSpPr>
        <p:spPr bwMode="auto">
          <a:xfrm>
            <a:off x="150876" y="164592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41168337" name="Picture 1878494385" descr="icon_A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8036" y="1783080"/>
            <a:ext cx="548640" cy="548640"/>
          </a:xfrm>
          <a:prstGeom prst="rect">
            <a:avLst/>
          </a:prstGeom>
        </p:spPr>
      </p:pic>
      <p:sp>
        <p:nvSpPr>
          <p:cNvPr id="798097317" name="TextBox 1878494386"/>
          <p:cNvSpPr txBox="1"/>
          <p:nvPr/>
        </p:nvSpPr>
        <p:spPr bwMode="auto">
          <a:xfrm>
            <a:off x="882396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ANALIS</a:t>
            </a:r>
            <a:endParaRPr/>
          </a:p>
        </p:txBody>
      </p:sp>
      <p:sp>
        <p:nvSpPr>
          <p:cNvPr id="1255807196" name="TextBox 1878494387"/>
          <p:cNvSpPr txBox="1"/>
          <p:nvPr/>
        </p:nvSpPr>
        <p:spPr bwMode="auto">
          <a:xfrm>
            <a:off x="882396" y="2011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Input &amp; Submit</a:t>
            </a:r>
            <a:endParaRPr/>
          </a:p>
        </p:txBody>
      </p:sp>
      <p:sp>
        <p:nvSpPr>
          <p:cNvPr id="798860311" name="TextBox 1878494388"/>
          <p:cNvSpPr txBox="1"/>
          <p:nvPr/>
        </p:nvSpPr>
        <p:spPr bwMode="auto">
          <a:xfrm>
            <a:off x="288036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Input data kredit, upload dokumen, submit &amp; resubmit pengajuan.</a:t>
            </a:r>
            <a:endParaRPr/>
          </a:p>
        </p:txBody>
      </p:sp>
      <p:sp>
        <p:nvSpPr>
          <p:cNvPr id="160979826" name="Rounded Rectangle 1878494389"/>
          <p:cNvSpPr/>
          <p:nvPr/>
        </p:nvSpPr>
        <p:spPr bwMode="auto">
          <a:xfrm>
            <a:off x="3168396" y="164592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46739252" name="Picture 1878494390" descr="icon_KA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05556" y="1783080"/>
            <a:ext cx="548640" cy="548640"/>
          </a:xfrm>
          <a:prstGeom prst="rect">
            <a:avLst/>
          </a:prstGeom>
        </p:spPr>
      </p:pic>
      <p:sp>
        <p:nvSpPr>
          <p:cNvPr id="1755358350" name="TextBox 1878494391"/>
          <p:cNvSpPr txBox="1"/>
          <p:nvPr/>
        </p:nvSpPr>
        <p:spPr bwMode="auto">
          <a:xfrm>
            <a:off x="3899916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KASUBAG</a:t>
            </a:r>
            <a:endParaRPr/>
          </a:p>
        </p:txBody>
      </p:sp>
      <p:sp>
        <p:nvSpPr>
          <p:cNvPr id="1620858378" name="TextBox 1878494392"/>
          <p:cNvSpPr txBox="1"/>
          <p:nvPr/>
        </p:nvSpPr>
        <p:spPr bwMode="auto">
          <a:xfrm>
            <a:off x="3899916" y="2011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Review Awal</a:t>
            </a:r>
            <a:endParaRPr/>
          </a:p>
        </p:txBody>
      </p:sp>
      <p:sp>
        <p:nvSpPr>
          <p:cNvPr id="1294541842" name="TextBox 1878494393"/>
          <p:cNvSpPr txBox="1"/>
          <p:nvPr/>
        </p:nvSpPr>
        <p:spPr bwMode="auto">
          <a:xfrm>
            <a:off x="3305556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Verifikasi awal, cek kelengkapan, review data analis.</a:t>
            </a:r>
            <a:endParaRPr/>
          </a:p>
        </p:txBody>
      </p:sp>
      <p:sp>
        <p:nvSpPr>
          <p:cNvPr id="1913062221" name="Rounded Rectangle 1878494394"/>
          <p:cNvSpPr/>
          <p:nvPr/>
        </p:nvSpPr>
        <p:spPr bwMode="auto">
          <a:xfrm>
            <a:off x="6185916" y="164592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34157563" name="Picture 1878494395" descr="icon_KP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23076" y="1783080"/>
            <a:ext cx="548640" cy="548640"/>
          </a:xfrm>
          <a:prstGeom prst="rect">
            <a:avLst/>
          </a:prstGeom>
        </p:spPr>
      </p:pic>
      <p:sp>
        <p:nvSpPr>
          <p:cNvPr id="56844406" name="TextBox 1878494396"/>
          <p:cNvSpPr txBox="1"/>
          <p:nvPr/>
        </p:nvSpPr>
        <p:spPr bwMode="auto">
          <a:xfrm>
            <a:off x="6917436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KEPATUHAN</a:t>
            </a:r>
            <a:endParaRPr/>
          </a:p>
        </p:txBody>
      </p:sp>
      <p:sp>
        <p:nvSpPr>
          <p:cNvPr id="567321943" name="TextBox 1878494397"/>
          <p:cNvSpPr txBox="1"/>
          <p:nvPr/>
        </p:nvSpPr>
        <p:spPr bwMode="auto">
          <a:xfrm>
            <a:off x="6917436" y="2011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Assessment Kepatuhan</a:t>
            </a:r>
            <a:endParaRPr/>
          </a:p>
        </p:txBody>
      </p:sp>
      <p:sp>
        <p:nvSpPr>
          <p:cNvPr id="174594146" name="TextBox 1878494398"/>
          <p:cNvSpPr txBox="1"/>
          <p:nvPr/>
        </p:nvSpPr>
        <p:spPr bwMode="auto">
          <a:xfrm>
            <a:off x="6323076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Cek legalitas dokumen, validasi syarat SOP BI &amp; OJK.</a:t>
            </a:r>
            <a:endParaRPr/>
          </a:p>
        </p:txBody>
      </p:sp>
      <p:sp>
        <p:nvSpPr>
          <p:cNvPr id="402496028" name="Rounded Rectangle 1878494399"/>
          <p:cNvSpPr/>
          <p:nvPr/>
        </p:nvSpPr>
        <p:spPr bwMode="auto">
          <a:xfrm>
            <a:off x="9203436" y="164592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80374123" name="Picture 1878494400" descr="icon_KB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340596" y="1783080"/>
            <a:ext cx="548640" cy="548640"/>
          </a:xfrm>
          <a:prstGeom prst="rect">
            <a:avLst/>
          </a:prstGeom>
        </p:spPr>
      </p:pic>
      <p:sp>
        <p:nvSpPr>
          <p:cNvPr id="959611016" name="TextBox 1878494401"/>
          <p:cNvSpPr txBox="1"/>
          <p:nvPr/>
        </p:nvSpPr>
        <p:spPr bwMode="auto">
          <a:xfrm>
            <a:off x="9934956" y="17373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KABAG ANALIS</a:t>
            </a:r>
            <a:endParaRPr/>
          </a:p>
        </p:txBody>
      </p:sp>
      <p:sp>
        <p:nvSpPr>
          <p:cNvPr id="587504236" name="TextBox 1878494402"/>
          <p:cNvSpPr txBox="1"/>
          <p:nvPr/>
        </p:nvSpPr>
        <p:spPr bwMode="auto">
          <a:xfrm>
            <a:off x="9934956" y="201168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Evaluasi Risiko</a:t>
            </a:r>
            <a:endParaRPr/>
          </a:p>
        </p:txBody>
      </p:sp>
      <p:sp>
        <p:nvSpPr>
          <p:cNvPr id="1525655869" name="TextBox 1878494403"/>
          <p:cNvSpPr txBox="1"/>
          <p:nvPr/>
        </p:nvSpPr>
        <p:spPr bwMode="auto">
          <a:xfrm>
            <a:off x="9340596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Evaluasi risiko kredit, penilaian agunan, analisis keuangan.</a:t>
            </a:r>
            <a:endParaRPr/>
          </a:p>
        </p:txBody>
      </p:sp>
      <p:sp>
        <p:nvSpPr>
          <p:cNvPr id="935559287" name="Rounded Rectangle 1878494404"/>
          <p:cNvSpPr/>
          <p:nvPr/>
        </p:nvSpPr>
        <p:spPr bwMode="auto">
          <a:xfrm>
            <a:off x="1659635" y="356616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1072389" name="Picture 1878494405" descr="icon_K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796795" y="3703320"/>
            <a:ext cx="548640" cy="548640"/>
          </a:xfrm>
          <a:prstGeom prst="rect">
            <a:avLst/>
          </a:prstGeom>
        </p:spPr>
      </p:pic>
      <p:sp>
        <p:nvSpPr>
          <p:cNvPr id="963274383" name="TextBox 1878494406"/>
          <p:cNvSpPr txBox="1"/>
          <p:nvPr/>
        </p:nvSpPr>
        <p:spPr bwMode="auto">
          <a:xfrm>
            <a:off x="2391155" y="3657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KADIV</a:t>
            </a:r>
            <a:endParaRPr/>
          </a:p>
        </p:txBody>
      </p:sp>
      <p:sp>
        <p:nvSpPr>
          <p:cNvPr id="771909302" name="TextBox 1878494407"/>
          <p:cNvSpPr txBox="1"/>
          <p:nvPr/>
        </p:nvSpPr>
        <p:spPr bwMode="auto">
          <a:xfrm>
            <a:off x="2391155" y="39319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Approval Divisi</a:t>
            </a:r>
            <a:endParaRPr/>
          </a:p>
        </p:txBody>
      </p:sp>
      <p:sp>
        <p:nvSpPr>
          <p:cNvPr id="1600689139" name="TextBox 1878494408"/>
          <p:cNvSpPr txBox="1"/>
          <p:nvPr/>
        </p:nvSpPr>
        <p:spPr bwMode="auto">
          <a:xfrm>
            <a:off x="1796795" y="4297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Approval divisi, final untuk &lt;500Jt, eskalasi untuk ≥500Jt.</a:t>
            </a:r>
            <a:endParaRPr/>
          </a:p>
        </p:txBody>
      </p:sp>
      <p:sp>
        <p:nvSpPr>
          <p:cNvPr id="1737315564" name="Rounded Rectangle 1878494409"/>
          <p:cNvSpPr/>
          <p:nvPr/>
        </p:nvSpPr>
        <p:spPr bwMode="auto">
          <a:xfrm>
            <a:off x="4677155" y="356616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34384044" name="Picture 1878494410" descr="icon_DR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814315" y="3703320"/>
            <a:ext cx="548640" cy="548640"/>
          </a:xfrm>
          <a:prstGeom prst="rect">
            <a:avLst/>
          </a:prstGeom>
        </p:spPr>
      </p:pic>
      <p:sp>
        <p:nvSpPr>
          <p:cNvPr id="766374385" name="TextBox 1878494411"/>
          <p:cNvSpPr txBox="1"/>
          <p:nvPr/>
        </p:nvSpPr>
        <p:spPr bwMode="auto">
          <a:xfrm>
            <a:off x="5408675" y="3657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DIREKSI</a:t>
            </a:r>
            <a:endParaRPr/>
          </a:p>
        </p:txBody>
      </p:sp>
      <p:sp>
        <p:nvSpPr>
          <p:cNvPr id="280098932" name="TextBox 1878494412"/>
          <p:cNvSpPr txBox="1"/>
          <p:nvPr/>
        </p:nvSpPr>
        <p:spPr bwMode="auto">
          <a:xfrm>
            <a:off x="5408675" y="39319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Final Approval</a:t>
            </a:r>
            <a:endParaRPr/>
          </a:p>
        </p:txBody>
      </p:sp>
      <p:sp>
        <p:nvSpPr>
          <p:cNvPr id="1464755592" name="TextBox 1878494413"/>
          <p:cNvSpPr txBox="1"/>
          <p:nvPr/>
        </p:nvSpPr>
        <p:spPr bwMode="auto">
          <a:xfrm>
            <a:off x="4814315" y="4297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Keputusan final untuk kredit ≥500Jt, hanya Setuju atau Tolak.</a:t>
            </a:r>
            <a:endParaRPr/>
          </a:p>
        </p:txBody>
      </p:sp>
      <p:sp>
        <p:nvSpPr>
          <p:cNvPr id="478100484" name="Rounded Rectangle 1878494414"/>
          <p:cNvSpPr/>
          <p:nvPr/>
        </p:nvSpPr>
        <p:spPr bwMode="auto">
          <a:xfrm>
            <a:off x="7694675" y="3566160"/>
            <a:ext cx="2834640" cy="164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77434820" name="Picture 1878494415" descr="icon_A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7831835" y="3703320"/>
            <a:ext cx="548640" cy="548640"/>
          </a:xfrm>
          <a:prstGeom prst="rect">
            <a:avLst/>
          </a:prstGeom>
        </p:spPr>
      </p:pic>
      <p:sp>
        <p:nvSpPr>
          <p:cNvPr id="1832296798" name="TextBox 1878494416"/>
          <p:cNvSpPr txBox="1"/>
          <p:nvPr/>
        </p:nvSpPr>
        <p:spPr bwMode="auto">
          <a:xfrm>
            <a:off x="8426195" y="3657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D3858"/>
                </a:solidFill>
              </a:defRPr>
            </a:pPr>
            <a:r>
              <a:rPr/>
              <a:t>ADMIN</a:t>
            </a:r>
            <a:endParaRPr/>
          </a:p>
        </p:txBody>
      </p:sp>
      <p:sp>
        <p:nvSpPr>
          <p:cNvPr id="785131102" name="TextBox 1878494417"/>
          <p:cNvSpPr txBox="1"/>
          <p:nvPr/>
        </p:nvSpPr>
        <p:spPr bwMode="auto">
          <a:xfrm>
            <a:off x="8426195" y="39319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49A45"/>
                </a:solidFill>
              </a:defRPr>
            </a:pPr>
            <a:r>
              <a:rPr/>
              <a:t>Sistem Admin</a:t>
            </a:r>
            <a:endParaRPr/>
          </a:p>
        </p:txBody>
      </p:sp>
      <p:sp>
        <p:nvSpPr>
          <p:cNvPr id="288178455" name="TextBox 1878494418"/>
          <p:cNvSpPr txBox="1"/>
          <p:nvPr/>
        </p:nvSpPr>
        <p:spPr bwMode="auto">
          <a:xfrm>
            <a:off x="7831835" y="4297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rPr/>
              <a:t>Manajemen user, parameter, backup, audit &amp; monitoring.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D3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2938" name="Rectangle 1"/>
          <p:cNvSpPr/>
          <p:nvPr/>
        </p:nvSpPr>
        <p:spPr bwMode="auto"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680756" name="Rectangle 2"/>
          <p:cNvSpPr/>
          <p:nvPr/>
        </p:nvSpPr>
        <p:spPr bwMode="auto"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1782088" name="Rectangle 3"/>
          <p:cNvSpPr/>
          <p:nvPr/>
        </p:nvSpPr>
        <p:spPr bwMode="auto"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497605" name="TextBox 4"/>
          <p:cNvSpPr txBox="1"/>
          <p:nvPr/>
        </p:nvSpPr>
        <p:spPr bwMode="auto"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/>
              <a:t>TERIMA KASIH</a:t>
            </a:r>
            <a:endParaRPr/>
          </a:p>
        </p:txBody>
      </p:sp>
      <p:sp>
        <p:nvSpPr>
          <p:cNvPr id="95229407" name="Rectangle 5"/>
          <p:cNvSpPr/>
          <p:nvPr/>
        </p:nvSpPr>
        <p:spPr bwMode="auto">
          <a:xfrm>
            <a:off x="4114800" y="2926080"/>
            <a:ext cx="3931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3296802" name="TextBox 6"/>
          <p:cNvSpPr txBox="1"/>
          <p:nvPr/>
        </p:nvSpPr>
        <p:spPr bwMode="auto"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Calibri"/>
              </a:defRPr>
            </a:pPr>
            <a:r>
              <a:rPr/>
              <a:t>Sistem Aplikasi Kredit — PT BPR Bank Wonosobo</a:t>
            </a:r>
            <a:endParaRPr/>
          </a:p>
        </p:txBody>
      </p:sp>
      <p:sp>
        <p:nvSpPr>
          <p:cNvPr id="837394006" name="TextBox 7"/>
          <p:cNvSpPr txBox="1"/>
          <p:nvPr/>
        </p:nvSpPr>
        <p:spPr bwMode="auto"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/>
              <a:t>Presentasi Demo Sistem untuk Manajemen</a:t>
            </a:r>
            <a:endParaRPr/>
          </a:p>
        </p:txBody>
      </p:sp>
      <p:sp>
        <p:nvSpPr>
          <p:cNvPr id="1089918815" name="TextBox 8"/>
          <p:cNvSpPr txBox="1"/>
          <p:nvPr/>
        </p:nvSpPr>
        <p:spPr bwMode="auto"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Calibri"/>
              </a:defRPr>
            </a:pPr>
            <a:r>
              <a:rPr/>
              <a:t>Siap untuk sesi tanya jawab &amp; demo live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</cp:revision>
  <dcterms:created xsi:type="dcterms:W3CDTF">2013-01-27T09:14:16Z</dcterms:created>
  <dcterms:modified xsi:type="dcterms:W3CDTF">2026-07-25T14:46:25Z</dcterms:modified>
  <cp:category/>
</cp:coreProperties>
</file>